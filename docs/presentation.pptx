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317" r:id="rId2"/>
    <p:sldId id="328" r:id="rId3"/>
    <p:sldId id="318" r:id="rId4"/>
    <p:sldId id="334" r:id="rId5"/>
    <p:sldId id="259" r:id="rId6"/>
    <p:sldId id="336" r:id="rId7"/>
    <p:sldId id="348" r:id="rId8"/>
    <p:sldId id="349" r:id="rId9"/>
    <p:sldId id="350" r:id="rId10"/>
    <p:sldId id="341" r:id="rId11"/>
    <p:sldId id="344" r:id="rId12"/>
    <p:sldId id="351" r:id="rId13"/>
    <p:sldId id="347" r:id="rId14"/>
    <p:sldId id="260" r:id="rId15"/>
    <p:sldId id="340" r:id="rId16"/>
    <p:sldId id="345" r:id="rId17"/>
    <p:sldId id="346" r:id="rId18"/>
    <p:sldId id="352" r:id="rId19"/>
    <p:sldId id="358" r:id="rId20"/>
    <p:sldId id="360" r:id="rId21"/>
    <p:sldId id="354" r:id="rId22"/>
    <p:sldId id="355" r:id="rId23"/>
    <p:sldId id="357" r:id="rId24"/>
    <p:sldId id="359" r:id="rId25"/>
    <p:sldId id="361" r:id="rId26"/>
    <p:sldId id="362" r:id="rId27"/>
    <p:sldId id="363" r:id="rId28"/>
    <p:sldId id="343" r:id="rId29"/>
    <p:sldId id="329" r:id="rId30"/>
    <p:sldId id="258" r:id="rId31"/>
    <p:sldId id="261" r:id="rId32"/>
    <p:sldId id="265"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623" autoAdjust="0"/>
    <p:restoredTop sz="93099" autoAdjust="0"/>
  </p:normalViewPr>
  <p:slideViewPr>
    <p:cSldViewPr snapToGrid="0" snapToObjects="1">
      <p:cViewPr>
        <p:scale>
          <a:sx n="125" d="100"/>
          <a:sy n="125" d="100"/>
        </p:scale>
        <p:origin x="792"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4432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E730B-0198-F57D-5FE1-4B85511693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F34707-9BDD-CC79-6A50-504083402E9A}"/>
              </a:ext>
            </a:extLst>
          </p:cNvPr>
          <p:cNvSpPr>
            <a:spLocks noGrp="1" noRot="1" noChangeAspect="1"/>
          </p:cNvSpPr>
          <p:nvPr>
            <p:ph type="sldImg"/>
          </p:nvPr>
        </p:nvSpPr>
        <p:spPr>
          <a:xfrm>
            <a:off x="533400" y="763588"/>
            <a:ext cx="6704013" cy="3771900"/>
          </a:xfrm>
        </p:spPr>
      </p:sp>
      <p:sp>
        <p:nvSpPr>
          <p:cNvPr id="3" name="Notes Placeholder 2">
            <a:extLst>
              <a:ext uri="{FF2B5EF4-FFF2-40B4-BE49-F238E27FC236}">
                <a16:creationId xmlns:a16="http://schemas.microsoft.com/office/drawing/2014/main" id="{97275BA4-7C1A-EF42-DF7D-AE127E901AD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p:txBody>
      </p:sp>
      <p:sp>
        <p:nvSpPr>
          <p:cNvPr id="4" name="Slide Number Placeholder 3">
            <a:extLst>
              <a:ext uri="{FF2B5EF4-FFF2-40B4-BE49-F238E27FC236}">
                <a16:creationId xmlns:a16="http://schemas.microsoft.com/office/drawing/2014/main" id="{C48B12DD-4B22-5DB7-029B-4C71277C2FE2}"/>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2185694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Espaço Reservado para Anotações 2"/>
          <p:cNvSpPr>
            <a:spLocks noGrp="1"/>
          </p:cNvSpPr>
          <p:nvPr>
            <p:ph type="body" idx="1"/>
          </p:nvPr>
        </p:nvSpPr>
        <p:spPr>
          <a:xfrm>
            <a:off x="514350" y="4400550"/>
            <a:ext cx="4114800" cy="3600450"/>
          </a:xfrm>
          <a:prstGeom prst="rect">
            <a:avLst/>
          </a:prstGeom>
        </p:spPr>
        <p:txBody>
          <a:bodyPr/>
          <a:lstStyle/>
          <a:p>
            <a:endParaRPr lang="pt-BR" dirty="0"/>
          </a:p>
        </p:txBody>
      </p:sp>
    </p:spTree>
    <p:extLst>
      <p:ext uri="{BB962C8B-B14F-4D97-AF65-F5344CB8AC3E}">
        <p14:creationId xmlns:p14="http://schemas.microsoft.com/office/powerpoint/2010/main" val="2870700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0F4B2-14AE-4CD8-62C1-B886C58F94D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B7215C9-653D-01B8-D977-C200174CA077}"/>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Espaço Reservado para Anotações 2">
            <a:extLst>
              <a:ext uri="{FF2B5EF4-FFF2-40B4-BE49-F238E27FC236}">
                <a16:creationId xmlns:a16="http://schemas.microsoft.com/office/drawing/2014/main" id="{4DF4B30B-FCC3-B705-3C44-3E0DE4493FDF}"/>
              </a:ext>
            </a:extLst>
          </p:cNvPr>
          <p:cNvSpPr>
            <a:spLocks noGrp="1"/>
          </p:cNvSpPr>
          <p:nvPr>
            <p:ph type="body" idx="1"/>
          </p:nvPr>
        </p:nvSpPr>
        <p:spPr>
          <a:xfrm>
            <a:off x="514350" y="4400550"/>
            <a:ext cx="4114800" cy="3600450"/>
          </a:xfrm>
          <a:prstGeom prst="rect">
            <a:avLst/>
          </a:prstGeom>
        </p:spPr>
        <p:txBody>
          <a:bodyPr/>
          <a:lstStyle/>
          <a:p>
            <a:endParaRPr lang="pt-BR" dirty="0"/>
          </a:p>
        </p:txBody>
      </p:sp>
    </p:spTree>
    <p:extLst>
      <p:ext uri="{BB962C8B-B14F-4D97-AF65-F5344CB8AC3E}">
        <p14:creationId xmlns:p14="http://schemas.microsoft.com/office/powerpoint/2010/main" val="2590908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4C0B3-0E4F-37BB-3627-71FD1287727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D13AB9D-C24D-D15C-5145-8053465B9380}"/>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Espaço Reservado para Anotações 2">
            <a:extLst>
              <a:ext uri="{FF2B5EF4-FFF2-40B4-BE49-F238E27FC236}">
                <a16:creationId xmlns:a16="http://schemas.microsoft.com/office/drawing/2014/main" id="{26B9EA47-EB1B-2EDE-F9FF-1AA866DE78A8}"/>
              </a:ext>
            </a:extLst>
          </p:cNvPr>
          <p:cNvSpPr>
            <a:spLocks noGrp="1"/>
          </p:cNvSpPr>
          <p:nvPr>
            <p:ph type="body" idx="1"/>
          </p:nvPr>
        </p:nvSpPr>
        <p:spPr>
          <a:xfrm>
            <a:off x="514350" y="4400550"/>
            <a:ext cx="4114800" cy="3600450"/>
          </a:xfrm>
          <a:prstGeom prst="rect">
            <a:avLst/>
          </a:prstGeom>
        </p:spPr>
        <p:txBody>
          <a:bodyPr/>
          <a:lstStyle/>
          <a:p>
            <a:endParaRPr lang="pt-BR" dirty="0"/>
          </a:p>
        </p:txBody>
      </p:sp>
    </p:spTree>
    <p:extLst>
      <p:ext uri="{BB962C8B-B14F-4D97-AF65-F5344CB8AC3E}">
        <p14:creationId xmlns:p14="http://schemas.microsoft.com/office/powerpoint/2010/main" val="33583016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2947F-ED35-CC21-8FF2-EDCA8DD6F5D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ACEFA4C-4BCF-0775-2918-39B63A4179E1}"/>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Espaço Reservado para Anotações 2">
            <a:extLst>
              <a:ext uri="{FF2B5EF4-FFF2-40B4-BE49-F238E27FC236}">
                <a16:creationId xmlns:a16="http://schemas.microsoft.com/office/drawing/2014/main" id="{575A7253-5053-92DF-ADA6-8F75591F7986}"/>
              </a:ext>
            </a:extLst>
          </p:cNvPr>
          <p:cNvSpPr>
            <a:spLocks noGrp="1"/>
          </p:cNvSpPr>
          <p:nvPr>
            <p:ph type="body" idx="1"/>
          </p:nvPr>
        </p:nvSpPr>
        <p:spPr>
          <a:xfrm>
            <a:off x="514350" y="4400550"/>
            <a:ext cx="4114800" cy="3600450"/>
          </a:xfrm>
          <a:prstGeom prst="rect">
            <a:avLst/>
          </a:prstGeom>
        </p:spPr>
        <p:txBody>
          <a:bodyPr/>
          <a:lstStyle/>
          <a:p>
            <a:endParaRPr lang="pt-BR" dirty="0"/>
          </a:p>
        </p:txBody>
      </p:sp>
    </p:spTree>
    <p:extLst>
      <p:ext uri="{BB962C8B-B14F-4D97-AF65-F5344CB8AC3E}">
        <p14:creationId xmlns:p14="http://schemas.microsoft.com/office/powerpoint/2010/main" val="10428031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468AB-ED7B-962F-ABE3-D77EE623C38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F941836-9F70-B00E-C69D-BE4BCBBD193E}"/>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Espaço Reservado para Anotações 2">
            <a:extLst>
              <a:ext uri="{FF2B5EF4-FFF2-40B4-BE49-F238E27FC236}">
                <a16:creationId xmlns:a16="http://schemas.microsoft.com/office/drawing/2014/main" id="{947580E5-EA89-39BD-6187-F147F6DD406F}"/>
              </a:ext>
            </a:extLst>
          </p:cNvPr>
          <p:cNvSpPr>
            <a:spLocks noGrp="1"/>
          </p:cNvSpPr>
          <p:nvPr>
            <p:ph type="body" idx="1"/>
          </p:nvPr>
        </p:nvSpPr>
        <p:spPr>
          <a:xfrm>
            <a:off x="514350" y="4400550"/>
            <a:ext cx="4114800" cy="3600450"/>
          </a:xfrm>
          <a:prstGeom prst="rect">
            <a:avLst/>
          </a:prstGeom>
        </p:spPr>
        <p:txBody>
          <a:bodyPr/>
          <a:lstStyle/>
          <a:p>
            <a:endParaRPr lang="pt-BR" dirty="0"/>
          </a:p>
        </p:txBody>
      </p:sp>
    </p:spTree>
    <p:extLst>
      <p:ext uri="{BB962C8B-B14F-4D97-AF65-F5344CB8AC3E}">
        <p14:creationId xmlns:p14="http://schemas.microsoft.com/office/powerpoint/2010/main" val="40417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C4960-3742-0334-F00D-7F9D19182FD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70292CA-5792-974D-5A37-C7D24161016E}"/>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Espaço Reservado para Anotações 2">
            <a:extLst>
              <a:ext uri="{FF2B5EF4-FFF2-40B4-BE49-F238E27FC236}">
                <a16:creationId xmlns:a16="http://schemas.microsoft.com/office/drawing/2014/main" id="{F87E5183-3658-D000-8C33-FF7FB7AE16B5}"/>
              </a:ext>
            </a:extLst>
          </p:cNvPr>
          <p:cNvSpPr>
            <a:spLocks noGrp="1"/>
          </p:cNvSpPr>
          <p:nvPr>
            <p:ph type="body" idx="1"/>
          </p:nvPr>
        </p:nvSpPr>
        <p:spPr>
          <a:xfrm>
            <a:off x="514350" y="4400550"/>
            <a:ext cx="4114800" cy="3600450"/>
          </a:xfrm>
          <a:prstGeom prst="rect">
            <a:avLst/>
          </a:prstGeom>
        </p:spPr>
        <p:txBody>
          <a:bodyPr/>
          <a:lstStyle/>
          <a:p>
            <a:endParaRPr lang="pt-BR" dirty="0"/>
          </a:p>
        </p:txBody>
      </p:sp>
    </p:spTree>
    <p:extLst>
      <p:ext uri="{BB962C8B-B14F-4D97-AF65-F5344CB8AC3E}">
        <p14:creationId xmlns:p14="http://schemas.microsoft.com/office/powerpoint/2010/main" val="4195348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51C25-8759-6420-EE63-562FEFE8359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CBF21B0-0166-D107-76A5-0F7B47496F5F}"/>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Espaço Reservado para Anotações 2">
            <a:extLst>
              <a:ext uri="{FF2B5EF4-FFF2-40B4-BE49-F238E27FC236}">
                <a16:creationId xmlns:a16="http://schemas.microsoft.com/office/drawing/2014/main" id="{1C6BC884-1413-37CD-5C61-5C75AE9D8672}"/>
              </a:ext>
            </a:extLst>
          </p:cNvPr>
          <p:cNvSpPr>
            <a:spLocks noGrp="1"/>
          </p:cNvSpPr>
          <p:nvPr>
            <p:ph type="body" idx="1"/>
          </p:nvPr>
        </p:nvSpPr>
        <p:spPr>
          <a:xfrm>
            <a:off x="514350" y="4400550"/>
            <a:ext cx="4114800" cy="3600450"/>
          </a:xfrm>
          <a:prstGeom prst="rect">
            <a:avLst/>
          </a:prstGeom>
        </p:spPr>
        <p:txBody>
          <a:bodyPr/>
          <a:lstStyle/>
          <a:p>
            <a:endParaRPr lang="pt-BR" dirty="0"/>
          </a:p>
        </p:txBody>
      </p:sp>
    </p:spTree>
    <p:extLst>
      <p:ext uri="{BB962C8B-B14F-4D97-AF65-F5344CB8AC3E}">
        <p14:creationId xmlns:p14="http://schemas.microsoft.com/office/powerpoint/2010/main" val="4583711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37B25-A9D9-D681-1C42-5D2DEE4E89A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EE083B1-8EA3-F237-8AC4-65C666B0C807}"/>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Espaço Reservado para Anotações 2">
            <a:extLst>
              <a:ext uri="{FF2B5EF4-FFF2-40B4-BE49-F238E27FC236}">
                <a16:creationId xmlns:a16="http://schemas.microsoft.com/office/drawing/2014/main" id="{77A3A579-35F1-7D9D-498A-B25720C6D2FE}"/>
              </a:ext>
            </a:extLst>
          </p:cNvPr>
          <p:cNvSpPr>
            <a:spLocks noGrp="1"/>
          </p:cNvSpPr>
          <p:nvPr>
            <p:ph type="body" idx="1"/>
          </p:nvPr>
        </p:nvSpPr>
        <p:spPr>
          <a:xfrm>
            <a:off x="514350" y="4400550"/>
            <a:ext cx="4114800" cy="3600450"/>
          </a:xfrm>
          <a:prstGeom prst="rect">
            <a:avLst/>
          </a:prstGeom>
        </p:spPr>
        <p:txBody>
          <a:bodyPr/>
          <a:lstStyle/>
          <a:p>
            <a:endParaRPr lang="pt-BR" dirty="0"/>
          </a:p>
        </p:txBody>
      </p:sp>
    </p:spTree>
    <p:extLst>
      <p:ext uri="{BB962C8B-B14F-4D97-AF65-F5344CB8AC3E}">
        <p14:creationId xmlns:p14="http://schemas.microsoft.com/office/powerpoint/2010/main" val="40847027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7B270-7A97-A644-1216-3FF8C46B131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CCB5ACC-5805-A9E6-8A1B-F19BF1A6D594}"/>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Espaço Reservado para Anotações 2">
            <a:extLst>
              <a:ext uri="{FF2B5EF4-FFF2-40B4-BE49-F238E27FC236}">
                <a16:creationId xmlns:a16="http://schemas.microsoft.com/office/drawing/2014/main" id="{4E00BF9C-BA58-5554-93A1-413B38EF41BC}"/>
              </a:ext>
            </a:extLst>
          </p:cNvPr>
          <p:cNvSpPr>
            <a:spLocks noGrp="1"/>
          </p:cNvSpPr>
          <p:nvPr>
            <p:ph type="body" idx="1"/>
          </p:nvPr>
        </p:nvSpPr>
        <p:spPr>
          <a:xfrm>
            <a:off x="514350" y="4400550"/>
            <a:ext cx="4114800" cy="3600450"/>
          </a:xfrm>
          <a:prstGeom prst="rect">
            <a:avLst/>
          </a:prstGeom>
        </p:spPr>
        <p:txBody>
          <a:bodyPr/>
          <a:lstStyle/>
          <a:p>
            <a:endParaRPr lang="pt-BR" dirty="0"/>
          </a:p>
        </p:txBody>
      </p:sp>
    </p:spTree>
    <p:extLst>
      <p:ext uri="{BB962C8B-B14F-4D97-AF65-F5344CB8AC3E}">
        <p14:creationId xmlns:p14="http://schemas.microsoft.com/office/powerpoint/2010/main" val="617217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3121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F51035-D4A7-1E76-3318-B202C445A5A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3EEFFBE5-B33B-A207-A0F5-1A6293720569}"/>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1147FB7D-5CDA-0BBA-6707-1CF43C79AC72}"/>
              </a:ext>
            </a:extLst>
          </p:cNvPr>
          <p:cNvSpPr>
            <a:spLocks noGrp="1"/>
          </p:cNvSpPr>
          <p:nvPr>
            <p:ph type="dt" sz="half" idx="10"/>
          </p:nvPr>
        </p:nvSpPr>
        <p:spPr/>
        <p:txBody>
          <a:bodyPr/>
          <a:lstStyle/>
          <a:p>
            <a:fld id="{8FAD7769-9883-48B8-B6E9-1D4E9B2B5CA8}" type="datetimeFigureOut">
              <a:rPr lang="pt-BR" smtClean="0"/>
              <a:t>27/01/2026</a:t>
            </a:fld>
            <a:endParaRPr lang="pt-BR"/>
          </a:p>
        </p:txBody>
      </p:sp>
      <p:sp>
        <p:nvSpPr>
          <p:cNvPr id="5" name="Espaço Reservado para Rodapé 4">
            <a:extLst>
              <a:ext uri="{FF2B5EF4-FFF2-40B4-BE49-F238E27FC236}">
                <a16:creationId xmlns:a16="http://schemas.microsoft.com/office/drawing/2014/main" id="{BF04DEEF-2C88-8F69-A6F9-72D9B6AADDD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3388C08-D6AD-5C6F-EF7D-EA05C008041B}"/>
              </a:ext>
            </a:extLst>
          </p:cNvPr>
          <p:cNvSpPr>
            <a:spLocks noGrp="1"/>
          </p:cNvSpPr>
          <p:nvPr>
            <p:ph type="sldNum" sz="quarter" idx="12"/>
          </p:nvPr>
        </p:nvSpPr>
        <p:spPr/>
        <p:txBody>
          <a:bodyPr/>
          <a:lstStyle/>
          <a:p>
            <a:fld id="{1B711231-B486-4676-8032-917F816F970F}" type="slidenum">
              <a:rPr lang="pt-BR" smtClean="0"/>
              <a:t>‹nº›</a:t>
            </a:fld>
            <a:endParaRPr lang="pt-BR"/>
          </a:p>
        </p:txBody>
      </p:sp>
    </p:spTree>
    <p:extLst>
      <p:ext uri="{BB962C8B-B14F-4D97-AF65-F5344CB8AC3E}">
        <p14:creationId xmlns:p14="http://schemas.microsoft.com/office/powerpoint/2010/main" val="1348287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png"/><Relationship Id="rId1" Type="http://schemas.openxmlformats.org/officeDocument/2006/relationships/slideLayout" Target="../slideLayouts/slideLayout3.xml"/><Relationship Id="rId5" Type="http://schemas.openxmlformats.org/officeDocument/2006/relationships/image" Target="../media/image58.png"/><Relationship Id="rId4" Type="http://schemas.openxmlformats.org/officeDocument/2006/relationships/image" Target="../media/image57.png"/></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1180203" y="1832723"/>
            <a:ext cx="6783507" cy="553998"/>
          </a:xfrm>
          <a:prstGeom prst="rect">
            <a:avLst/>
          </a:prstGeom>
          <a:noFill/>
          <a:ln/>
        </p:spPr>
        <p:txBody>
          <a:bodyPr wrap="square" lIns="0" tIns="0" rIns="0" bIns="0" rtlCol="0" anchor="ctr">
            <a:spAutoFit/>
          </a:bodyPr>
          <a:lstStyle/>
          <a:p>
            <a:pPr algn="ctr"/>
            <a:r>
              <a:rPr lang="en-US" sz="3600" b="1" dirty="0">
                <a:solidFill>
                  <a:srgbClr val="231F20"/>
                </a:solidFill>
                <a:latin typeface="Montserrat" pitchFamily="2" charset="0"/>
                <a:ea typeface="Noto Sans" pitchFamily="34" charset="-122"/>
                <a:cs typeface="Noto Sans" pitchFamily="34" charset="-120"/>
              </a:rPr>
              <a:t>Quantization in Deep</a:t>
            </a:r>
            <a:endParaRPr lang="en-US" sz="3600" dirty="0">
              <a:solidFill>
                <a:srgbClr val="231F20"/>
              </a:solidFill>
              <a:latin typeface="Montserrat" pitchFamily="2" charset="0"/>
            </a:endParaRPr>
          </a:p>
        </p:txBody>
      </p:sp>
      <p:pic>
        <p:nvPicPr>
          <p:cNvPr id="2" name="Imagem 1" descr="Uma imagem contendo Interface gráfica do usuário&#10;&#10;O conteúdo gerado por IA pode estar incorreto.">
            <a:extLst>
              <a:ext uri="{FF2B5EF4-FFF2-40B4-BE49-F238E27FC236}">
                <a16:creationId xmlns:a16="http://schemas.microsoft.com/office/drawing/2014/main" id="{FD664774-D1D4-8AAC-8EB8-8FF36EC3CA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sp>
        <p:nvSpPr>
          <p:cNvPr id="10" name="Text 2">
            <a:extLst>
              <a:ext uri="{FF2B5EF4-FFF2-40B4-BE49-F238E27FC236}">
                <a16:creationId xmlns:a16="http://schemas.microsoft.com/office/drawing/2014/main" id="{7172F184-B811-CBC1-4C6D-55DD8B9983F6}"/>
              </a:ext>
            </a:extLst>
          </p:cNvPr>
          <p:cNvSpPr/>
          <p:nvPr/>
        </p:nvSpPr>
        <p:spPr>
          <a:xfrm>
            <a:off x="2295692" y="3159761"/>
            <a:ext cx="4552529" cy="369332"/>
          </a:xfrm>
          <a:prstGeom prst="rect">
            <a:avLst/>
          </a:prstGeom>
          <a:noFill/>
          <a:ln/>
        </p:spPr>
        <p:txBody>
          <a:bodyPr wrap="none" lIns="0" tIns="0" rIns="0" bIns="0" rtlCol="0" anchor="ctr">
            <a:spAutoFit/>
          </a:bodyPr>
          <a:lstStyle/>
          <a:p>
            <a:pPr algn="ctr"/>
            <a:r>
              <a:rPr lang="pt-BR" sz="1200" dirty="0" err="1">
                <a:solidFill>
                  <a:srgbClr val="231F20"/>
                </a:solidFill>
                <a:latin typeface="Montserrat" pitchFamily="2" charset="0"/>
                <a:ea typeface="Noto Sans" pitchFamily="34" charset="-122"/>
                <a:cs typeface="Noto Sans" pitchFamily="34" charset="-120"/>
              </a:rPr>
              <a:t>Student</a:t>
            </a:r>
            <a:r>
              <a:rPr lang="pt-BR" sz="1200" dirty="0">
                <a:solidFill>
                  <a:srgbClr val="231F20"/>
                </a:solidFill>
                <a:latin typeface="Montserrat" pitchFamily="2" charset="0"/>
                <a:ea typeface="Noto Sans" pitchFamily="34" charset="-122"/>
                <a:cs typeface="Noto Sans" pitchFamily="34" charset="-120"/>
              </a:rPr>
              <a:t>: João Vítor C. Pessoa</a:t>
            </a:r>
          </a:p>
          <a:p>
            <a:pPr algn="ctr"/>
            <a:r>
              <a:rPr lang="pt-BR" sz="1200" dirty="0" err="1">
                <a:solidFill>
                  <a:srgbClr val="231F20"/>
                </a:solidFill>
                <a:latin typeface="Montserrat" pitchFamily="2" charset="0"/>
                <a:ea typeface="Noto Sans" pitchFamily="34" charset="-122"/>
                <a:cs typeface="Noto Sans" pitchFamily="34" charset="-120"/>
              </a:rPr>
              <a:t>Professors</a:t>
            </a:r>
            <a:r>
              <a:rPr lang="pt-BR" sz="1200" dirty="0">
                <a:solidFill>
                  <a:srgbClr val="231F20"/>
                </a:solidFill>
                <a:latin typeface="Montserrat" pitchFamily="2" charset="0"/>
                <a:ea typeface="Noto Sans" pitchFamily="34" charset="-122"/>
                <a:cs typeface="Noto Sans" pitchFamily="34" charset="-120"/>
              </a:rPr>
              <a:t>: Rafael da Silva Chaves, Marcello L. R. de Campos</a:t>
            </a:r>
            <a:endParaRPr lang="en-US" sz="1200" dirty="0">
              <a:solidFill>
                <a:srgbClr val="231F20"/>
              </a:solidFill>
              <a:latin typeface="Montserrat" pitchFamily="2" charset="0"/>
            </a:endParaRPr>
          </a:p>
        </p:txBody>
      </p:sp>
      <p:sp>
        <p:nvSpPr>
          <p:cNvPr id="11" name="Text 3">
            <a:extLst>
              <a:ext uri="{FF2B5EF4-FFF2-40B4-BE49-F238E27FC236}">
                <a16:creationId xmlns:a16="http://schemas.microsoft.com/office/drawing/2014/main" id="{E1727DBC-8956-792A-9676-A03CFCC52932}"/>
              </a:ext>
            </a:extLst>
          </p:cNvPr>
          <p:cNvSpPr/>
          <p:nvPr/>
        </p:nvSpPr>
        <p:spPr>
          <a:xfrm>
            <a:off x="2824341" y="74611"/>
            <a:ext cx="2994409" cy="153888"/>
          </a:xfrm>
          <a:prstGeom prst="rect">
            <a:avLst/>
          </a:prstGeom>
          <a:noFill/>
          <a:ln/>
        </p:spPr>
        <p:txBody>
          <a:bodyPr wrap="none" lIns="0" tIns="0" rIns="0" bIns="0" rtlCol="0" anchor="ctr">
            <a:spAutoFit/>
          </a:bodyPr>
          <a:lstStyle/>
          <a:p>
            <a:pPr algn="ctr"/>
            <a:r>
              <a:rPr lang="en-US" sz="1000" dirty="0">
                <a:solidFill>
                  <a:srgbClr val="231F20"/>
                </a:solidFill>
                <a:latin typeface="Montserrat" pitchFamily="2" charset="0"/>
                <a:ea typeface="Noto Sans" pitchFamily="34" charset="-122"/>
                <a:cs typeface="Noto Sans" pitchFamily="34" charset="-120"/>
              </a:rPr>
              <a:t> Universidade Federal do Rio de Janeiro (UFRJ)</a:t>
            </a:r>
            <a:endParaRPr lang="en-US" sz="1000" dirty="0">
              <a:solidFill>
                <a:srgbClr val="231F20"/>
              </a:solidFill>
              <a:latin typeface="Montserrat"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F2C9022-21AD-9A5F-E340-5310EF6E2688}"/>
            </a:ext>
          </a:extLst>
        </p:cNvPr>
        <p:cNvGrpSpPr/>
        <p:nvPr/>
      </p:nvGrpSpPr>
      <p:grpSpPr>
        <a:xfrm>
          <a:off x="0" y="0"/>
          <a:ext cx="0" cy="0"/>
          <a:chOff x="0" y="0"/>
          <a:chExt cx="0" cy="0"/>
        </a:xfrm>
      </p:grpSpPr>
      <p:sp>
        <p:nvSpPr>
          <p:cNvPr id="28" name="Text 0">
            <a:extLst>
              <a:ext uri="{FF2B5EF4-FFF2-40B4-BE49-F238E27FC236}">
                <a16:creationId xmlns:a16="http://schemas.microsoft.com/office/drawing/2014/main" id="{5B079FDE-43C7-AC39-2776-F02EC2F209E4}"/>
              </a:ext>
            </a:extLst>
          </p:cNvPr>
          <p:cNvSpPr/>
          <p:nvPr/>
        </p:nvSpPr>
        <p:spPr>
          <a:xfrm>
            <a:off x="285751" y="324744"/>
            <a:ext cx="4116512"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SUMMARY OF THE LAST WEEK</a:t>
            </a:r>
          </a:p>
        </p:txBody>
      </p:sp>
      <p:pic>
        <p:nvPicPr>
          <p:cNvPr id="29" name="Imagem 28" descr="Uma imagem contendo Interface gráfica do usuário&#10;&#10;O conteúdo gerado por IA pode estar incorreto.">
            <a:extLst>
              <a:ext uri="{FF2B5EF4-FFF2-40B4-BE49-F238E27FC236}">
                <a16:creationId xmlns:a16="http://schemas.microsoft.com/office/drawing/2014/main" id="{63D68FBF-7BC8-F689-CACA-442E844A85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spTree>
    <p:extLst>
      <p:ext uri="{BB962C8B-B14F-4D97-AF65-F5344CB8AC3E}">
        <p14:creationId xmlns:p14="http://schemas.microsoft.com/office/powerpoint/2010/main" val="543635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a:off x="289731" y="982159"/>
            <a:ext cx="511369" cy="2042981"/>
            <a:chOff x="0" y="0"/>
            <a:chExt cx="242193" cy="1488314"/>
          </a:xfrm>
          <a:solidFill>
            <a:srgbClr val="B22232"/>
          </a:solidFill>
        </p:grpSpPr>
        <p:sp>
          <p:nvSpPr>
            <p:cNvPr id="3" name="Freeform 3"/>
            <p:cNvSpPr/>
            <p:nvPr/>
          </p:nvSpPr>
          <p:spPr>
            <a:xfrm>
              <a:off x="0" y="0"/>
              <a:ext cx="242193" cy="1488314"/>
            </a:xfrm>
            <a:custGeom>
              <a:avLst/>
              <a:gdLst/>
              <a:ahLst/>
              <a:cxnLst/>
              <a:rect l="l" t="t" r="r" b="b"/>
              <a:pathLst>
                <a:path w="242193" h="1488314">
                  <a:moveTo>
                    <a:pt x="0" y="0"/>
                  </a:moveTo>
                  <a:lnTo>
                    <a:pt x="242193" y="0"/>
                  </a:lnTo>
                  <a:lnTo>
                    <a:pt x="242193" y="1488314"/>
                  </a:lnTo>
                  <a:lnTo>
                    <a:pt x="0" y="1488314"/>
                  </a:lnTo>
                  <a:close/>
                </a:path>
              </a:pathLst>
            </a:custGeom>
            <a:grpFill/>
          </p:spPr>
          <p:txBody>
            <a:bodyPr/>
            <a:lstStyle/>
            <a:p>
              <a:endParaRPr lang="en-US" sz="900">
                <a:solidFill>
                  <a:schemeClr val="bg1"/>
                </a:solidFill>
              </a:endParaRPr>
            </a:p>
          </p:txBody>
        </p:sp>
        <p:sp>
          <p:nvSpPr>
            <p:cNvPr id="4" name="TextBox 4"/>
            <p:cNvSpPr txBox="1"/>
            <p:nvPr/>
          </p:nvSpPr>
          <p:spPr>
            <a:xfrm>
              <a:off x="0" y="-38100"/>
              <a:ext cx="242193" cy="1526414"/>
            </a:xfrm>
            <a:prstGeom prst="rect">
              <a:avLst/>
            </a:prstGeom>
            <a:grpFill/>
          </p:spPr>
          <p:txBody>
            <a:bodyPr lIns="25400" tIns="25400" rIns="25400" bIns="25400" rtlCol="0" anchor="ctr"/>
            <a:lstStyle/>
            <a:p>
              <a:pPr algn="ctr">
                <a:lnSpc>
                  <a:spcPts val="1820"/>
                </a:lnSpc>
              </a:pPr>
              <a:endParaRPr sz="900">
                <a:solidFill>
                  <a:schemeClr val="bg1"/>
                </a:solidFill>
              </a:endParaRPr>
            </a:p>
          </p:txBody>
        </p:sp>
      </p:grpSp>
      <p:sp>
        <p:nvSpPr>
          <p:cNvPr id="6" name="TextBox 6"/>
          <p:cNvSpPr txBox="1"/>
          <p:nvPr/>
        </p:nvSpPr>
        <p:spPr>
          <a:xfrm>
            <a:off x="929643" y="1018617"/>
            <a:ext cx="7570638" cy="227113"/>
          </a:xfrm>
          <a:prstGeom prst="rect">
            <a:avLst/>
          </a:prstGeom>
        </p:spPr>
        <p:txBody>
          <a:bodyPr wrap="square" lIns="0" tIns="0" rIns="0" bIns="0" rtlCol="0" anchor="t">
            <a:spAutoFit/>
          </a:bodyPr>
          <a:lstStyle/>
          <a:p>
            <a:pPr>
              <a:lnSpc>
                <a:spcPts val="1932"/>
              </a:lnSpc>
            </a:pPr>
            <a:r>
              <a:rPr lang="en-US" sz="1400" b="1" spc="137" dirty="0">
                <a:solidFill>
                  <a:srgbClr val="231F20"/>
                </a:solidFill>
                <a:latin typeface="Montserrat" pitchFamily="2" charset="0"/>
                <a:ea typeface="Lato"/>
                <a:cs typeface="Lato"/>
                <a:sym typeface="Lato"/>
              </a:rPr>
              <a:t>LOREM</a:t>
            </a:r>
          </a:p>
        </p:txBody>
      </p:sp>
      <p:sp>
        <p:nvSpPr>
          <p:cNvPr id="12" name="TextBox 12"/>
          <p:cNvSpPr txBox="1"/>
          <p:nvPr/>
        </p:nvSpPr>
        <p:spPr>
          <a:xfrm>
            <a:off x="376496" y="1027020"/>
            <a:ext cx="347448" cy="204158"/>
          </a:xfrm>
          <a:prstGeom prst="rect">
            <a:avLst/>
          </a:prstGeom>
        </p:spPr>
        <p:txBody>
          <a:bodyPr lIns="0" tIns="0" rIns="0" bIns="0" rtlCol="0" anchor="t">
            <a:spAutoFit/>
          </a:bodyPr>
          <a:lstStyle/>
          <a:p>
            <a:pPr algn="ctr">
              <a:lnSpc>
                <a:spcPts val="1680"/>
              </a:lnSpc>
            </a:pPr>
            <a:r>
              <a:rPr lang="en-US" sz="1400" b="1" i="1" dirty="0">
                <a:solidFill>
                  <a:schemeClr val="bg1"/>
                </a:solidFill>
                <a:latin typeface="Lato Bold Italics"/>
                <a:ea typeface="Lato Bold Italics"/>
                <a:cs typeface="Lato Bold Italics"/>
                <a:sym typeface="Lato Bold Italics"/>
              </a:rPr>
              <a:t>01</a:t>
            </a:r>
          </a:p>
        </p:txBody>
      </p:sp>
      <p:sp>
        <p:nvSpPr>
          <p:cNvPr id="13" name="TextBox 13"/>
          <p:cNvSpPr txBox="1"/>
          <p:nvPr/>
        </p:nvSpPr>
        <p:spPr>
          <a:xfrm>
            <a:off x="376496" y="1437494"/>
            <a:ext cx="347448" cy="204158"/>
          </a:xfrm>
          <a:prstGeom prst="rect">
            <a:avLst/>
          </a:prstGeom>
        </p:spPr>
        <p:txBody>
          <a:bodyPr lIns="0" tIns="0" rIns="0" bIns="0" rtlCol="0" anchor="t">
            <a:spAutoFit/>
          </a:bodyPr>
          <a:lstStyle/>
          <a:p>
            <a:pPr algn="ctr">
              <a:lnSpc>
                <a:spcPts val="1680"/>
              </a:lnSpc>
            </a:pPr>
            <a:r>
              <a:rPr lang="en-US" sz="1400" b="1" i="1" dirty="0">
                <a:solidFill>
                  <a:schemeClr val="bg1"/>
                </a:solidFill>
                <a:latin typeface="Lato Bold Italics"/>
                <a:ea typeface="Lato Bold Italics"/>
                <a:cs typeface="Lato Bold Italics"/>
                <a:sym typeface="Lato Bold Italics"/>
              </a:rPr>
              <a:t>02</a:t>
            </a:r>
          </a:p>
        </p:txBody>
      </p:sp>
      <p:sp>
        <p:nvSpPr>
          <p:cNvPr id="14" name="TextBox 14"/>
          <p:cNvSpPr txBox="1"/>
          <p:nvPr/>
        </p:nvSpPr>
        <p:spPr>
          <a:xfrm>
            <a:off x="367166" y="1855202"/>
            <a:ext cx="347448" cy="204158"/>
          </a:xfrm>
          <a:prstGeom prst="rect">
            <a:avLst/>
          </a:prstGeom>
        </p:spPr>
        <p:txBody>
          <a:bodyPr lIns="0" tIns="0" rIns="0" bIns="0" rtlCol="0" anchor="t">
            <a:spAutoFit/>
          </a:bodyPr>
          <a:lstStyle/>
          <a:p>
            <a:pPr algn="ctr">
              <a:lnSpc>
                <a:spcPts val="1680"/>
              </a:lnSpc>
            </a:pPr>
            <a:r>
              <a:rPr lang="en-US" sz="1400" b="1" i="1" dirty="0">
                <a:solidFill>
                  <a:schemeClr val="bg1"/>
                </a:solidFill>
                <a:latin typeface="Lato Bold Italics"/>
                <a:ea typeface="Lato Bold Italics"/>
                <a:cs typeface="Lato Bold Italics"/>
                <a:sym typeface="Lato Bold Italics"/>
              </a:rPr>
              <a:t>03</a:t>
            </a:r>
          </a:p>
        </p:txBody>
      </p:sp>
      <p:sp>
        <p:nvSpPr>
          <p:cNvPr id="15" name="TextBox 15"/>
          <p:cNvSpPr txBox="1"/>
          <p:nvPr/>
        </p:nvSpPr>
        <p:spPr>
          <a:xfrm>
            <a:off x="375295" y="2265432"/>
            <a:ext cx="347448" cy="204158"/>
          </a:xfrm>
          <a:prstGeom prst="rect">
            <a:avLst/>
          </a:prstGeom>
        </p:spPr>
        <p:txBody>
          <a:bodyPr lIns="0" tIns="0" rIns="0" bIns="0" rtlCol="0" anchor="t">
            <a:spAutoFit/>
          </a:bodyPr>
          <a:lstStyle/>
          <a:p>
            <a:pPr algn="ctr">
              <a:lnSpc>
                <a:spcPts val="1680"/>
              </a:lnSpc>
            </a:pPr>
            <a:r>
              <a:rPr lang="en-US" sz="1400" b="1" i="1" dirty="0">
                <a:solidFill>
                  <a:schemeClr val="bg1"/>
                </a:solidFill>
                <a:latin typeface="Lato Bold Italics"/>
                <a:ea typeface="Lato Bold Italics"/>
                <a:cs typeface="Lato Bold Italics"/>
                <a:sym typeface="Lato Bold Italics"/>
              </a:rPr>
              <a:t>04</a:t>
            </a:r>
          </a:p>
        </p:txBody>
      </p:sp>
      <p:sp>
        <p:nvSpPr>
          <p:cNvPr id="16" name="TextBox 16"/>
          <p:cNvSpPr txBox="1"/>
          <p:nvPr/>
        </p:nvSpPr>
        <p:spPr>
          <a:xfrm>
            <a:off x="375295" y="2680406"/>
            <a:ext cx="347448" cy="204158"/>
          </a:xfrm>
          <a:prstGeom prst="rect">
            <a:avLst/>
          </a:prstGeom>
        </p:spPr>
        <p:txBody>
          <a:bodyPr lIns="0" tIns="0" rIns="0" bIns="0" rtlCol="0" anchor="t">
            <a:spAutoFit/>
          </a:bodyPr>
          <a:lstStyle/>
          <a:p>
            <a:pPr algn="ctr">
              <a:lnSpc>
                <a:spcPts val="1680"/>
              </a:lnSpc>
            </a:pPr>
            <a:r>
              <a:rPr lang="en-US" sz="1400" b="1" i="1" dirty="0">
                <a:solidFill>
                  <a:schemeClr val="bg1"/>
                </a:solidFill>
                <a:latin typeface="Lato Bold Italics"/>
                <a:ea typeface="Lato Bold Italics"/>
                <a:cs typeface="Lato Bold Italics"/>
                <a:sym typeface="Lato Bold Italics"/>
              </a:rPr>
              <a:t>05</a:t>
            </a:r>
          </a:p>
        </p:txBody>
      </p:sp>
      <p:sp>
        <p:nvSpPr>
          <p:cNvPr id="35" name="Text 0">
            <a:extLst>
              <a:ext uri="{FF2B5EF4-FFF2-40B4-BE49-F238E27FC236}">
                <a16:creationId xmlns:a16="http://schemas.microsoft.com/office/drawing/2014/main" id="{F88F0D2F-539E-D642-0C9F-01F994645D20}"/>
              </a:ext>
            </a:extLst>
          </p:cNvPr>
          <p:cNvSpPr/>
          <p:nvPr/>
        </p:nvSpPr>
        <p:spPr>
          <a:xfrm>
            <a:off x="285751" y="324744"/>
            <a:ext cx="1296830"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CONTENT</a:t>
            </a:r>
          </a:p>
        </p:txBody>
      </p:sp>
      <p:pic>
        <p:nvPicPr>
          <p:cNvPr id="10" name="Imagem 9" descr="Uma imagem contendo Interface gráfica do usuário&#10;&#10;O conteúdo gerado por IA pode estar incorreto.">
            <a:extLst>
              <a:ext uri="{FF2B5EF4-FFF2-40B4-BE49-F238E27FC236}">
                <a16:creationId xmlns:a16="http://schemas.microsoft.com/office/drawing/2014/main" id="{A7821257-4D15-4563-CEA1-E70AF01BFB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5FBEB-B269-09D1-D231-4C46F13ACE53}"/>
            </a:ext>
          </a:extLst>
        </p:cNvPr>
        <p:cNvGrpSpPr/>
        <p:nvPr/>
      </p:nvGrpSpPr>
      <p:grpSpPr>
        <a:xfrm>
          <a:off x="0" y="0"/>
          <a:ext cx="0" cy="0"/>
          <a:chOff x="0" y="0"/>
          <a:chExt cx="0" cy="0"/>
        </a:xfrm>
      </p:grpSpPr>
      <p:sp>
        <p:nvSpPr>
          <p:cNvPr id="35" name="Text 0">
            <a:extLst>
              <a:ext uri="{FF2B5EF4-FFF2-40B4-BE49-F238E27FC236}">
                <a16:creationId xmlns:a16="http://schemas.microsoft.com/office/drawing/2014/main" id="{CDE10D6D-D727-5DC7-1BB1-9C7985E20E54}"/>
              </a:ext>
            </a:extLst>
          </p:cNvPr>
          <p:cNvSpPr/>
          <p:nvPr/>
        </p:nvSpPr>
        <p:spPr>
          <a:xfrm>
            <a:off x="285751" y="324744"/>
            <a:ext cx="3092193"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MODEL COMPRESSION</a:t>
            </a:r>
          </a:p>
        </p:txBody>
      </p:sp>
      <p:pic>
        <p:nvPicPr>
          <p:cNvPr id="10" name="Imagem 9" descr="Uma imagem contendo Interface gráfica do usuário&#10;&#10;O conteúdo gerado por IA pode estar incorreto.">
            <a:extLst>
              <a:ext uri="{FF2B5EF4-FFF2-40B4-BE49-F238E27FC236}">
                <a16:creationId xmlns:a16="http://schemas.microsoft.com/office/drawing/2014/main" id="{F88B9794-F847-4B98-AB41-9E17BA6322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sp>
        <p:nvSpPr>
          <p:cNvPr id="5" name="Text 1">
            <a:extLst>
              <a:ext uri="{FF2B5EF4-FFF2-40B4-BE49-F238E27FC236}">
                <a16:creationId xmlns:a16="http://schemas.microsoft.com/office/drawing/2014/main" id="{F0D64CBC-1B03-73AC-3CF2-9B99D85B6F63}"/>
              </a:ext>
            </a:extLst>
          </p:cNvPr>
          <p:cNvSpPr/>
          <p:nvPr/>
        </p:nvSpPr>
        <p:spPr>
          <a:xfrm>
            <a:off x="291176" y="1393158"/>
            <a:ext cx="4487732" cy="410369"/>
          </a:xfrm>
          <a:prstGeom prst="rect">
            <a:avLst/>
          </a:prstGeom>
          <a:noFill/>
          <a:ln/>
        </p:spPr>
        <p:txBody>
          <a:bodyPr wrap="square" lIns="0" tIns="0" rIns="0" bIns="0" rtlCol="0" anchor="t">
            <a:spAutoFit/>
          </a:bodyPr>
          <a:lstStyle/>
          <a:p>
            <a:pPr marL="171450" indent="-171450">
              <a:lnSpc>
                <a:spcPts val="1600"/>
              </a:lnSpc>
              <a:buFont typeface="Arial" panose="020B0604020202020204" pitchFamily="34" charset="0"/>
              <a:buChar char="•"/>
            </a:pPr>
            <a:r>
              <a:rPr lang="en-US" sz="1400" b="1" dirty="0">
                <a:solidFill>
                  <a:srgbClr val="1A1A1A"/>
                </a:solidFill>
                <a:latin typeface="Montserrat" pitchFamily="2" charset="0"/>
              </a:rPr>
              <a:t>Quantization: </a:t>
            </a:r>
            <a:r>
              <a:rPr lang="en-US" sz="1400" dirty="0">
                <a:solidFill>
                  <a:srgbClr val="1A1A1A"/>
                </a:solidFill>
                <a:latin typeface="Montserrat" pitchFamily="2" charset="0"/>
              </a:rPr>
              <a:t>Store the parameters of the model in lower precision</a:t>
            </a:r>
          </a:p>
        </p:txBody>
      </p:sp>
      <p:sp>
        <p:nvSpPr>
          <p:cNvPr id="17" name="Text 3">
            <a:extLst>
              <a:ext uri="{FF2B5EF4-FFF2-40B4-BE49-F238E27FC236}">
                <a16:creationId xmlns:a16="http://schemas.microsoft.com/office/drawing/2014/main" id="{DFD15B78-B3C0-1789-2D71-6FC24414D6DF}"/>
              </a:ext>
            </a:extLst>
          </p:cNvPr>
          <p:cNvSpPr/>
          <p:nvPr/>
        </p:nvSpPr>
        <p:spPr>
          <a:xfrm>
            <a:off x="434048" y="1853925"/>
            <a:ext cx="65" cy="210892"/>
          </a:xfrm>
          <a:prstGeom prst="rect">
            <a:avLst/>
          </a:prstGeom>
          <a:noFill/>
          <a:ln/>
        </p:spPr>
        <p:txBody>
          <a:bodyPr wrap="none" lIns="0" tIns="0" rIns="0" bIns="0" rtlCol="0" anchor="t">
            <a:spAutoFit/>
          </a:bodyPr>
          <a:lstStyle/>
          <a:p>
            <a:pPr marL="0" indent="0" algn="l">
              <a:lnSpc>
                <a:spcPts val="1600"/>
              </a:lnSpc>
              <a:buNone/>
            </a:pPr>
            <a:endParaRPr lang="en-US" sz="1400" dirty="0">
              <a:latin typeface="Montserrat" pitchFamily="2" charset="0"/>
            </a:endParaRPr>
          </a:p>
        </p:txBody>
      </p:sp>
      <p:sp>
        <p:nvSpPr>
          <p:cNvPr id="25" name="CaixaDeTexto 24">
            <a:extLst>
              <a:ext uri="{FF2B5EF4-FFF2-40B4-BE49-F238E27FC236}">
                <a16:creationId xmlns:a16="http://schemas.microsoft.com/office/drawing/2014/main" id="{DBFE9974-40D7-8A31-497B-0BF23883276C}"/>
              </a:ext>
            </a:extLst>
          </p:cNvPr>
          <p:cNvSpPr txBox="1"/>
          <p:nvPr/>
        </p:nvSpPr>
        <p:spPr>
          <a:xfrm>
            <a:off x="291176" y="2409195"/>
            <a:ext cx="4487732" cy="502702"/>
          </a:xfrm>
          <a:prstGeom prst="rect">
            <a:avLst/>
          </a:prstGeom>
          <a:noFill/>
        </p:spPr>
        <p:txBody>
          <a:bodyPr wrap="square">
            <a:spAutoFit/>
          </a:bodyPr>
          <a:lstStyle/>
          <a:p>
            <a:pPr marL="171450" indent="-171450">
              <a:lnSpc>
                <a:spcPts val="1600"/>
              </a:lnSpc>
              <a:buFont typeface="Arial" panose="020B0604020202020204" pitchFamily="34" charset="0"/>
              <a:buChar char="•"/>
            </a:pPr>
            <a:r>
              <a:rPr lang="en-US" sz="1400" b="1" dirty="0">
                <a:solidFill>
                  <a:srgbClr val="1A1A1A"/>
                </a:solidFill>
                <a:latin typeface="Montserrat" pitchFamily="2" charset="0"/>
              </a:rPr>
              <a:t>Knowledge distillation: </a:t>
            </a:r>
            <a:r>
              <a:rPr lang="en-US" sz="1400" dirty="0">
                <a:solidFill>
                  <a:srgbClr val="1A1A1A"/>
                </a:solidFill>
                <a:latin typeface="Montserrat" pitchFamily="2" charset="0"/>
              </a:rPr>
              <a:t>Train a smaller model (student) using the original model (instructor)</a:t>
            </a:r>
          </a:p>
        </p:txBody>
      </p:sp>
      <p:sp>
        <p:nvSpPr>
          <p:cNvPr id="27" name="CaixaDeTexto 26">
            <a:extLst>
              <a:ext uri="{FF2B5EF4-FFF2-40B4-BE49-F238E27FC236}">
                <a16:creationId xmlns:a16="http://schemas.microsoft.com/office/drawing/2014/main" id="{2C7855B9-B9CF-6AF5-0AE2-B796C186FF7A}"/>
              </a:ext>
            </a:extLst>
          </p:cNvPr>
          <p:cNvSpPr txBox="1"/>
          <p:nvPr/>
        </p:nvSpPr>
        <p:spPr>
          <a:xfrm>
            <a:off x="291176" y="3517565"/>
            <a:ext cx="4487732" cy="502702"/>
          </a:xfrm>
          <a:prstGeom prst="rect">
            <a:avLst/>
          </a:prstGeom>
          <a:noFill/>
        </p:spPr>
        <p:txBody>
          <a:bodyPr wrap="square">
            <a:spAutoFit/>
          </a:bodyPr>
          <a:lstStyle/>
          <a:p>
            <a:pPr marL="171450" indent="-171450">
              <a:lnSpc>
                <a:spcPts val="1600"/>
              </a:lnSpc>
              <a:buFont typeface="Arial" panose="020B0604020202020204" pitchFamily="34" charset="0"/>
              <a:buChar char="•"/>
            </a:pPr>
            <a:r>
              <a:rPr lang="en-US" sz="1400" b="1" dirty="0">
                <a:solidFill>
                  <a:srgbClr val="1A1A1A"/>
                </a:solidFill>
                <a:latin typeface="Montserrat" pitchFamily="2" charset="0"/>
              </a:rPr>
              <a:t>Pruning: </a:t>
            </a:r>
            <a:r>
              <a:rPr lang="en-US" sz="1400" dirty="0">
                <a:solidFill>
                  <a:srgbClr val="1A1A1A"/>
                </a:solidFill>
                <a:latin typeface="Montserrat" pitchFamily="2" charset="0"/>
              </a:rPr>
              <a:t>Remove connections (weights) from the model</a:t>
            </a:r>
            <a:endParaRPr lang="en-US" sz="1400" dirty="0">
              <a:latin typeface="Montserrat" pitchFamily="2" charset="0"/>
            </a:endParaRPr>
          </a:p>
        </p:txBody>
      </p:sp>
      <p:pic>
        <p:nvPicPr>
          <p:cNvPr id="29" name="Imagem 28" descr="Diagrama, Polígono&#10;&#10;O conteúdo gerado por IA pode estar incorreto.">
            <a:extLst>
              <a:ext uri="{FF2B5EF4-FFF2-40B4-BE49-F238E27FC236}">
                <a16:creationId xmlns:a16="http://schemas.microsoft.com/office/drawing/2014/main" id="{6873C278-95F8-3761-7412-DB23DBF3A411}"/>
              </a:ext>
            </a:extLst>
          </p:cNvPr>
          <p:cNvPicPr>
            <a:picLocks noChangeAspect="1"/>
          </p:cNvPicPr>
          <p:nvPr/>
        </p:nvPicPr>
        <p:blipFill>
          <a:blip r:embed="rId4"/>
          <a:stretch>
            <a:fillRect/>
          </a:stretch>
        </p:blipFill>
        <p:spPr>
          <a:xfrm>
            <a:off x="5614840" y="1028079"/>
            <a:ext cx="1989233" cy="978661"/>
          </a:xfrm>
          <a:prstGeom prst="rect">
            <a:avLst/>
          </a:prstGeom>
        </p:spPr>
      </p:pic>
      <p:pic>
        <p:nvPicPr>
          <p:cNvPr id="31" name="Imagem 30" descr="Forma&#10;&#10;O conteúdo gerado por IA pode estar incorreto.">
            <a:extLst>
              <a:ext uri="{FF2B5EF4-FFF2-40B4-BE49-F238E27FC236}">
                <a16:creationId xmlns:a16="http://schemas.microsoft.com/office/drawing/2014/main" id="{C355D9BE-4D46-5B91-536F-1D926812EEC6}"/>
              </a:ext>
            </a:extLst>
          </p:cNvPr>
          <p:cNvPicPr>
            <a:picLocks noChangeAspect="1"/>
          </p:cNvPicPr>
          <p:nvPr/>
        </p:nvPicPr>
        <p:blipFill>
          <a:blip r:embed="rId5"/>
          <a:stretch>
            <a:fillRect/>
          </a:stretch>
        </p:blipFill>
        <p:spPr>
          <a:xfrm>
            <a:off x="5556221" y="2248295"/>
            <a:ext cx="2106470" cy="824502"/>
          </a:xfrm>
          <a:prstGeom prst="rect">
            <a:avLst/>
          </a:prstGeom>
        </p:spPr>
      </p:pic>
      <p:pic>
        <p:nvPicPr>
          <p:cNvPr id="33" name="Imagem 32" descr="Diagrama&#10;&#10;O conteúdo gerado por IA pode estar incorreto.">
            <a:extLst>
              <a:ext uri="{FF2B5EF4-FFF2-40B4-BE49-F238E27FC236}">
                <a16:creationId xmlns:a16="http://schemas.microsoft.com/office/drawing/2014/main" id="{C1B24752-DA69-487B-6A7F-6012D5583C4A}"/>
              </a:ext>
            </a:extLst>
          </p:cNvPr>
          <p:cNvPicPr>
            <a:picLocks noChangeAspect="1"/>
          </p:cNvPicPr>
          <p:nvPr/>
        </p:nvPicPr>
        <p:blipFill>
          <a:blip r:embed="rId6"/>
          <a:stretch>
            <a:fillRect/>
          </a:stretch>
        </p:blipFill>
        <p:spPr>
          <a:xfrm>
            <a:off x="5497603" y="3110062"/>
            <a:ext cx="2481300" cy="1324252"/>
          </a:xfrm>
          <a:prstGeom prst="rect">
            <a:avLst/>
          </a:prstGeom>
        </p:spPr>
      </p:pic>
    </p:spTree>
    <p:extLst>
      <p:ext uri="{BB962C8B-B14F-4D97-AF65-F5344CB8AC3E}">
        <p14:creationId xmlns:p14="http://schemas.microsoft.com/office/powerpoint/2010/main" val="2407371090"/>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A30EF1F-9B03-DBE1-A1F4-A7A04F74D0F2}"/>
              </a:ext>
            </a:extLst>
          </p:cNvPr>
          <p:cNvSpPr/>
          <p:nvPr/>
        </p:nvSpPr>
        <p:spPr>
          <a:xfrm>
            <a:off x="285751" y="324744"/>
            <a:ext cx="3452868"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QUANTIZATION CONCEPT</a:t>
            </a:r>
          </a:p>
        </p:txBody>
      </p:sp>
      <p:pic>
        <p:nvPicPr>
          <p:cNvPr id="3" name="Imagem 2" descr="Uma imagem contendo Interface gráfica do usuário&#10;&#10;O conteúdo gerado por IA pode estar incorreto.">
            <a:extLst>
              <a:ext uri="{FF2B5EF4-FFF2-40B4-BE49-F238E27FC236}">
                <a16:creationId xmlns:a16="http://schemas.microsoft.com/office/drawing/2014/main" id="{BD9F8E0C-8F8B-B57D-D0FD-84DA22736A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pic>
        <p:nvPicPr>
          <p:cNvPr id="1028" name="Picture 4" descr="Quantization (signal processing) - Wikipedia">
            <a:extLst>
              <a:ext uri="{FF2B5EF4-FFF2-40B4-BE49-F238E27FC236}">
                <a16:creationId xmlns:a16="http://schemas.microsoft.com/office/drawing/2014/main" id="{84F46068-2C91-723A-6B4D-DA40678FE6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1345" y="1662434"/>
            <a:ext cx="4319633" cy="1464624"/>
          </a:xfrm>
          <a:prstGeom prst="rect">
            <a:avLst/>
          </a:prstGeom>
          <a:noFill/>
          <a:extLst>
            <a:ext uri="{909E8E84-426E-40DD-AFC4-6F175D3DCCD1}">
              <a14:hiddenFill xmlns:a14="http://schemas.microsoft.com/office/drawing/2010/main">
                <a:solidFill>
                  <a:srgbClr val="FFFFFF"/>
                </a:solidFill>
              </a14:hiddenFill>
            </a:ext>
          </a:extLst>
        </p:spPr>
      </p:pic>
      <p:sp>
        <p:nvSpPr>
          <p:cNvPr id="4" name="Text 1">
            <a:extLst>
              <a:ext uri="{FF2B5EF4-FFF2-40B4-BE49-F238E27FC236}">
                <a16:creationId xmlns:a16="http://schemas.microsoft.com/office/drawing/2014/main" id="{86C6135D-20E7-0A76-2E34-7A0CE5F99C58}"/>
              </a:ext>
            </a:extLst>
          </p:cNvPr>
          <p:cNvSpPr/>
          <p:nvPr/>
        </p:nvSpPr>
        <p:spPr>
          <a:xfrm>
            <a:off x="2493636" y="1092934"/>
            <a:ext cx="4156727" cy="410369"/>
          </a:xfrm>
          <a:prstGeom prst="rect">
            <a:avLst/>
          </a:prstGeom>
          <a:noFill/>
          <a:ln/>
        </p:spPr>
        <p:txBody>
          <a:bodyPr wrap="square" lIns="0" tIns="0" rIns="0" bIns="0" rtlCol="0" anchor="t">
            <a:spAutoFit/>
          </a:bodyPr>
          <a:lstStyle/>
          <a:p>
            <a:pPr algn="ctr">
              <a:lnSpc>
                <a:spcPts val="1600"/>
              </a:lnSpc>
            </a:pPr>
            <a:r>
              <a:rPr lang="en-US" sz="1400" dirty="0">
                <a:solidFill>
                  <a:srgbClr val="1A1A1A"/>
                </a:solidFill>
                <a:latin typeface="Montserrat" pitchFamily="2" charset="0"/>
              </a:rPr>
              <a:t>Quantization refers to the process of mapping a large set to a smaller set of values</a:t>
            </a:r>
          </a:p>
        </p:txBody>
      </p:sp>
      <p:pic>
        <p:nvPicPr>
          <p:cNvPr id="8" name="Imagem 7" descr="Gráfico de linhas&#10;&#10;O conteúdo gerado por IA pode estar incorreto.">
            <a:extLst>
              <a:ext uri="{FF2B5EF4-FFF2-40B4-BE49-F238E27FC236}">
                <a16:creationId xmlns:a16="http://schemas.microsoft.com/office/drawing/2014/main" id="{27383314-B5AD-165C-5EAA-FCCC340AEDB4}"/>
              </a:ext>
            </a:extLst>
          </p:cNvPr>
          <p:cNvPicPr>
            <a:picLocks noChangeAspect="1"/>
          </p:cNvPicPr>
          <p:nvPr/>
        </p:nvPicPr>
        <p:blipFill>
          <a:blip r:embed="rId4"/>
          <a:stretch>
            <a:fillRect/>
          </a:stretch>
        </p:blipFill>
        <p:spPr>
          <a:xfrm>
            <a:off x="3381877" y="3286189"/>
            <a:ext cx="2685819" cy="1365671"/>
          </a:xfrm>
          <a:prstGeom prst="rect">
            <a:avLst/>
          </a:prstGeom>
        </p:spPr>
      </p:pic>
    </p:spTree>
    <p:extLst>
      <p:ext uri="{BB962C8B-B14F-4D97-AF65-F5344CB8AC3E}">
        <p14:creationId xmlns:p14="http://schemas.microsoft.com/office/powerpoint/2010/main" val="2958756921"/>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57195-1F6A-468E-0604-A00678D83A68}"/>
            </a:ext>
          </a:extLst>
        </p:cNvPr>
        <p:cNvGrpSpPr/>
        <p:nvPr/>
      </p:nvGrpSpPr>
      <p:grpSpPr>
        <a:xfrm>
          <a:off x="0" y="0"/>
          <a:ext cx="0" cy="0"/>
          <a:chOff x="0" y="0"/>
          <a:chExt cx="0" cy="0"/>
        </a:xfrm>
      </p:grpSpPr>
      <p:sp>
        <p:nvSpPr>
          <p:cNvPr id="35" name="Text 0">
            <a:extLst>
              <a:ext uri="{FF2B5EF4-FFF2-40B4-BE49-F238E27FC236}">
                <a16:creationId xmlns:a16="http://schemas.microsoft.com/office/drawing/2014/main" id="{09BD717A-D8E1-A065-236A-F30001F6238F}"/>
              </a:ext>
            </a:extLst>
          </p:cNvPr>
          <p:cNvSpPr/>
          <p:nvPr/>
        </p:nvSpPr>
        <p:spPr>
          <a:xfrm>
            <a:off x="285751" y="324744"/>
            <a:ext cx="3456074"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TYPES OF QUANTIZATION</a:t>
            </a:r>
          </a:p>
        </p:txBody>
      </p:sp>
      <p:pic>
        <p:nvPicPr>
          <p:cNvPr id="10" name="Imagem 9" descr="Uma imagem contendo Interface gráfica do usuário&#10;&#10;O conteúdo gerado por IA pode estar incorreto.">
            <a:extLst>
              <a:ext uri="{FF2B5EF4-FFF2-40B4-BE49-F238E27FC236}">
                <a16:creationId xmlns:a16="http://schemas.microsoft.com/office/drawing/2014/main" id="{D3704028-C605-6354-537F-76A49E4727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sp>
        <p:nvSpPr>
          <p:cNvPr id="5" name="Text 1">
            <a:extLst>
              <a:ext uri="{FF2B5EF4-FFF2-40B4-BE49-F238E27FC236}">
                <a16:creationId xmlns:a16="http://schemas.microsoft.com/office/drawing/2014/main" id="{B2CA8792-835E-50F6-BF31-727DBAA477F7}"/>
              </a:ext>
            </a:extLst>
          </p:cNvPr>
          <p:cNvSpPr/>
          <p:nvPr/>
        </p:nvSpPr>
        <p:spPr>
          <a:xfrm>
            <a:off x="291176" y="1706664"/>
            <a:ext cx="5690048" cy="820738"/>
          </a:xfrm>
          <a:prstGeom prst="rect">
            <a:avLst/>
          </a:prstGeom>
          <a:noFill/>
          <a:ln/>
        </p:spPr>
        <p:txBody>
          <a:bodyPr wrap="square" lIns="0" tIns="0" rIns="0" bIns="0" rtlCol="0" anchor="t">
            <a:spAutoFit/>
          </a:bodyPr>
          <a:lstStyle/>
          <a:p>
            <a:pPr marL="171450" indent="-171450">
              <a:lnSpc>
                <a:spcPts val="1600"/>
              </a:lnSpc>
              <a:buFont typeface="Arial" panose="020B0604020202020204" pitchFamily="34" charset="0"/>
              <a:buChar char="•"/>
            </a:pPr>
            <a:r>
              <a:rPr lang="en-US" sz="1400" dirty="0">
                <a:solidFill>
                  <a:srgbClr val="1A1A1A"/>
                </a:solidFill>
                <a:latin typeface="Montserrat" pitchFamily="2" charset="0"/>
              </a:rPr>
              <a:t>Levels uniformly distributed across the data range</a:t>
            </a:r>
          </a:p>
          <a:p>
            <a:pPr marL="171450" indent="-171450">
              <a:lnSpc>
                <a:spcPts val="1600"/>
              </a:lnSpc>
              <a:buFont typeface="Arial" panose="020B0604020202020204" pitchFamily="34" charset="0"/>
              <a:buChar char="•"/>
            </a:pPr>
            <a:r>
              <a:rPr lang="en-US" sz="1400" dirty="0">
                <a:solidFill>
                  <a:srgbClr val="1A1A1A"/>
                </a:solidFill>
                <a:latin typeface="Montserrat" pitchFamily="2" charset="0"/>
              </a:rPr>
              <a:t>Simple and fast for hardware</a:t>
            </a:r>
          </a:p>
          <a:p>
            <a:pPr marL="171450" indent="-171450">
              <a:lnSpc>
                <a:spcPts val="1600"/>
              </a:lnSpc>
              <a:buFont typeface="Arial" panose="020B0604020202020204" pitchFamily="34" charset="0"/>
              <a:buChar char="•"/>
            </a:pPr>
            <a:r>
              <a:rPr lang="en-US" sz="1400" dirty="0">
                <a:solidFill>
                  <a:srgbClr val="1A1A1A"/>
                </a:solidFill>
                <a:latin typeface="Montserrat" pitchFamily="2" charset="0"/>
              </a:rPr>
              <a:t>Very efficient on modern GPUs and CPUs</a:t>
            </a:r>
          </a:p>
          <a:p>
            <a:pPr marL="171450" indent="-171450">
              <a:lnSpc>
                <a:spcPts val="1600"/>
              </a:lnSpc>
              <a:buFont typeface="Arial" panose="020B0604020202020204" pitchFamily="34" charset="0"/>
              <a:buChar char="•"/>
            </a:pPr>
            <a:r>
              <a:rPr lang="en-US" sz="1400" dirty="0">
                <a:solidFill>
                  <a:srgbClr val="1A1A1A"/>
                </a:solidFill>
                <a:latin typeface="Montserrat" pitchFamily="2" charset="0"/>
              </a:rPr>
              <a:t>Can waste precision when data clusters are close to zero</a:t>
            </a:r>
          </a:p>
        </p:txBody>
      </p:sp>
      <p:sp>
        <p:nvSpPr>
          <p:cNvPr id="17" name="Text 3">
            <a:extLst>
              <a:ext uri="{FF2B5EF4-FFF2-40B4-BE49-F238E27FC236}">
                <a16:creationId xmlns:a16="http://schemas.microsoft.com/office/drawing/2014/main" id="{3CFF13E8-B0E2-BA76-6B58-792D19E398B8}"/>
              </a:ext>
            </a:extLst>
          </p:cNvPr>
          <p:cNvSpPr/>
          <p:nvPr/>
        </p:nvSpPr>
        <p:spPr>
          <a:xfrm>
            <a:off x="434048" y="2167431"/>
            <a:ext cx="65" cy="210892"/>
          </a:xfrm>
          <a:prstGeom prst="rect">
            <a:avLst/>
          </a:prstGeom>
          <a:noFill/>
          <a:ln/>
        </p:spPr>
        <p:txBody>
          <a:bodyPr wrap="none" lIns="0" tIns="0" rIns="0" bIns="0" rtlCol="0" anchor="t">
            <a:spAutoFit/>
          </a:bodyPr>
          <a:lstStyle/>
          <a:p>
            <a:pPr marL="0" indent="0" algn="l">
              <a:lnSpc>
                <a:spcPts val="1600"/>
              </a:lnSpc>
              <a:buNone/>
            </a:pPr>
            <a:endParaRPr lang="en-US" sz="1400" dirty="0">
              <a:latin typeface="Montserrat" pitchFamily="2" charset="0"/>
            </a:endParaRPr>
          </a:p>
        </p:txBody>
      </p:sp>
      <p:cxnSp>
        <p:nvCxnSpPr>
          <p:cNvPr id="9" name="Conector reto 8">
            <a:extLst>
              <a:ext uri="{FF2B5EF4-FFF2-40B4-BE49-F238E27FC236}">
                <a16:creationId xmlns:a16="http://schemas.microsoft.com/office/drawing/2014/main" id="{88E1FF15-00D3-0E4A-913C-E1E7698FEC24}"/>
              </a:ext>
            </a:extLst>
          </p:cNvPr>
          <p:cNvCxnSpPr>
            <a:cxnSpLocks/>
          </p:cNvCxnSpPr>
          <p:nvPr/>
        </p:nvCxnSpPr>
        <p:spPr>
          <a:xfrm flipV="1">
            <a:off x="331969" y="1291444"/>
            <a:ext cx="691544" cy="2381"/>
          </a:xfrm>
          <a:prstGeom prst="line">
            <a:avLst/>
          </a:prstGeom>
        </p:spPr>
        <p:style>
          <a:lnRef idx="1">
            <a:schemeClr val="dk1"/>
          </a:lnRef>
          <a:fillRef idx="0">
            <a:schemeClr val="dk1"/>
          </a:fillRef>
          <a:effectRef idx="0">
            <a:schemeClr val="dk1"/>
          </a:effectRef>
          <a:fontRef idx="minor">
            <a:schemeClr val="tx1"/>
          </a:fontRef>
        </p:style>
      </p:cxnSp>
      <p:cxnSp>
        <p:nvCxnSpPr>
          <p:cNvPr id="12" name="Conector reto 11">
            <a:extLst>
              <a:ext uri="{FF2B5EF4-FFF2-40B4-BE49-F238E27FC236}">
                <a16:creationId xmlns:a16="http://schemas.microsoft.com/office/drawing/2014/main" id="{0B48FFF4-F59C-2D23-09D4-9A8DE11BD4F1}"/>
              </a:ext>
            </a:extLst>
          </p:cNvPr>
          <p:cNvCxnSpPr>
            <a:cxnSpLocks/>
          </p:cNvCxnSpPr>
          <p:nvPr/>
        </p:nvCxnSpPr>
        <p:spPr>
          <a:xfrm flipV="1">
            <a:off x="331969" y="1293825"/>
            <a:ext cx="0" cy="233606"/>
          </a:xfrm>
          <a:prstGeom prst="line">
            <a:avLst/>
          </a:prstGeom>
        </p:spPr>
        <p:style>
          <a:lnRef idx="1">
            <a:schemeClr val="dk1"/>
          </a:lnRef>
          <a:fillRef idx="0">
            <a:schemeClr val="dk1"/>
          </a:fillRef>
          <a:effectRef idx="0">
            <a:schemeClr val="dk1"/>
          </a:effectRef>
          <a:fontRef idx="minor">
            <a:schemeClr val="tx1"/>
          </a:fontRef>
        </p:style>
      </p:cxnSp>
      <p:cxnSp>
        <p:nvCxnSpPr>
          <p:cNvPr id="19" name="Conector reto 18">
            <a:extLst>
              <a:ext uri="{FF2B5EF4-FFF2-40B4-BE49-F238E27FC236}">
                <a16:creationId xmlns:a16="http://schemas.microsoft.com/office/drawing/2014/main" id="{64860142-5648-C34F-E5F9-2B12BD0B5B5E}"/>
              </a:ext>
            </a:extLst>
          </p:cNvPr>
          <p:cNvCxnSpPr>
            <a:cxnSpLocks/>
          </p:cNvCxnSpPr>
          <p:nvPr/>
        </p:nvCxnSpPr>
        <p:spPr>
          <a:xfrm flipV="1">
            <a:off x="363719" y="1293825"/>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32" name="Conector reto 31">
            <a:extLst>
              <a:ext uri="{FF2B5EF4-FFF2-40B4-BE49-F238E27FC236}">
                <a16:creationId xmlns:a16="http://schemas.microsoft.com/office/drawing/2014/main" id="{94F7982B-942F-967D-D123-608560B9C1D7}"/>
              </a:ext>
            </a:extLst>
          </p:cNvPr>
          <p:cNvCxnSpPr>
            <a:cxnSpLocks/>
          </p:cNvCxnSpPr>
          <p:nvPr/>
        </p:nvCxnSpPr>
        <p:spPr>
          <a:xfrm flipV="1">
            <a:off x="491513" y="1291444"/>
            <a:ext cx="0" cy="183600"/>
          </a:xfrm>
          <a:prstGeom prst="line">
            <a:avLst/>
          </a:prstGeom>
        </p:spPr>
        <p:style>
          <a:lnRef idx="1">
            <a:schemeClr val="dk1"/>
          </a:lnRef>
          <a:fillRef idx="0">
            <a:schemeClr val="dk1"/>
          </a:fillRef>
          <a:effectRef idx="0">
            <a:schemeClr val="dk1"/>
          </a:effectRef>
          <a:fontRef idx="minor">
            <a:schemeClr val="tx1"/>
          </a:fontRef>
        </p:style>
      </p:cxnSp>
      <p:cxnSp>
        <p:nvCxnSpPr>
          <p:cNvPr id="45" name="Conector reto 44">
            <a:extLst>
              <a:ext uri="{FF2B5EF4-FFF2-40B4-BE49-F238E27FC236}">
                <a16:creationId xmlns:a16="http://schemas.microsoft.com/office/drawing/2014/main" id="{14B254BB-9BEA-4D6D-D57F-2C8A50BBB327}"/>
              </a:ext>
            </a:extLst>
          </p:cNvPr>
          <p:cNvCxnSpPr>
            <a:cxnSpLocks/>
          </p:cNvCxnSpPr>
          <p:nvPr/>
        </p:nvCxnSpPr>
        <p:spPr>
          <a:xfrm flipV="1">
            <a:off x="824885" y="1293827"/>
            <a:ext cx="0" cy="113910"/>
          </a:xfrm>
          <a:prstGeom prst="line">
            <a:avLst/>
          </a:prstGeom>
        </p:spPr>
        <p:style>
          <a:lnRef idx="1">
            <a:schemeClr val="dk1"/>
          </a:lnRef>
          <a:fillRef idx="0">
            <a:schemeClr val="dk1"/>
          </a:fillRef>
          <a:effectRef idx="0">
            <a:schemeClr val="dk1"/>
          </a:effectRef>
          <a:fontRef idx="minor">
            <a:schemeClr val="tx1"/>
          </a:fontRef>
        </p:style>
      </p:cxnSp>
      <p:sp>
        <p:nvSpPr>
          <p:cNvPr id="47" name="CaixaDeTexto 46">
            <a:extLst>
              <a:ext uri="{FF2B5EF4-FFF2-40B4-BE49-F238E27FC236}">
                <a16:creationId xmlns:a16="http://schemas.microsoft.com/office/drawing/2014/main" id="{C2DF808D-EB15-02BD-2277-B7ACA7D4C6A6}"/>
              </a:ext>
            </a:extLst>
          </p:cNvPr>
          <p:cNvSpPr txBox="1"/>
          <p:nvPr/>
        </p:nvSpPr>
        <p:spPr>
          <a:xfrm>
            <a:off x="282888" y="1495664"/>
            <a:ext cx="45719" cy="215444"/>
          </a:xfrm>
          <a:prstGeom prst="rect">
            <a:avLst/>
          </a:prstGeom>
          <a:noFill/>
        </p:spPr>
        <p:txBody>
          <a:bodyPr wrap="square">
            <a:spAutoFit/>
          </a:bodyPr>
          <a:lstStyle/>
          <a:p>
            <a:r>
              <a:rPr lang="en-US" sz="800" dirty="0">
                <a:solidFill>
                  <a:srgbClr val="1A1A1A"/>
                </a:solidFill>
                <a:latin typeface="Montserrat" pitchFamily="2" charset="0"/>
              </a:rPr>
              <a:t>0</a:t>
            </a:r>
            <a:endParaRPr lang="pt-BR" sz="800" dirty="0"/>
          </a:p>
        </p:txBody>
      </p:sp>
      <p:sp>
        <p:nvSpPr>
          <p:cNvPr id="48" name="CaixaDeTexto 47">
            <a:extLst>
              <a:ext uri="{FF2B5EF4-FFF2-40B4-BE49-F238E27FC236}">
                <a16:creationId xmlns:a16="http://schemas.microsoft.com/office/drawing/2014/main" id="{EF8051B0-6A6D-F295-77FD-71D0158F12B2}"/>
              </a:ext>
            </a:extLst>
          </p:cNvPr>
          <p:cNvSpPr txBox="1"/>
          <p:nvPr/>
        </p:nvSpPr>
        <p:spPr>
          <a:xfrm>
            <a:off x="616262" y="1494011"/>
            <a:ext cx="45719" cy="215444"/>
          </a:xfrm>
          <a:prstGeom prst="rect">
            <a:avLst/>
          </a:prstGeom>
          <a:noFill/>
        </p:spPr>
        <p:txBody>
          <a:bodyPr wrap="square">
            <a:spAutoFit/>
          </a:bodyPr>
          <a:lstStyle/>
          <a:p>
            <a:r>
              <a:rPr lang="en-US" sz="800" dirty="0"/>
              <a:t>1</a:t>
            </a:r>
            <a:endParaRPr lang="pt-BR" sz="800" dirty="0"/>
          </a:p>
        </p:txBody>
      </p:sp>
      <p:sp>
        <p:nvSpPr>
          <p:cNvPr id="49" name="CaixaDeTexto 48">
            <a:extLst>
              <a:ext uri="{FF2B5EF4-FFF2-40B4-BE49-F238E27FC236}">
                <a16:creationId xmlns:a16="http://schemas.microsoft.com/office/drawing/2014/main" id="{FAB49E9A-96F1-6EB5-1502-7507B7FCFF24}"/>
              </a:ext>
            </a:extLst>
          </p:cNvPr>
          <p:cNvSpPr txBox="1"/>
          <p:nvPr/>
        </p:nvSpPr>
        <p:spPr>
          <a:xfrm>
            <a:off x="948339" y="1495664"/>
            <a:ext cx="45719" cy="215444"/>
          </a:xfrm>
          <a:prstGeom prst="rect">
            <a:avLst/>
          </a:prstGeom>
          <a:noFill/>
        </p:spPr>
        <p:txBody>
          <a:bodyPr wrap="square">
            <a:spAutoFit/>
          </a:bodyPr>
          <a:lstStyle/>
          <a:p>
            <a:r>
              <a:rPr lang="en-US" sz="800" dirty="0"/>
              <a:t>2</a:t>
            </a:r>
            <a:endParaRPr lang="pt-BR" sz="800" dirty="0"/>
          </a:p>
        </p:txBody>
      </p:sp>
      <p:cxnSp>
        <p:nvCxnSpPr>
          <p:cNvPr id="1040" name="Conector reto 1039">
            <a:extLst>
              <a:ext uri="{FF2B5EF4-FFF2-40B4-BE49-F238E27FC236}">
                <a16:creationId xmlns:a16="http://schemas.microsoft.com/office/drawing/2014/main" id="{FFDCF5B5-8D76-B6CA-AEFD-AE41792AB891}"/>
              </a:ext>
            </a:extLst>
          </p:cNvPr>
          <p:cNvCxnSpPr>
            <a:cxnSpLocks/>
          </p:cNvCxnSpPr>
          <p:nvPr/>
        </p:nvCxnSpPr>
        <p:spPr>
          <a:xfrm flipV="1">
            <a:off x="397058" y="1293825"/>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41" name="Conector reto 1040">
            <a:extLst>
              <a:ext uri="{FF2B5EF4-FFF2-40B4-BE49-F238E27FC236}">
                <a16:creationId xmlns:a16="http://schemas.microsoft.com/office/drawing/2014/main" id="{03F78CD2-288B-EC1C-A1B1-241F601D2588}"/>
              </a:ext>
            </a:extLst>
          </p:cNvPr>
          <p:cNvCxnSpPr>
            <a:cxnSpLocks/>
          </p:cNvCxnSpPr>
          <p:nvPr/>
        </p:nvCxnSpPr>
        <p:spPr>
          <a:xfrm flipV="1">
            <a:off x="430393" y="1294456"/>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42" name="Conector reto 1041">
            <a:extLst>
              <a:ext uri="{FF2B5EF4-FFF2-40B4-BE49-F238E27FC236}">
                <a16:creationId xmlns:a16="http://schemas.microsoft.com/office/drawing/2014/main" id="{E881912A-18C4-5521-231E-8CD580FF71E6}"/>
              </a:ext>
            </a:extLst>
          </p:cNvPr>
          <p:cNvCxnSpPr>
            <a:cxnSpLocks/>
          </p:cNvCxnSpPr>
          <p:nvPr/>
        </p:nvCxnSpPr>
        <p:spPr>
          <a:xfrm flipV="1">
            <a:off x="460555" y="1293629"/>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43" name="Conector reto 1042">
            <a:extLst>
              <a:ext uri="{FF2B5EF4-FFF2-40B4-BE49-F238E27FC236}">
                <a16:creationId xmlns:a16="http://schemas.microsoft.com/office/drawing/2014/main" id="{7E4B3F62-2688-9B7E-0DD1-FE7C217BDBF5}"/>
              </a:ext>
            </a:extLst>
          </p:cNvPr>
          <p:cNvCxnSpPr>
            <a:cxnSpLocks/>
          </p:cNvCxnSpPr>
          <p:nvPr/>
        </p:nvCxnSpPr>
        <p:spPr>
          <a:xfrm flipV="1">
            <a:off x="525458" y="1294019"/>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44" name="Conector reto 1043">
            <a:extLst>
              <a:ext uri="{FF2B5EF4-FFF2-40B4-BE49-F238E27FC236}">
                <a16:creationId xmlns:a16="http://schemas.microsoft.com/office/drawing/2014/main" id="{62EECAB5-0F21-4375-8A61-2EFCA7D69DE0}"/>
              </a:ext>
            </a:extLst>
          </p:cNvPr>
          <p:cNvCxnSpPr>
            <a:cxnSpLocks/>
          </p:cNvCxnSpPr>
          <p:nvPr/>
        </p:nvCxnSpPr>
        <p:spPr>
          <a:xfrm flipV="1">
            <a:off x="558797" y="1294019"/>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45" name="Conector reto 1044">
            <a:extLst>
              <a:ext uri="{FF2B5EF4-FFF2-40B4-BE49-F238E27FC236}">
                <a16:creationId xmlns:a16="http://schemas.microsoft.com/office/drawing/2014/main" id="{D850268F-8F83-F6DB-BA81-EBF1190692F3}"/>
              </a:ext>
            </a:extLst>
          </p:cNvPr>
          <p:cNvCxnSpPr>
            <a:cxnSpLocks/>
          </p:cNvCxnSpPr>
          <p:nvPr/>
        </p:nvCxnSpPr>
        <p:spPr>
          <a:xfrm flipV="1">
            <a:off x="592132" y="1294650"/>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46" name="Conector reto 1045">
            <a:extLst>
              <a:ext uri="{FF2B5EF4-FFF2-40B4-BE49-F238E27FC236}">
                <a16:creationId xmlns:a16="http://schemas.microsoft.com/office/drawing/2014/main" id="{0C4452A9-7BC2-9C95-2723-5237E9E6A6E0}"/>
              </a:ext>
            </a:extLst>
          </p:cNvPr>
          <p:cNvCxnSpPr>
            <a:cxnSpLocks/>
          </p:cNvCxnSpPr>
          <p:nvPr/>
        </p:nvCxnSpPr>
        <p:spPr>
          <a:xfrm flipV="1">
            <a:off x="622294" y="1293823"/>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47" name="Conector reto 1046">
            <a:extLst>
              <a:ext uri="{FF2B5EF4-FFF2-40B4-BE49-F238E27FC236}">
                <a16:creationId xmlns:a16="http://schemas.microsoft.com/office/drawing/2014/main" id="{59BE6355-32C9-493A-C070-462F31D1062B}"/>
              </a:ext>
            </a:extLst>
          </p:cNvPr>
          <p:cNvCxnSpPr>
            <a:cxnSpLocks/>
          </p:cNvCxnSpPr>
          <p:nvPr/>
        </p:nvCxnSpPr>
        <p:spPr>
          <a:xfrm flipV="1">
            <a:off x="697097" y="1296206"/>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48" name="Conector reto 1047">
            <a:extLst>
              <a:ext uri="{FF2B5EF4-FFF2-40B4-BE49-F238E27FC236}">
                <a16:creationId xmlns:a16="http://schemas.microsoft.com/office/drawing/2014/main" id="{C3E2C7F8-3DBF-7891-09CD-C420EBE8549C}"/>
              </a:ext>
            </a:extLst>
          </p:cNvPr>
          <p:cNvCxnSpPr>
            <a:cxnSpLocks/>
          </p:cNvCxnSpPr>
          <p:nvPr/>
        </p:nvCxnSpPr>
        <p:spPr>
          <a:xfrm flipV="1">
            <a:off x="824891" y="1293825"/>
            <a:ext cx="0" cy="183600"/>
          </a:xfrm>
          <a:prstGeom prst="line">
            <a:avLst/>
          </a:prstGeom>
        </p:spPr>
        <p:style>
          <a:lnRef idx="1">
            <a:schemeClr val="dk1"/>
          </a:lnRef>
          <a:fillRef idx="0">
            <a:schemeClr val="dk1"/>
          </a:fillRef>
          <a:effectRef idx="0">
            <a:schemeClr val="dk1"/>
          </a:effectRef>
          <a:fontRef idx="minor">
            <a:schemeClr val="tx1"/>
          </a:fontRef>
        </p:style>
      </p:cxnSp>
      <p:cxnSp>
        <p:nvCxnSpPr>
          <p:cNvPr id="1049" name="Conector reto 1048">
            <a:extLst>
              <a:ext uri="{FF2B5EF4-FFF2-40B4-BE49-F238E27FC236}">
                <a16:creationId xmlns:a16="http://schemas.microsoft.com/office/drawing/2014/main" id="{F0EB25C1-85DC-92EF-ABF4-1EACBB9F79CB}"/>
              </a:ext>
            </a:extLst>
          </p:cNvPr>
          <p:cNvCxnSpPr>
            <a:cxnSpLocks/>
          </p:cNvCxnSpPr>
          <p:nvPr/>
        </p:nvCxnSpPr>
        <p:spPr>
          <a:xfrm flipV="1">
            <a:off x="730436" y="1296206"/>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50" name="Conector reto 1049">
            <a:extLst>
              <a:ext uri="{FF2B5EF4-FFF2-40B4-BE49-F238E27FC236}">
                <a16:creationId xmlns:a16="http://schemas.microsoft.com/office/drawing/2014/main" id="{D9E099B8-6672-C1A1-E190-87F28F6E59A9}"/>
              </a:ext>
            </a:extLst>
          </p:cNvPr>
          <p:cNvCxnSpPr>
            <a:cxnSpLocks/>
          </p:cNvCxnSpPr>
          <p:nvPr/>
        </p:nvCxnSpPr>
        <p:spPr>
          <a:xfrm flipV="1">
            <a:off x="763771" y="1296837"/>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51" name="Conector reto 1050">
            <a:extLst>
              <a:ext uri="{FF2B5EF4-FFF2-40B4-BE49-F238E27FC236}">
                <a16:creationId xmlns:a16="http://schemas.microsoft.com/office/drawing/2014/main" id="{83256248-BDD5-67A6-B7A5-F1793B56C2C8}"/>
              </a:ext>
            </a:extLst>
          </p:cNvPr>
          <p:cNvCxnSpPr>
            <a:cxnSpLocks/>
          </p:cNvCxnSpPr>
          <p:nvPr/>
        </p:nvCxnSpPr>
        <p:spPr>
          <a:xfrm flipV="1">
            <a:off x="793933" y="1296010"/>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52" name="Conector reto 1051">
            <a:extLst>
              <a:ext uri="{FF2B5EF4-FFF2-40B4-BE49-F238E27FC236}">
                <a16:creationId xmlns:a16="http://schemas.microsoft.com/office/drawing/2014/main" id="{3B3DB0FE-9773-DC25-918D-2F76E38784E4}"/>
              </a:ext>
            </a:extLst>
          </p:cNvPr>
          <p:cNvCxnSpPr>
            <a:cxnSpLocks/>
          </p:cNvCxnSpPr>
          <p:nvPr/>
        </p:nvCxnSpPr>
        <p:spPr>
          <a:xfrm flipV="1">
            <a:off x="858836" y="1296400"/>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53" name="Conector reto 1052">
            <a:extLst>
              <a:ext uri="{FF2B5EF4-FFF2-40B4-BE49-F238E27FC236}">
                <a16:creationId xmlns:a16="http://schemas.microsoft.com/office/drawing/2014/main" id="{76D2521D-7812-AB28-F8A4-AC344769E850}"/>
              </a:ext>
            </a:extLst>
          </p:cNvPr>
          <p:cNvCxnSpPr>
            <a:cxnSpLocks/>
          </p:cNvCxnSpPr>
          <p:nvPr/>
        </p:nvCxnSpPr>
        <p:spPr>
          <a:xfrm flipV="1">
            <a:off x="892175" y="1296400"/>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54" name="Conector reto 1053">
            <a:extLst>
              <a:ext uri="{FF2B5EF4-FFF2-40B4-BE49-F238E27FC236}">
                <a16:creationId xmlns:a16="http://schemas.microsoft.com/office/drawing/2014/main" id="{34793FB4-0164-7665-4C57-F18F665B9135}"/>
              </a:ext>
            </a:extLst>
          </p:cNvPr>
          <p:cNvCxnSpPr>
            <a:cxnSpLocks/>
          </p:cNvCxnSpPr>
          <p:nvPr/>
        </p:nvCxnSpPr>
        <p:spPr>
          <a:xfrm flipV="1">
            <a:off x="925510" y="1297031"/>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55" name="Conector reto 1054">
            <a:extLst>
              <a:ext uri="{FF2B5EF4-FFF2-40B4-BE49-F238E27FC236}">
                <a16:creationId xmlns:a16="http://schemas.microsoft.com/office/drawing/2014/main" id="{109563FE-E37A-E803-EE16-51E95AC36DF7}"/>
              </a:ext>
            </a:extLst>
          </p:cNvPr>
          <p:cNvCxnSpPr>
            <a:cxnSpLocks/>
          </p:cNvCxnSpPr>
          <p:nvPr/>
        </p:nvCxnSpPr>
        <p:spPr>
          <a:xfrm flipV="1">
            <a:off x="955672" y="1296204"/>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56" name="Conector reto 1055">
            <a:extLst>
              <a:ext uri="{FF2B5EF4-FFF2-40B4-BE49-F238E27FC236}">
                <a16:creationId xmlns:a16="http://schemas.microsoft.com/office/drawing/2014/main" id="{5183F306-6991-0A80-50B1-E422ABB67C53}"/>
              </a:ext>
            </a:extLst>
          </p:cNvPr>
          <p:cNvCxnSpPr>
            <a:cxnSpLocks/>
          </p:cNvCxnSpPr>
          <p:nvPr/>
        </p:nvCxnSpPr>
        <p:spPr>
          <a:xfrm flipV="1">
            <a:off x="655819" y="1293825"/>
            <a:ext cx="0" cy="233606"/>
          </a:xfrm>
          <a:prstGeom prst="line">
            <a:avLst/>
          </a:prstGeom>
        </p:spPr>
        <p:style>
          <a:lnRef idx="1">
            <a:schemeClr val="dk1"/>
          </a:lnRef>
          <a:fillRef idx="0">
            <a:schemeClr val="dk1"/>
          </a:fillRef>
          <a:effectRef idx="0">
            <a:schemeClr val="dk1"/>
          </a:effectRef>
          <a:fontRef idx="minor">
            <a:schemeClr val="tx1"/>
          </a:fontRef>
        </p:style>
      </p:cxnSp>
      <p:cxnSp>
        <p:nvCxnSpPr>
          <p:cNvPr id="1057" name="Conector reto 1056">
            <a:extLst>
              <a:ext uri="{FF2B5EF4-FFF2-40B4-BE49-F238E27FC236}">
                <a16:creationId xmlns:a16="http://schemas.microsoft.com/office/drawing/2014/main" id="{B78B4024-A74D-B83A-9A6D-CC570E3703E6}"/>
              </a:ext>
            </a:extLst>
          </p:cNvPr>
          <p:cNvCxnSpPr>
            <a:cxnSpLocks/>
          </p:cNvCxnSpPr>
          <p:nvPr/>
        </p:nvCxnSpPr>
        <p:spPr>
          <a:xfrm flipV="1">
            <a:off x="989194" y="1293899"/>
            <a:ext cx="0" cy="233606"/>
          </a:xfrm>
          <a:prstGeom prst="line">
            <a:avLst/>
          </a:prstGeom>
        </p:spPr>
        <p:style>
          <a:lnRef idx="1">
            <a:schemeClr val="dk1"/>
          </a:lnRef>
          <a:fillRef idx="0">
            <a:schemeClr val="dk1"/>
          </a:fillRef>
          <a:effectRef idx="0">
            <a:schemeClr val="dk1"/>
          </a:effectRef>
          <a:fontRef idx="minor">
            <a:schemeClr val="tx1"/>
          </a:fontRef>
        </p:style>
      </p:cxnSp>
      <p:cxnSp>
        <p:nvCxnSpPr>
          <p:cNvPr id="1058" name="Conector reto 1057">
            <a:extLst>
              <a:ext uri="{FF2B5EF4-FFF2-40B4-BE49-F238E27FC236}">
                <a16:creationId xmlns:a16="http://schemas.microsoft.com/office/drawing/2014/main" id="{1B7B7DF8-4A9A-6CEC-8CAF-AAF05936F15A}"/>
              </a:ext>
            </a:extLst>
          </p:cNvPr>
          <p:cNvCxnSpPr>
            <a:cxnSpLocks/>
          </p:cNvCxnSpPr>
          <p:nvPr/>
        </p:nvCxnSpPr>
        <p:spPr>
          <a:xfrm flipV="1">
            <a:off x="331969" y="2852820"/>
            <a:ext cx="691544" cy="2381"/>
          </a:xfrm>
          <a:prstGeom prst="line">
            <a:avLst/>
          </a:prstGeom>
        </p:spPr>
        <p:style>
          <a:lnRef idx="1">
            <a:schemeClr val="dk1"/>
          </a:lnRef>
          <a:fillRef idx="0">
            <a:schemeClr val="dk1"/>
          </a:fillRef>
          <a:effectRef idx="0">
            <a:schemeClr val="dk1"/>
          </a:effectRef>
          <a:fontRef idx="minor">
            <a:schemeClr val="tx1"/>
          </a:fontRef>
        </p:style>
      </p:cxnSp>
      <p:cxnSp>
        <p:nvCxnSpPr>
          <p:cNvPr id="1059" name="Conector reto 1058">
            <a:extLst>
              <a:ext uri="{FF2B5EF4-FFF2-40B4-BE49-F238E27FC236}">
                <a16:creationId xmlns:a16="http://schemas.microsoft.com/office/drawing/2014/main" id="{16AC2CC8-1CD1-BD8D-0414-79D6B277B249}"/>
              </a:ext>
            </a:extLst>
          </p:cNvPr>
          <p:cNvCxnSpPr>
            <a:cxnSpLocks/>
          </p:cNvCxnSpPr>
          <p:nvPr/>
        </p:nvCxnSpPr>
        <p:spPr>
          <a:xfrm flipV="1">
            <a:off x="331969" y="2855201"/>
            <a:ext cx="0" cy="233606"/>
          </a:xfrm>
          <a:prstGeom prst="line">
            <a:avLst/>
          </a:prstGeom>
        </p:spPr>
        <p:style>
          <a:lnRef idx="1">
            <a:schemeClr val="dk1"/>
          </a:lnRef>
          <a:fillRef idx="0">
            <a:schemeClr val="dk1"/>
          </a:fillRef>
          <a:effectRef idx="0">
            <a:schemeClr val="dk1"/>
          </a:effectRef>
          <a:fontRef idx="minor">
            <a:schemeClr val="tx1"/>
          </a:fontRef>
        </p:style>
      </p:cxnSp>
      <p:cxnSp>
        <p:nvCxnSpPr>
          <p:cNvPr id="1060" name="Conector reto 1059">
            <a:extLst>
              <a:ext uri="{FF2B5EF4-FFF2-40B4-BE49-F238E27FC236}">
                <a16:creationId xmlns:a16="http://schemas.microsoft.com/office/drawing/2014/main" id="{34187729-5C4D-9D20-A2C2-98283620C0F3}"/>
              </a:ext>
            </a:extLst>
          </p:cNvPr>
          <p:cNvCxnSpPr>
            <a:cxnSpLocks/>
          </p:cNvCxnSpPr>
          <p:nvPr/>
        </p:nvCxnSpPr>
        <p:spPr>
          <a:xfrm flipV="1">
            <a:off x="363719" y="2855201"/>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62" name="Conector reto 1061">
            <a:extLst>
              <a:ext uri="{FF2B5EF4-FFF2-40B4-BE49-F238E27FC236}">
                <a16:creationId xmlns:a16="http://schemas.microsoft.com/office/drawing/2014/main" id="{0BB16498-BA3A-575C-140C-29FF8E62ED59}"/>
              </a:ext>
            </a:extLst>
          </p:cNvPr>
          <p:cNvCxnSpPr>
            <a:cxnSpLocks/>
          </p:cNvCxnSpPr>
          <p:nvPr/>
        </p:nvCxnSpPr>
        <p:spPr>
          <a:xfrm flipV="1">
            <a:off x="824885" y="2855203"/>
            <a:ext cx="0" cy="113910"/>
          </a:xfrm>
          <a:prstGeom prst="line">
            <a:avLst/>
          </a:prstGeom>
        </p:spPr>
        <p:style>
          <a:lnRef idx="1">
            <a:schemeClr val="dk1"/>
          </a:lnRef>
          <a:fillRef idx="0">
            <a:schemeClr val="dk1"/>
          </a:fillRef>
          <a:effectRef idx="0">
            <a:schemeClr val="dk1"/>
          </a:effectRef>
          <a:fontRef idx="minor">
            <a:schemeClr val="tx1"/>
          </a:fontRef>
        </p:style>
      </p:cxnSp>
      <p:sp>
        <p:nvSpPr>
          <p:cNvPr id="1063" name="CaixaDeTexto 1062">
            <a:extLst>
              <a:ext uri="{FF2B5EF4-FFF2-40B4-BE49-F238E27FC236}">
                <a16:creationId xmlns:a16="http://schemas.microsoft.com/office/drawing/2014/main" id="{D4C09BDF-49B3-215A-D315-8A156E6EDF0B}"/>
              </a:ext>
            </a:extLst>
          </p:cNvPr>
          <p:cNvSpPr txBox="1"/>
          <p:nvPr/>
        </p:nvSpPr>
        <p:spPr>
          <a:xfrm>
            <a:off x="282888" y="3057040"/>
            <a:ext cx="45719" cy="215444"/>
          </a:xfrm>
          <a:prstGeom prst="rect">
            <a:avLst/>
          </a:prstGeom>
          <a:noFill/>
        </p:spPr>
        <p:txBody>
          <a:bodyPr wrap="square">
            <a:spAutoFit/>
          </a:bodyPr>
          <a:lstStyle/>
          <a:p>
            <a:r>
              <a:rPr lang="en-US" sz="800" dirty="0">
                <a:solidFill>
                  <a:srgbClr val="1A1A1A"/>
                </a:solidFill>
                <a:latin typeface="Montserrat" pitchFamily="2" charset="0"/>
              </a:rPr>
              <a:t>0</a:t>
            </a:r>
            <a:endParaRPr lang="pt-BR" sz="800" dirty="0"/>
          </a:p>
        </p:txBody>
      </p:sp>
      <p:sp>
        <p:nvSpPr>
          <p:cNvPr id="1064" name="CaixaDeTexto 1063">
            <a:extLst>
              <a:ext uri="{FF2B5EF4-FFF2-40B4-BE49-F238E27FC236}">
                <a16:creationId xmlns:a16="http://schemas.microsoft.com/office/drawing/2014/main" id="{FF725ED0-7228-8DE9-8BBE-088278EE692C}"/>
              </a:ext>
            </a:extLst>
          </p:cNvPr>
          <p:cNvSpPr txBox="1"/>
          <p:nvPr/>
        </p:nvSpPr>
        <p:spPr>
          <a:xfrm>
            <a:off x="444671" y="3055387"/>
            <a:ext cx="45719" cy="215444"/>
          </a:xfrm>
          <a:prstGeom prst="rect">
            <a:avLst/>
          </a:prstGeom>
          <a:noFill/>
        </p:spPr>
        <p:txBody>
          <a:bodyPr wrap="square">
            <a:spAutoFit/>
          </a:bodyPr>
          <a:lstStyle/>
          <a:p>
            <a:r>
              <a:rPr lang="en-US" sz="800" dirty="0"/>
              <a:t>1</a:t>
            </a:r>
            <a:endParaRPr lang="pt-BR" sz="800" dirty="0"/>
          </a:p>
        </p:txBody>
      </p:sp>
      <p:sp>
        <p:nvSpPr>
          <p:cNvPr id="1065" name="CaixaDeTexto 1064">
            <a:extLst>
              <a:ext uri="{FF2B5EF4-FFF2-40B4-BE49-F238E27FC236}">
                <a16:creationId xmlns:a16="http://schemas.microsoft.com/office/drawing/2014/main" id="{6A950A16-1EFA-3E42-602C-99BAD70D3397}"/>
              </a:ext>
            </a:extLst>
          </p:cNvPr>
          <p:cNvSpPr txBox="1"/>
          <p:nvPr/>
        </p:nvSpPr>
        <p:spPr>
          <a:xfrm>
            <a:off x="948339" y="3057040"/>
            <a:ext cx="45719" cy="215444"/>
          </a:xfrm>
          <a:prstGeom prst="rect">
            <a:avLst/>
          </a:prstGeom>
          <a:noFill/>
        </p:spPr>
        <p:txBody>
          <a:bodyPr wrap="square">
            <a:spAutoFit/>
          </a:bodyPr>
          <a:lstStyle/>
          <a:p>
            <a:r>
              <a:rPr lang="en-US" sz="800" dirty="0"/>
              <a:t>2</a:t>
            </a:r>
            <a:endParaRPr lang="pt-BR" sz="800" dirty="0"/>
          </a:p>
        </p:txBody>
      </p:sp>
      <p:cxnSp>
        <p:nvCxnSpPr>
          <p:cNvPr id="1066" name="Conector reto 1065">
            <a:extLst>
              <a:ext uri="{FF2B5EF4-FFF2-40B4-BE49-F238E27FC236}">
                <a16:creationId xmlns:a16="http://schemas.microsoft.com/office/drawing/2014/main" id="{0E98B217-6C03-59C4-B7AC-F4A6E48EA1F1}"/>
              </a:ext>
            </a:extLst>
          </p:cNvPr>
          <p:cNvCxnSpPr>
            <a:cxnSpLocks/>
          </p:cNvCxnSpPr>
          <p:nvPr/>
        </p:nvCxnSpPr>
        <p:spPr>
          <a:xfrm flipV="1">
            <a:off x="397058" y="2855201"/>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67" name="Conector reto 1066">
            <a:extLst>
              <a:ext uri="{FF2B5EF4-FFF2-40B4-BE49-F238E27FC236}">
                <a16:creationId xmlns:a16="http://schemas.microsoft.com/office/drawing/2014/main" id="{8F85C491-A528-87E3-2257-ADC86CEB07D6}"/>
              </a:ext>
            </a:extLst>
          </p:cNvPr>
          <p:cNvCxnSpPr>
            <a:cxnSpLocks/>
          </p:cNvCxnSpPr>
          <p:nvPr/>
        </p:nvCxnSpPr>
        <p:spPr>
          <a:xfrm flipV="1">
            <a:off x="430393" y="2855832"/>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68" name="Conector reto 1067">
            <a:extLst>
              <a:ext uri="{FF2B5EF4-FFF2-40B4-BE49-F238E27FC236}">
                <a16:creationId xmlns:a16="http://schemas.microsoft.com/office/drawing/2014/main" id="{D9C6DDDE-749D-BBFD-2C13-5CC04924D132}"/>
              </a:ext>
            </a:extLst>
          </p:cNvPr>
          <p:cNvCxnSpPr>
            <a:cxnSpLocks/>
          </p:cNvCxnSpPr>
          <p:nvPr/>
        </p:nvCxnSpPr>
        <p:spPr>
          <a:xfrm flipV="1">
            <a:off x="460555" y="2855005"/>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69" name="Conector reto 1068">
            <a:extLst>
              <a:ext uri="{FF2B5EF4-FFF2-40B4-BE49-F238E27FC236}">
                <a16:creationId xmlns:a16="http://schemas.microsoft.com/office/drawing/2014/main" id="{4206818D-F6F6-99FB-587F-9644EDF4C54C}"/>
              </a:ext>
            </a:extLst>
          </p:cNvPr>
          <p:cNvCxnSpPr>
            <a:cxnSpLocks/>
          </p:cNvCxnSpPr>
          <p:nvPr/>
        </p:nvCxnSpPr>
        <p:spPr>
          <a:xfrm flipV="1">
            <a:off x="525458" y="2855395"/>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70" name="Conector reto 1069">
            <a:extLst>
              <a:ext uri="{FF2B5EF4-FFF2-40B4-BE49-F238E27FC236}">
                <a16:creationId xmlns:a16="http://schemas.microsoft.com/office/drawing/2014/main" id="{B8BEE308-6A0D-FF16-07A6-74121982B69D}"/>
              </a:ext>
            </a:extLst>
          </p:cNvPr>
          <p:cNvCxnSpPr>
            <a:cxnSpLocks/>
          </p:cNvCxnSpPr>
          <p:nvPr/>
        </p:nvCxnSpPr>
        <p:spPr>
          <a:xfrm flipV="1">
            <a:off x="558797" y="2855395"/>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71" name="Conector reto 1070">
            <a:extLst>
              <a:ext uri="{FF2B5EF4-FFF2-40B4-BE49-F238E27FC236}">
                <a16:creationId xmlns:a16="http://schemas.microsoft.com/office/drawing/2014/main" id="{76AB3EF1-7087-AE2E-2F41-D95326750CAB}"/>
              </a:ext>
            </a:extLst>
          </p:cNvPr>
          <p:cNvCxnSpPr>
            <a:cxnSpLocks/>
          </p:cNvCxnSpPr>
          <p:nvPr/>
        </p:nvCxnSpPr>
        <p:spPr>
          <a:xfrm flipV="1">
            <a:off x="592132" y="2856026"/>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72" name="Conector reto 1071">
            <a:extLst>
              <a:ext uri="{FF2B5EF4-FFF2-40B4-BE49-F238E27FC236}">
                <a16:creationId xmlns:a16="http://schemas.microsoft.com/office/drawing/2014/main" id="{BBEF9388-3BB3-B3A8-AB52-4C4143DEA84F}"/>
              </a:ext>
            </a:extLst>
          </p:cNvPr>
          <p:cNvCxnSpPr>
            <a:cxnSpLocks/>
          </p:cNvCxnSpPr>
          <p:nvPr/>
        </p:nvCxnSpPr>
        <p:spPr>
          <a:xfrm flipV="1">
            <a:off x="622294" y="2855199"/>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73" name="Conector reto 1072">
            <a:extLst>
              <a:ext uri="{FF2B5EF4-FFF2-40B4-BE49-F238E27FC236}">
                <a16:creationId xmlns:a16="http://schemas.microsoft.com/office/drawing/2014/main" id="{DF91CF6D-5322-1638-A615-526FCDDCC536}"/>
              </a:ext>
            </a:extLst>
          </p:cNvPr>
          <p:cNvCxnSpPr>
            <a:cxnSpLocks/>
          </p:cNvCxnSpPr>
          <p:nvPr/>
        </p:nvCxnSpPr>
        <p:spPr>
          <a:xfrm flipV="1">
            <a:off x="697097" y="2857582"/>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75" name="Conector reto 1074">
            <a:extLst>
              <a:ext uri="{FF2B5EF4-FFF2-40B4-BE49-F238E27FC236}">
                <a16:creationId xmlns:a16="http://schemas.microsoft.com/office/drawing/2014/main" id="{E70B1D7D-1431-DA2D-AFD6-DE82DECB1183}"/>
              </a:ext>
            </a:extLst>
          </p:cNvPr>
          <p:cNvCxnSpPr>
            <a:cxnSpLocks/>
          </p:cNvCxnSpPr>
          <p:nvPr/>
        </p:nvCxnSpPr>
        <p:spPr>
          <a:xfrm flipV="1">
            <a:off x="730436" y="2857582"/>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76" name="Conector reto 1075">
            <a:extLst>
              <a:ext uri="{FF2B5EF4-FFF2-40B4-BE49-F238E27FC236}">
                <a16:creationId xmlns:a16="http://schemas.microsoft.com/office/drawing/2014/main" id="{5F079D7F-15B0-E7D0-8829-9966D47A9297}"/>
              </a:ext>
            </a:extLst>
          </p:cNvPr>
          <p:cNvCxnSpPr>
            <a:cxnSpLocks/>
          </p:cNvCxnSpPr>
          <p:nvPr/>
        </p:nvCxnSpPr>
        <p:spPr>
          <a:xfrm flipV="1">
            <a:off x="763771" y="2858213"/>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77" name="Conector reto 1076">
            <a:extLst>
              <a:ext uri="{FF2B5EF4-FFF2-40B4-BE49-F238E27FC236}">
                <a16:creationId xmlns:a16="http://schemas.microsoft.com/office/drawing/2014/main" id="{DC5473BA-04FC-371B-2E2A-3E37B0E40CF3}"/>
              </a:ext>
            </a:extLst>
          </p:cNvPr>
          <p:cNvCxnSpPr>
            <a:cxnSpLocks/>
          </p:cNvCxnSpPr>
          <p:nvPr/>
        </p:nvCxnSpPr>
        <p:spPr>
          <a:xfrm flipV="1">
            <a:off x="793933" y="2857386"/>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78" name="Conector reto 1077">
            <a:extLst>
              <a:ext uri="{FF2B5EF4-FFF2-40B4-BE49-F238E27FC236}">
                <a16:creationId xmlns:a16="http://schemas.microsoft.com/office/drawing/2014/main" id="{BE81589C-DF71-B579-3609-639CAB5377D2}"/>
              </a:ext>
            </a:extLst>
          </p:cNvPr>
          <p:cNvCxnSpPr>
            <a:cxnSpLocks/>
          </p:cNvCxnSpPr>
          <p:nvPr/>
        </p:nvCxnSpPr>
        <p:spPr>
          <a:xfrm flipV="1">
            <a:off x="858836" y="2857776"/>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79" name="Conector reto 1078">
            <a:extLst>
              <a:ext uri="{FF2B5EF4-FFF2-40B4-BE49-F238E27FC236}">
                <a16:creationId xmlns:a16="http://schemas.microsoft.com/office/drawing/2014/main" id="{67B0CA55-C17E-7E5B-7161-01729F9B64CE}"/>
              </a:ext>
            </a:extLst>
          </p:cNvPr>
          <p:cNvCxnSpPr>
            <a:cxnSpLocks/>
          </p:cNvCxnSpPr>
          <p:nvPr/>
        </p:nvCxnSpPr>
        <p:spPr>
          <a:xfrm flipV="1">
            <a:off x="892175" y="2857776"/>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80" name="Conector reto 1079">
            <a:extLst>
              <a:ext uri="{FF2B5EF4-FFF2-40B4-BE49-F238E27FC236}">
                <a16:creationId xmlns:a16="http://schemas.microsoft.com/office/drawing/2014/main" id="{73126361-FCD1-D404-C277-B23BB18A4BC0}"/>
              </a:ext>
            </a:extLst>
          </p:cNvPr>
          <p:cNvCxnSpPr>
            <a:cxnSpLocks/>
          </p:cNvCxnSpPr>
          <p:nvPr/>
        </p:nvCxnSpPr>
        <p:spPr>
          <a:xfrm flipV="1">
            <a:off x="925510" y="2858407"/>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81" name="Conector reto 1080">
            <a:extLst>
              <a:ext uri="{FF2B5EF4-FFF2-40B4-BE49-F238E27FC236}">
                <a16:creationId xmlns:a16="http://schemas.microsoft.com/office/drawing/2014/main" id="{B7D20F74-3DB9-AC4A-761E-C6D034A65806}"/>
              </a:ext>
            </a:extLst>
          </p:cNvPr>
          <p:cNvCxnSpPr>
            <a:cxnSpLocks/>
          </p:cNvCxnSpPr>
          <p:nvPr/>
        </p:nvCxnSpPr>
        <p:spPr>
          <a:xfrm flipV="1">
            <a:off x="955672" y="2857580"/>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82" name="Conector reto 1081">
            <a:extLst>
              <a:ext uri="{FF2B5EF4-FFF2-40B4-BE49-F238E27FC236}">
                <a16:creationId xmlns:a16="http://schemas.microsoft.com/office/drawing/2014/main" id="{2848542B-D5F1-7C5C-418F-71C04430F7AF}"/>
              </a:ext>
            </a:extLst>
          </p:cNvPr>
          <p:cNvCxnSpPr>
            <a:cxnSpLocks/>
          </p:cNvCxnSpPr>
          <p:nvPr/>
        </p:nvCxnSpPr>
        <p:spPr>
          <a:xfrm flipV="1">
            <a:off x="491513" y="2858407"/>
            <a:ext cx="0" cy="233606"/>
          </a:xfrm>
          <a:prstGeom prst="line">
            <a:avLst/>
          </a:prstGeom>
        </p:spPr>
        <p:style>
          <a:lnRef idx="1">
            <a:schemeClr val="dk1"/>
          </a:lnRef>
          <a:fillRef idx="0">
            <a:schemeClr val="dk1"/>
          </a:fillRef>
          <a:effectRef idx="0">
            <a:schemeClr val="dk1"/>
          </a:effectRef>
          <a:fontRef idx="minor">
            <a:schemeClr val="tx1"/>
          </a:fontRef>
        </p:style>
      </p:cxnSp>
      <p:cxnSp>
        <p:nvCxnSpPr>
          <p:cNvPr id="1083" name="Conector reto 1082">
            <a:extLst>
              <a:ext uri="{FF2B5EF4-FFF2-40B4-BE49-F238E27FC236}">
                <a16:creationId xmlns:a16="http://schemas.microsoft.com/office/drawing/2014/main" id="{346EE189-C768-68E1-50D7-454E9DC9C644}"/>
              </a:ext>
            </a:extLst>
          </p:cNvPr>
          <p:cNvCxnSpPr>
            <a:cxnSpLocks/>
          </p:cNvCxnSpPr>
          <p:nvPr/>
        </p:nvCxnSpPr>
        <p:spPr>
          <a:xfrm flipV="1">
            <a:off x="989194" y="2855275"/>
            <a:ext cx="0" cy="233606"/>
          </a:xfrm>
          <a:prstGeom prst="line">
            <a:avLst/>
          </a:prstGeom>
        </p:spPr>
        <p:style>
          <a:lnRef idx="1">
            <a:schemeClr val="dk1"/>
          </a:lnRef>
          <a:fillRef idx="0">
            <a:schemeClr val="dk1"/>
          </a:fillRef>
          <a:effectRef idx="0">
            <a:schemeClr val="dk1"/>
          </a:effectRef>
          <a:fontRef idx="minor">
            <a:schemeClr val="tx1"/>
          </a:fontRef>
        </p:style>
      </p:cxnSp>
      <p:cxnSp>
        <p:nvCxnSpPr>
          <p:cNvPr id="1084" name="Conector reto 1083">
            <a:extLst>
              <a:ext uri="{FF2B5EF4-FFF2-40B4-BE49-F238E27FC236}">
                <a16:creationId xmlns:a16="http://schemas.microsoft.com/office/drawing/2014/main" id="{FDE438F2-0506-0F85-CDD7-35FAA160140F}"/>
              </a:ext>
            </a:extLst>
          </p:cNvPr>
          <p:cNvCxnSpPr>
            <a:cxnSpLocks/>
          </p:cNvCxnSpPr>
          <p:nvPr/>
        </p:nvCxnSpPr>
        <p:spPr>
          <a:xfrm flipV="1">
            <a:off x="660394" y="2855199"/>
            <a:ext cx="0" cy="113912"/>
          </a:xfrm>
          <a:prstGeom prst="line">
            <a:avLst/>
          </a:prstGeom>
        </p:spPr>
        <p:style>
          <a:lnRef idx="1">
            <a:schemeClr val="dk1"/>
          </a:lnRef>
          <a:fillRef idx="0">
            <a:schemeClr val="dk1"/>
          </a:fillRef>
          <a:effectRef idx="0">
            <a:schemeClr val="dk1"/>
          </a:effectRef>
          <a:fontRef idx="minor">
            <a:schemeClr val="tx1"/>
          </a:fontRef>
        </p:style>
      </p:cxnSp>
      <p:cxnSp>
        <p:nvCxnSpPr>
          <p:cNvPr id="1085" name="Conector reto 1084">
            <a:extLst>
              <a:ext uri="{FF2B5EF4-FFF2-40B4-BE49-F238E27FC236}">
                <a16:creationId xmlns:a16="http://schemas.microsoft.com/office/drawing/2014/main" id="{AF653F8B-A620-6309-21BE-774F6312ADB8}"/>
              </a:ext>
            </a:extLst>
          </p:cNvPr>
          <p:cNvCxnSpPr>
            <a:cxnSpLocks/>
          </p:cNvCxnSpPr>
          <p:nvPr/>
        </p:nvCxnSpPr>
        <p:spPr>
          <a:xfrm flipV="1">
            <a:off x="825683" y="2851036"/>
            <a:ext cx="0" cy="113912"/>
          </a:xfrm>
          <a:prstGeom prst="line">
            <a:avLst/>
          </a:prstGeom>
        </p:spPr>
        <p:style>
          <a:lnRef idx="1">
            <a:schemeClr val="dk1"/>
          </a:lnRef>
          <a:fillRef idx="0">
            <a:schemeClr val="dk1"/>
          </a:fillRef>
          <a:effectRef idx="0">
            <a:schemeClr val="dk1"/>
          </a:effectRef>
          <a:fontRef idx="minor">
            <a:schemeClr val="tx1"/>
          </a:fontRef>
        </p:style>
      </p:cxnSp>
      <p:sp>
        <p:nvSpPr>
          <p:cNvPr id="6" name="Text 1">
            <a:extLst>
              <a:ext uri="{FF2B5EF4-FFF2-40B4-BE49-F238E27FC236}">
                <a16:creationId xmlns:a16="http://schemas.microsoft.com/office/drawing/2014/main" id="{679057AD-C857-4D1B-7D49-9F961DE124B1}"/>
              </a:ext>
            </a:extLst>
          </p:cNvPr>
          <p:cNvSpPr/>
          <p:nvPr/>
        </p:nvSpPr>
        <p:spPr>
          <a:xfrm>
            <a:off x="291176" y="3230575"/>
            <a:ext cx="5690048" cy="820738"/>
          </a:xfrm>
          <a:prstGeom prst="rect">
            <a:avLst/>
          </a:prstGeom>
          <a:noFill/>
          <a:ln/>
        </p:spPr>
        <p:txBody>
          <a:bodyPr wrap="square" lIns="0" tIns="0" rIns="0" bIns="0" rtlCol="0" anchor="t">
            <a:spAutoFit/>
          </a:bodyPr>
          <a:lstStyle/>
          <a:p>
            <a:pPr marL="171450" indent="-171450">
              <a:lnSpc>
                <a:spcPts val="1600"/>
              </a:lnSpc>
              <a:buFont typeface="Arial" panose="020B0604020202020204" pitchFamily="34" charset="0"/>
              <a:buChar char="•"/>
            </a:pPr>
            <a:r>
              <a:rPr lang="en-US" sz="1400" dirty="0">
                <a:solidFill>
                  <a:srgbClr val="1A1A1A"/>
                </a:solidFill>
                <a:latin typeface="Montserrat" pitchFamily="2" charset="0"/>
              </a:rPr>
              <a:t>Non-uniform quantization intervals</a:t>
            </a:r>
          </a:p>
          <a:p>
            <a:pPr marL="171450" indent="-171450">
              <a:lnSpc>
                <a:spcPts val="1600"/>
              </a:lnSpc>
              <a:buFont typeface="Arial" panose="020B0604020202020204" pitchFamily="34" charset="0"/>
              <a:buChar char="•"/>
            </a:pPr>
            <a:r>
              <a:rPr lang="en-US" sz="1400" dirty="0">
                <a:solidFill>
                  <a:srgbClr val="1A1A1A"/>
                </a:solidFill>
                <a:latin typeface="Montserrat" pitchFamily="2" charset="0"/>
              </a:rPr>
              <a:t>More precision where data are more frequent</a:t>
            </a:r>
          </a:p>
          <a:p>
            <a:pPr marL="171450" indent="-171450">
              <a:lnSpc>
                <a:spcPts val="1600"/>
              </a:lnSpc>
              <a:buFont typeface="Arial" panose="020B0604020202020204" pitchFamily="34" charset="0"/>
              <a:buChar char="•"/>
            </a:pPr>
            <a:r>
              <a:rPr lang="en-US" sz="1400" dirty="0">
                <a:solidFill>
                  <a:srgbClr val="1A1A1A"/>
                </a:solidFill>
                <a:latin typeface="Montserrat" pitchFamily="2" charset="0"/>
              </a:rPr>
              <a:t>Lower quantization error in clustered distributions</a:t>
            </a:r>
          </a:p>
          <a:p>
            <a:pPr marL="171450" indent="-171450">
              <a:lnSpc>
                <a:spcPts val="1600"/>
              </a:lnSpc>
              <a:buFont typeface="Arial" panose="020B0604020202020204" pitchFamily="34" charset="0"/>
              <a:buChar char="•"/>
            </a:pPr>
            <a:r>
              <a:rPr lang="en-US" sz="1400" dirty="0">
                <a:solidFill>
                  <a:srgbClr val="1A1A1A"/>
                </a:solidFill>
                <a:latin typeface="Montserrat" pitchFamily="2" charset="0"/>
              </a:rPr>
              <a:t>Higher computational cost and lower hardware efficiency</a:t>
            </a:r>
          </a:p>
        </p:txBody>
      </p:sp>
      <p:sp>
        <p:nvSpPr>
          <p:cNvPr id="8" name="CaixaDeTexto 7">
            <a:extLst>
              <a:ext uri="{FF2B5EF4-FFF2-40B4-BE49-F238E27FC236}">
                <a16:creationId xmlns:a16="http://schemas.microsoft.com/office/drawing/2014/main" id="{BB5BB9EA-B68A-11EA-C596-5AC0B0888731}"/>
              </a:ext>
            </a:extLst>
          </p:cNvPr>
          <p:cNvSpPr txBox="1"/>
          <p:nvPr/>
        </p:nvSpPr>
        <p:spPr>
          <a:xfrm>
            <a:off x="1096306" y="1298445"/>
            <a:ext cx="2127714" cy="303288"/>
          </a:xfrm>
          <a:prstGeom prst="rect">
            <a:avLst/>
          </a:prstGeom>
          <a:noFill/>
        </p:spPr>
        <p:txBody>
          <a:bodyPr wrap="square">
            <a:spAutoFit/>
          </a:bodyPr>
          <a:lstStyle/>
          <a:p>
            <a:pPr>
              <a:lnSpc>
                <a:spcPts val="1600"/>
              </a:lnSpc>
            </a:pPr>
            <a:r>
              <a:rPr lang="en-US" sz="1400" b="1" dirty="0">
                <a:solidFill>
                  <a:srgbClr val="1A1A1A"/>
                </a:solidFill>
                <a:latin typeface="Montserrat" pitchFamily="2" charset="0"/>
              </a:rPr>
              <a:t>Linear Quantization:</a:t>
            </a:r>
          </a:p>
        </p:txBody>
      </p:sp>
      <p:sp>
        <p:nvSpPr>
          <p:cNvPr id="14" name="CaixaDeTexto 13">
            <a:extLst>
              <a:ext uri="{FF2B5EF4-FFF2-40B4-BE49-F238E27FC236}">
                <a16:creationId xmlns:a16="http://schemas.microsoft.com/office/drawing/2014/main" id="{73CAD7EB-6487-B1F7-937F-FFE563DB294A}"/>
              </a:ext>
            </a:extLst>
          </p:cNvPr>
          <p:cNvSpPr txBox="1"/>
          <p:nvPr/>
        </p:nvSpPr>
        <p:spPr>
          <a:xfrm>
            <a:off x="1123953" y="2859821"/>
            <a:ext cx="2540320" cy="303288"/>
          </a:xfrm>
          <a:prstGeom prst="rect">
            <a:avLst/>
          </a:prstGeom>
          <a:noFill/>
        </p:spPr>
        <p:txBody>
          <a:bodyPr wrap="square">
            <a:spAutoFit/>
          </a:bodyPr>
          <a:lstStyle/>
          <a:p>
            <a:pPr>
              <a:lnSpc>
                <a:spcPts val="1600"/>
              </a:lnSpc>
            </a:pPr>
            <a:r>
              <a:rPr lang="en-US" sz="1400" b="1" dirty="0">
                <a:solidFill>
                  <a:srgbClr val="1A1A1A"/>
                </a:solidFill>
                <a:latin typeface="Montserrat" pitchFamily="2" charset="0"/>
              </a:rPr>
              <a:t>Non-Linear Quantization:</a:t>
            </a:r>
          </a:p>
        </p:txBody>
      </p:sp>
    </p:spTree>
    <p:extLst>
      <p:ext uri="{BB962C8B-B14F-4D97-AF65-F5344CB8AC3E}">
        <p14:creationId xmlns:p14="http://schemas.microsoft.com/office/powerpoint/2010/main" val="2884040760"/>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3BB79-3FA2-D5EC-C95C-63310F0C7C18}"/>
            </a:ext>
          </a:extLst>
        </p:cNvPr>
        <p:cNvGrpSpPr/>
        <p:nvPr/>
      </p:nvGrpSpPr>
      <p:grpSpPr>
        <a:xfrm>
          <a:off x="0" y="0"/>
          <a:ext cx="0" cy="0"/>
          <a:chOff x="0" y="0"/>
          <a:chExt cx="0" cy="0"/>
        </a:xfrm>
      </p:grpSpPr>
      <p:sp>
        <p:nvSpPr>
          <p:cNvPr id="35" name="Text 0">
            <a:extLst>
              <a:ext uri="{FF2B5EF4-FFF2-40B4-BE49-F238E27FC236}">
                <a16:creationId xmlns:a16="http://schemas.microsoft.com/office/drawing/2014/main" id="{882CC669-549E-0348-1A58-D5F0E3E5A266}"/>
              </a:ext>
            </a:extLst>
          </p:cNvPr>
          <p:cNvSpPr/>
          <p:nvPr/>
        </p:nvSpPr>
        <p:spPr>
          <a:xfrm>
            <a:off x="285751" y="324744"/>
            <a:ext cx="4927631"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LINEAR INTERPOLATION APPROACH</a:t>
            </a:r>
          </a:p>
        </p:txBody>
      </p:sp>
      <p:pic>
        <p:nvPicPr>
          <p:cNvPr id="10" name="Imagem 9" descr="Uma imagem contendo Interface gráfica do usuário&#10;&#10;O conteúdo gerado por IA pode estar incorreto.">
            <a:extLst>
              <a:ext uri="{FF2B5EF4-FFF2-40B4-BE49-F238E27FC236}">
                <a16:creationId xmlns:a16="http://schemas.microsoft.com/office/drawing/2014/main" id="{04EAF755-1445-FE5E-3201-0FE0C056C6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pic>
        <p:nvPicPr>
          <p:cNvPr id="26" name="Imagem 25" descr="Interface gráfica do usuário, Diagrama&#10;&#10;O conteúdo gerado por IA pode estar incorreto.">
            <a:extLst>
              <a:ext uri="{FF2B5EF4-FFF2-40B4-BE49-F238E27FC236}">
                <a16:creationId xmlns:a16="http://schemas.microsoft.com/office/drawing/2014/main" id="{8B22AE5F-37C3-6329-AF3B-9A97D6334817}"/>
              </a:ext>
            </a:extLst>
          </p:cNvPr>
          <p:cNvPicPr>
            <a:picLocks noChangeAspect="1"/>
          </p:cNvPicPr>
          <p:nvPr/>
        </p:nvPicPr>
        <p:blipFill>
          <a:blip r:embed="rId4"/>
          <a:stretch>
            <a:fillRect/>
          </a:stretch>
        </p:blipFill>
        <p:spPr>
          <a:xfrm>
            <a:off x="285751" y="1230615"/>
            <a:ext cx="3602988" cy="1066326"/>
          </a:xfrm>
          <a:prstGeom prst="rect">
            <a:avLst/>
          </a:prstGeom>
        </p:spPr>
      </p:pic>
      <p:sp>
        <p:nvSpPr>
          <p:cNvPr id="2" name="CaixaDeTexto 1">
            <a:extLst>
              <a:ext uri="{FF2B5EF4-FFF2-40B4-BE49-F238E27FC236}">
                <a16:creationId xmlns:a16="http://schemas.microsoft.com/office/drawing/2014/main" id="{15F5857C-95A7-D1DB-4851-7FCD6D65A597}"/>
              </a:ext>
            </a:extLst>
          </p:cNvPr>
          <p:cNvSpPr txBox="1"/>
          <p:nvPr/>
        </p:nvSpPr>
        <p:spPr>
          <a:xfrm>
            <a:off x="285751" y="927327"/>
            <a:ext cx="2127714" cy="303288"/>
          </a:xfrm>
          <a:prstGeom prst="rect">
            <a:avLst/>
          </a:prstGeom>
          <a:noFill/>
        </p:spPr>
        <p:txBody>
          <a:bodyPr wrap="square">
            <a:spAutoFit/>
          </a:bodyPr>
          <a:lstStyle/>
          <a:p>
            <a:pPr>
              <a:lnSpc>
                <a:spcPts val="1600"/>
              </a:lnSpc>
            </a:pPr>
            <a:r>
              <a:rPr lang="en-US" sz="1400" b="1" dirty="0">
                <a:solidFill>
                  <a:srgbClr val="1A1A1A"/>
                </a:solidFill>
                <a:latin typeface="Montserrat" pitchFamily="2" charset="0"/>
              </a:rPr>
              <a:t>Linear Quantization:</a:t>
            </a:r>
          </a:p>
        </p:txBody>
      </p:sp>
      <mc:AlternateContent xmlns:mc="http://schemas.openxmlformats.org/markup-compatibility/2006" xmlns:a14="http://schemas.microsoft.com/office/drawing/2010/main">
        <mc:Choice Requires="a14">
          <p:sp>
            <p:nvSpPr>
              <p:cNvPr id="4" name="Text 1">
                <a:extLst>
                  <a:ext uri="{FF2B5EF4-FFF2-40B4-BE49-F238E27FC236}">
                    <a16:creationId xmlns:a16="http://schemas.microsoft.com/office/drawing/2014/main" id="{C82E4D4B-CFF6-DEE6-46D3-FCDCCEC25457}"/>
                  </a:ext>
                </a:extLst>
              </p:cNvPr>
              <p:cNvSpPr/>
              <p:nvPr/>
            </p:nvSpPr>
            <p:spPr>
              <a:xfrm>
                <a:off x="403775" y="2436191"/>
                <a:ext cx="4997716" cy="1413464"/>
              </a:xfrm>
              <a:prstGeom prst="rect">
                <a:avLst/>
              </a:prstGeom>
              <a:noFill/>
              <a:ln/>
            </p:spPr>
            <p:txBody>
              <a:bodyPr wrap="square" lIns="0" tIns="0" rIns="0" bIns="0" rtlCol="0" anchor="t">
                <a:spAutoFit/>
              </a:bodyPr>
              <a:lstStyle/>
              <a:p>
                <a:pPr marL="171450" indent="-171450">
                  <a:lnSpc>
                    <a:spcPts val="1600"/>
                  </a:lnSpc>
                  <a:buFont typeface="Arial" panose="020B0604020202020204" pitchFamily="34" charset="0"/>
                  <a:buChar char="•"/>
                </a:pPr>
                <a14:m>
                  <m:oMath xmlns:m="http://schemas.openxmlformats.org/officeDocument/2006/math">
                    <m:r>
                      <a:rPr lang="en-US" sz="900" b="0" i="1" smtClean="0">
                        <a:solidFill>
                          <a:srgbClr val="1A1A1A"/>
                        </a:solidFill>
                        <a:latin typeface="Cambria Math" panose="02040503050406030204" pitchFamily="18" charset="0"/>
                      </a:rPr>
                      <m:t>𝐿</m:t>
                    </m:r>
                  </m:oMath>
                </a14:m>
                <a:r>
                  <a:rPr lang="en-US" sz="900" dirty="0">
                    <a:solidFill>
                      <a:srgbClr val="1A1A1A"/>
                    </a:solidFill>
                    <a:latin typeface="Montserrat" pitchFamily="2" charset="0"/>
                  </a:rPr>
                  <a:t> : Total number of available quantization levels (e.g., 256 for 8 bits)</a:t>
                </a:r>
              </a:p>
              <a:p>
                <a:pPr marL="171450" indent="-171450">
                  <a:lnSpc>
                    <a:spcPts val="1600"/>
                  </a:lnSpc>
                  <a:buFont typeface="Arial" panose="020B0604020202020204" pitchFamily="34" charset="0"/>
                  <a:buChar char="•"/>
                </a:pPr>
                <a14:m>
                  <m:oMath xmlns:m="http://schemas.openxmlformats.org/officeDocument/2006/math">
                    <m:r>
                      <a:rPr lang="en-US" sz="900" b="0" i="1" smtClean="0">
                        <a:solidFill>
                          <a:srgbClr val="1A1A1A"/>
                        </a:solidFill>
                        <a:latin typeface="Cambria Math" panose="02040503050406030204" pitchFamily="18" charset="0"/>
                      </a:rPr>
                      <m:t>𝑏</m:t>
                    </m:r>
                  </m:oMath>
                </a14:m>
                <a:r>
                  <a:rPr lang="en-US" sz="900" dirty="0">
                    <a:solidFill>
                      <a:srgbClr val="1A1A1A"/>
                    </a:solidFill>
                    <a:latin typeface="Montserrat" pitchFamily="2" charset="0"/>
                  </a:rPr>
                  <a:t>: Number of bits used in the representation (bit depth)</a:t>
                </a:r>
              </a:p>
              <a:p>
                <a:pPr marL="171450" indent="-171450">
                  <a:lnSpc>
                    <a:spcPts val="1600"/>
                  </a:lnSpc>
                  <a:buFont typeface="Arial" panose="020B0604020202020204" pitchFamily="34" charset="0"/>
                  <a:buChar char="•"/>
                </a:pPr>
                <a:r>
                  <a:rPr lang="en-US" sz="900" i="1" dirty="0">
                    <a:solidFill>
                      <a:srgbClr val="1A1A1A"/>
                    </a:solidFill>
                    <a:latin typeface="Montserrat" pitchFamily="2" charset="0"/>
                  </a:rPr>
                  <a:t>Δ</a:t>
                </a:r>
                <a:r>
                  <a:rPr lang="en-US" sz="900" dirty="0">
                    <a:solidFill>
                      <a:srgbClr val="1A1A1A"/>
                    </a:solidFill>
                    <a:latin typeface="Montserrat" pitchFamily="2" charset="0"/>
                  </a:rPr>
                  <a:t> : Quantization step size; it is the distance between two consecutive levels</a:t>
                </a:r>
              </a:p>
              <a:p>
                <a:pPr marL="171450" indent="-171450">
                  <a:lnSpc>
                    <a:spcPts val="1600"/>
                  </a:lnSpc>
                  <a:buFont typeface="Arial" panose="020B0604020202020204" pitchFamily="34" charset="0"/>
                  <a:buChar char="•"/>
                </a:pPr>
                <a14:m>
                  <m:oMath xmlns:m="http://schemas.openxmlformats.org/officeDocument/2006/math">
                    <m:sSub>
                      <m:sSubPr>
                        <m:ctrlPr>
                          <a:rPr lang="en-US" sz="900" b="0" i="1" smtClean="0">
                            <a:solidFill>
                              <a:srgbClr val="1A1A1A"/>
                            </a:solidFill>
                            <a:latin typeface="Cambria Math" panose="02040503050406030204" pitchFamily="18" charset="0"/>
                          </a:rPr>
                        </m:ctrlPr>
                      </m:sSubPr>
                      <m:e>
                        <m:r>
                          <a:rPr lang="en-US" sz="900" b="0" i="1" smtClean="0">
                            <a:solidFill>
                              <a:srgbClr val="1A1A1A"/>
                            </a:solidFill>
                            <a:latin typeface="Cambria Math" panose="02040503050406030204" pitchFamily="18" charset="0"/>
                          </a:rPr>
                          <m:t>𝑥</m:t>
                        </m:r>
                      </m:e>
                      <m:sub>
                        <m:r>
                          <a:rPr lang="en-US" sz="900" b="0" i="1" smtClean="0">
                            <a:solidFill>
                              <a:srgbClr val="1A1A1A"/>
                            </a:solidFill>
                            <a:latin typeface="Cambria Math" panose="02040503050406030204" pitchFamily="18" charset="0"/>
                          </a:rPr>
                          <m:t>𝑚𝑎𝑥</m:t>
                        </m:r>
                      </m:sub>
                    </m:sSub>
                    <m:r>
                      <a:rPr lang="en-US" sz="900" b="0" i="1" smtClean="0">
                        <a:solidFill>
                          <a:srgbClr val="1A1A1A"/>
                        </a:solidFill>
                        <a:latin typeface="Cambria Math" panose="02040503050406030204" pitchFamily="18" charset="0"/>
                      </a:rPr>
                      <m:t>,  </m:t>
                    </m:r>
                    <m:sSub>
                      <m:sSubPr>
                        <m:ctrlPr>
                          <a:rPr lang="en-US" sz="900" b="0" i="1" smtClean="0">
                            <a:solidFill>
                              <a:srgbClr val="1A1A1A"/>
                            </a:solidFill>
                            <a:latin typeface="Cambria Math" panose="02040503050406030204" pitchFamily="18" charset="0"/>
                          </a:rPr>
                        </m:ctrlPr>
                      </m:sSubPr>
                      <m:e>
                        <m:r>
                          <a:rPr lang="en-US" sz="900" b="0" i="1" smtClean="0">
                            <a:solidFill>
                              <a:srgbClr val="1A1A1A"/>
                            </a:solidFill>
                            <a:latin typeface="Cambria Math" panose="02040503050406030204" pitchFamily="18" charset="0"/>
                          </a:rPr>
                          <m:t>𝑥</m:t>
                        </m:r>
                      </m:e>
                      <m:sub>
                        <m:r>
                          <a:rPr lang="en-US" sz="900" b="0" i="1" smtClean="0">
                            <a:solidFill>
                              <a:srgbClr val="1A1A1A"/>
                            </a:solidFill>
                            <a:latin typeface="Cambria Math" panose="02040503050406030204" pitchFamily="18" charset="0"/>
                          </a:rPr>
                          <m:t>𝑚𝑖𝑛</m:t>
                        </m:r>
                      </m:sub>
                    </m:sSub>
                  </m:oMath>
                </a14:m>
                <a:r>
                  <a:rPr lang="en-US" sz="900" dirty="0">
                    <a:solidFill>
                      <a:srgbClr val="1A1A1A"/>
                    </a:solidFill>
                    <a:latin typeface="Montserrat" pitchFamily="2" charset="0"/>
                  </a:rPr>
                  <a:t>: Maximum and minimum values ​​of the original signal (full scale)</a:t>
                </a:r>
              </a:p>
              <a:p>
                <a:pPr marL="171450" indent="-171450">
                  <a:lnSpc>
                    <a:spcPts val="1600"/>
                  </a:lnSpc>
                  <a:buFont typeface="Arial" panose="020B0604020202020204" pitchFamily="34" charset="0"/>
                  <a:buChar char="•"/>
                </a:pPr>
                <a14:m>
                  <m:oMath xmlns:m="http://schemas.openxmlformats.org/officeDocument/2006/math">
                    <m:r>
                      <a:rPr lang="en-US" sz="900" b="0" i="1" smtClean="0">
                        <a:solidFill>
                          <a:srgbClr val="1A1A1A"/>
                        </a:solidFill>
                        <a:latin typeface="Cambria Math" panose="02040503050406030204" pitchFamily="18" charset="0"/>
                      </a:rPr>
                      <m:t>𝑥</m:t>
                    </m:r>
                  </m:oMath>
                </a14:m>
                <a:r>
                  <a:rPr lang="en-US" sz="900" dirty="0">
                    <a:solidFill>
                      <a:srgbClr val="1A1A1A"/>
                    </a:solidFill>
                    <a:latin typeface="Montserrat" pitchFamily="2" charset="0"/>
                  </a:rPr>
                  <a:t>: The original input value (real/continuous value)</a:t>
                </a:r>
              </a:p>
              <a:p>
                <a:pPr marL="171450" indent="-171450">
                  <a:lnSpc>
                    <a:spcPts val="1600"/>
                  </a:lnSpc>
                  <a:buFont typeface="Arial" panose="020B0604020202020204" pitchFamily="34" charset="0"/>
                  <a:buChar char="•"/>
                </a:pPr>
                <a14:m>
                  <m:oMath xmlns:m="http://schemas.openxmlformats.org/officeDocument/2006/math">
                    <m:sSub>
                      <m:sSubPr>
                        <m:ctrlPr>
                          <a:rPr lang="en-US" sz="900" i="1" smtClean="0">
                            <a:solidFill>
                              <a:srgbClr val="1A1A1A"/>
                            </a:solidFill>
                            <a:latin typeface="Cambria Math" panose="02040503050406030204" pitchFamily="18" charset="0"/>
                          </a:rPr>
                        </m:ctrlPr>
                      </m:sSubPr>
                      <m:e>
                        <m:r>
                          <a:rPr lang="en-US" sz="900" b="0" i="1" smtClean="0">
                            <a:solidFill>
                              <a:srgbClr val="1A1A1A"/>
                            </a:solidFill>
                            <a:latin typeface="Cambria Math" panose="02040503050406030204" pitchFamily="18" charset="0"/>
                          </a:rPr>
                          <m:t>𝑄</m:t>
                        </m:r>
                      </m:e>
                      <m:sub>
                        <m:r>
                          <a:rPr lang="en-US" sz="900" b="0" i="1" smtClean="0">
                            <a:solidFill>
                              <a:srgbClr val="1A1A1A"/>
                            </a:solidFill>
                            <a:latin typeface="Cambria Math" panose="02040503050406030204" pitchFamily="18" charset="0"/>
                          </a:rPr>
                          <m:t>𝑙𝑖𝑛𝑒𝑎𝑟</m:t>
                        </m:r>
                      </m:sub>
                    </m:sSub>
                    <m:r>
                      <a:rPr lang="en-US" sz="900" b="0" i="1" smtClean="0">
                        <a:solidFill>
                          <a:srgbClr val="1A1A1A"/>
                        </a:solidFill>
                        <a:latin typeface="Cambria Math" panose="02040503050406030204" pitchFamily="18" charset="0"/>
                      </a:rPr>
                      <m:t>(</m:t>
                    </m:r>
                    <m:r>
                      <a:rPr lang="en-US" sz="900" b="0" i="1" smtClean="0">
                        <a:solidFill>
                          <a:srgbClr val="1A1A1A"/>
                        </a:solidFill>
                        <a:latin typeface="Cambria Math" panose="02040503050406030204" pitchFamily="18" charset="0"/>
                      </a:rPr>
                      <m:t>𝑥</m:t>
                    </m:r>
                    <m:r>
                      <a:rPr lang="en-US" sz="900" b="0" i="1" smtClean="0">
                        <a:solidFill>
                          <a:srgbClr val="1A1A1A"/>
                        </a:solidFill>
                        <a:latin typeface="Cambria Math" panose="02040503050406030204" pitchFamily="18" charset="0"/>
                      </a:rPr>
                      <m:t>)</m:t>
                    </m:r>
                  </m:oMath>
                </a14:m>
                <a:r>
                  <a:rPr lang="en-US" sz="900" dirty="0">
                    <a:solidFill>
                      <a:srgbClr val="1A1A1A"/>
                    </a:solidFill>
                    <a:latin typeface="Montserrat" pitchFamily="2" charset="0"/>
                  </a:rPr>
                  <a:t>: The final value already quantized and reconstructed on the original scale</a:t>
                </a:r>
              </a:p>
              <a:p>
                <a:pPr marL="171450" indent="-171450">
                  <a:lnSpc>
                    <a:spcPts val="1600"/>
                  </a:lnSpc>
                  <a:buFont typeface="Arial" panose="020B0604020202020204" pitchFamily="34" charset="0"/>
                  <a:buChar char="•"/>
                </a:pPr>
                <a14:m>
                  <m:oMath xmlns:m="http://schemas.openxmlformats.org/officeDocument/2006/math">
                    <m:r>
                      <a:rPr lang="en-US" sz="900" i="1" dirty="0" smtClean="0">
                        <a:solidFill>
                          <a:srgbClr val="1A1A1A"/>
                        </a:solidFill>
                        <a:latin typeface="Cambria Math" panose="02040503050406030204" pitchFamily="18" charset="0"/>
                      </a:rPr>
                      <m:t>𝑟𝑜𝑢𝑛𝑑</m:t>
                    </m:r>
                  </m:oMath>
                </a14:m>
                <a:r>
                  <a:rPr lang="en-US" sz="900" dirty="0">
                    <a:solidFill>
                      <a:srgbClr val="1A1A1A"/>
                    </a:solidFill>
                    <a:latin typeface="Montserrat" pitchFamily="2" charset="0"/>
                  </a:rPr>
                  <a:t>: Rounding function to the nearest integer</a:t>
                </a:r>
              </a:p>
            </p:txBody>
          </p:sp>
        </mc:Choice>
        <mc:Fallback xmlns="">
          <p:sp>
            <p:nvSpPr>
              <p:cNvPr id="4" name="Text 1">
                <a:extLst>
                  <a:ext uri="{FF2B5EF4-FFF2-40B4-BE49-F238E27FC236}">
                    <a16:creationId xmlns:a16="http://schemas.microsoft.com/office/drawing/2014/main" id="{C82E4D4B-CFF6-DEE6-46D3-FCDCCEC25457}"/>
                  </a:ext>
                </a:extLst>
              </p:cNvPr>
              <p:cNvSpPr>
                <a:spLocks noRot="1" noChangeAspect="1" noMove="1" noResize="1" noEditPoints="1" noAdjustHandles="1" noChangeArrowheads="1" noChangeShapeType="1" noTextEdit="1"/>
              </p:cNvSpPr>
              <p:nvPr/>
            </p:nvSpPr>
            <p:spPr>
              <a:xfrm>
                <a:off x="403775" y="2436191"/>
                <a:ext cx="4997716" cy="1413464"/>
              </a:xfrm>
              <a:prstGeom prst="rect">
                <a:avLst/>
              </a:prstGeom>
              <a:blipFill>
                <a:blip r:embed="rId5"/>
                <a:stretch>
                  <a:fillRect l="-1341" t="-431" b="-3879"/>
                </a:stretch>
              </a:blipFill>
              <a:ln/>
            </p:spPr>
            <p:txBody>
              <a:bodyPr/>
              <a:lstStyle/>
              <a:p>
                <a:r>
                  <a:rPr lang="pt-BR">
                    <a:noFill/>
                  </a:rPr>
                  <a:t> </a:t>
                </a:r>
              </a:p>
            </p:txBody>
          </p:sp>
        </mc:Fallback>
      </mc:AlternateContent>
    </p:spTree>
    <p:extLst>
      <p:ext uri="{BB962C8B-B14F-4D97-AF65-F5344CB8AC3E}">
        <p14:creationId xmlns:p14="http://schemas.microsoft.com/office/powerpoint/2010/main" val="740747980"/>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2B03E-59C8-DBF4-DA11-DA441F9F1720}"/>
            </a:ext>
          </a:extLst>
        </p:cNvPr>
        <p:cNvGrpSpPr/>
        <p:nvPr/>
      </p:nvGrpSpPr>
      <p:grpSpPr>
        <a:xfrm>
          <a:off x="0" y="0"/>
          <a:ext cx="0" cy="0"/>
          <a:chOff x="0" y="0"/>
          <a:chExt cx="0" cy="0"/>
        </a:xfrm>
      </p:grpSpPr>
      <p:sp>
        <p:nvSpPr>
          <p:cNvPr id="35" name="Text 0">
            <a:extLst>
              <a:ext uri="{FF2B5EF4-FFF2-40B4-BE49-F238E27FC236}">
                <a16:creationId xmlns:a16="http://schemas.microsoft.com/office/drawing/2014/main" id="{6169C0C0-8CC1-4194-B2B0-403B3BF890B2}"/>
              </a:ext>
            </a:extLst>
          </p:cNvPr>
          <p:cNvSpPr/>
          <p:nvPr/>
        </p:nvSpPr>
        <p:spPr>
          <a:xfrm>
            <a:off x="285751" y="324744"/>
            <a:ext cx="4927631"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LINEAR INTERPOLATION APPROACH</a:t>
            </a:r>
          </a:p>
        </p:txBody>
      </p:sp>
      <p:pic>
        <p:nvPicPr>
          <p:cNvPr id="10" name="Imagem 9" descr="Uma imagem contendo Interface gráfica do usuário&#10;&#10;O conteúdo gerado por IA pode estar incorreto.">
            <a:extLst>
              <a:ext uri="{FF2B5EF4-FFF2-40B4-BE49-F238E27FC236}">
                <a16:creationId xmlns:a16="http://schemas.microsoft.com/office/drawing/2014/main" id="{1B5E1B49-494A-E69E-BE61-329AB6FA04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mc:AlternateContent xmlns:mc="http://schemas.openxmlformats.org/markup-compatibility/2006" xmlns:a14="http://schemas.microsoft.com/office/drawing/2010/main">
        <mc:Choice Requires="a14">
          <p:sp>
            <p:nvSpPr>
              <p:cNvPr id="4" name="Text 1">
                <a:extLst>
                  <a:ext uri="{FF2B5EF4-FFF2-40B4-BE49-F238E27FC236}">
                    <a16:creationId xmlns:a16="http://schemas.microsoft.com/office/drawing/2014/main" id="{B6D2B078-E950-2F79-91D3-E73DB6CA3A0B}"/>
                  </a:ext>
                </a:extLst>
              </p:cNvPr>
              <p:cNvSpPr/>
              <p:nvPr/>
            </p:nvSpPr>
            <p:spPr>
              <a:xfrm>
                <a:off x="348344" y="3275454"/>
                <a:ext cx="6509656" cy="1208279"/>
              </a:xfrm>
              <a:prstGeom prst="rect">
                <a:avLst/>
              </a:prstGeom>
              <a:noFill/>
              <a:ln/>
            </p:spPr>
            <p:txBody>
              <a:bodyPr wrap="square" lIns="0" tIns="0" rIns="0" bIns="0" rtlCol="0" anchor="t">
                <a:spAutoFit/>
              </a:bodyPr>
              <a:lstStyle/>
              <a:p>
                <a:pPr marL="171450" indent="-171450">
                  <a:lnSpc>
                    <a:spcPts val="1600"/>
                  </a:lnSpc>
                  <a:buFont typeface="Arial" panose="020B0604020202020204" pitchFamily="34" charset="0"/>
                  <a:buChar char="•"/>
                </a:pPr>
                <a14:m>
                  <m:oMath xmlns:m="http://schemas.openxmlformats.org/officeDocument/2006/math">
                    <m:sSub>
                      <m:sSubPr>
                        <m:ctrlPr>
                          <a:rPr lang="en-US" sz="900" i="1" smtClean="0">
                            <a:solidFill>
                              <a:srgbClr val="1A1A1A"/>
                            </a:solidFill>
                            <a:latin typeface="Cambria Math" panose="02040503050406030204" pitchFamily="18" charset="0"/>
                          </a:rPr>
                        </m:ctrlPr>
                      </m:sSubPr>
                      <m:e>
                        <m:r>
                          <a:rPr lang="en-US" sz="900" b="0" i="1" smtClean="0">
                            <a:solidFill>
                              <a:srgbClr val="1A1A1A"/>
                            </a:solidFill>
                            <a:latin typeface="Cambria Math" panose="02040503050406030204" pitchFamily="18" charset="0"/>
                          </a:rPr>
                          <m:t>𝑥</m:t>
                        </m:r>
                      </m:e>
                      <m:sub>
                        <m:r>
                          <a:rPr lang="en-US" sz="900" b="0" i="1" smtClean="0">
                            <a:solidFill>
                              <a:srgbClr val="1A1A1A"/>
                            </a:solidFill>
                            <a:latin typeface="Cambria Math" panose="02040503050406030204" pitchFamily="18" charset="0"/>
                          </a:rPr>
                          <m:t>𝐶</m:t>
                        </m:r>
                      </m:sub>
                    </m:sSub>
                  </m:oMath>
                </a14:m>
                <a:r>
                  <a:rPr lang="en-US" sz="900" dirty="0">
                    <a:solidFill>
                      <a:srgbClr val="1A1A1A"/>
                    </a:solidFill>
                    <a:latin typeface="Montserrat" pitchFamily="2" charset="0"/>
                  </a:rPr>
                  <a:t>: Signal value after the compression phase (logarithmic)</a:t>
                </a:r>
              </a:p>
              <a:p>
                <a:pPr marL="171450" indent="-171450">
                  <a:lnSpc>
                    <a:spcPts val="1600"/>
                  </a:lnSpc>
                  <a:buFont typeface="Arial" panose="020B0604020202020204" pitchFamily="34" charset="0"/>
                  <a:buChar char="•"/>
                </a:pPr>
                <a14:m>
                  <m:oMath xmlns:m="http://schemas.openxmlformats.org/officeDocument/2006/math">
                    <m:r>
                      <a:rPr lang="en-US" sz="900" i="1" smtClean="0">
                        <a:solidFill>
                          <a:srgbClr val="1A1A1A"/>
                        </a:solidFill>
                        <a:latin typeface="Cambria Math" panose="02040503050406030204" pitchFamily="18" charset="0"/>
                        <a:ea typeface="Cambria Math" panose="02040503050406030204" pitchFamily="18" charset="0"/>
                      </a:rPr>
                      <m:t>𝜇</m:t>
                    </m:r>
                  </m:oMath>
                </a14:m>
                <a:r>
                  <a:rPr lang="en-US" sz="900" dirty="0">
                    <a:solidFill>
                      <a:srgbClr val="1A1A1A"/>
                    </a:solidFill>
                    <a:latin typeface="Montserrat" pitchFamily="2" charset="0"/>
                  </a:rPr>
                  <a:t>: Compression factor (parameter that defines how "curved" the scale will be; common values ​​are 100 or 255)</a:t>
                </a:r>
              </a:p>
              <a:p>
                <a:pPr marL="171450" indent="-171450">
                  <a:lnSpc>
                    <a:spcPts val="1600"/>
                  </a:lnSpc>
                  <a:buFont typeface="Arial" panose="020B0604020202020204" pitchFamily="34" charset="0"/>
                  <a:buChar char="•"/>
                </a:pPr>
                <a14:m>
                  <m:oMath xmlns:m="http://schemas.openxmlformats.org/officeDocument/2006/math">
                    <m:r>
                      <m:rPr>
                        <m:sty m:val="p"/>
                      </m:rPr>
                      <a:rPr lang="en-US" sz="900" b="0" i="1" smtClean="0">
                        <a:solidFill>
                          <a:srgbClr val="1A1A1A"/>
                        </a:solidFill>
                        <a:latin typeface="Cambria Math" panose="02040503050406030204" pitchFamily="18" charset="0"/>
                      </a:rPr>
                      <m:t>sign</m:t>
                    </m:r>
                    <m:r>
                      <a:rPr lang="en-US" sz="900" b="0" i="1" smtClean="0">
                        <a:solidFill>
                          <a:srgbClr val="1A1A1A"/>
                        </a:solidFill>
                        <a:latin typeface="Cambria Math" panose="02040503050406030204" pitchFamily="18" charset="0"/>
                      </a:rPr>
                      <m:t>(</m:t>
                    </m:r>
                    <m:r>
                      <m:rPr>
                        <m:sty m:val="p"/>
                      </m:rPr>
                      <a:rPr lang="en-US" sz="900" b="0" i="1" smtClean="0">
                        <a:solidFill>
                          <a:srgbClr val="1A1A1A"/>
                        </a:solidFill>
                        <a:latin typeface="Cambria Math" panose="02040503050406030204" pitchFamily="18" charset="0"/>
                      </a:rPr>
                      <m:t>x</m:t>
                    </m:r>
                    <m:r>
                      <a:rPr lang="en-US" sz="900" b="0" i="1" smtClean="0">
                        <a:solidFill>
                          <a:srgbClr val="1A1A1A"/>
                        </a:solidFill>
                        <a:latin typeface="Cambria Math" panose="02040503050406030204" pitchFamily="18" charset="0"/>
                      </a:rPr>
                      <m:t>)</m:t>
                    </m:r>
                  </m:oMath>
                </a14:m>
                <a:r>
                  <a:rPr lang="en-US" sz="900" dirty="0">
                    <a:solidFill>
                      <a:srgbClr val="1A1A1A"/>
                    </a:solidFill>
                    <a:latin typeface="Montserrat" pitchFamily="2" charset="0"/>
                  </a:rPr>
                  <a:t>: Sign function (returns true if the value is positive and false if it is negative)</a:t>
                </a:r>
              </a:p>
              <a:p>
                <a:pPr marL="171450" indent="-171450">
                  <a:lnSpc>
                    <a:spcPts val="1600"/>
                  </a:lnSpc>
                  <a:buFont typeface="Arial" panose="020B0604020202020204" pitchFamily="34" charset="0"/>
                  <a:buChar char="•"/>
                </a:pPr>
                <a14:m>
                  <m:oMath xmlns:m="http://schemas.openxmlformats.org/officeDocument/2006/math">
                    <m:sSub>
                      <m:sSubPr>
                        <m:ctrlPr>
                          <a:rPr lang="en-US" sz="900" b="0" i="1" smtClean="0">
                            <a:solidFill>
                              <a:srgbClr val="1A1A1A"/>
                            </a:solidFill>
                            <a:latin typeface="Cambria Math" panose="02040503050406030204" pitchFamily="18" charset="0"/>
                          </a:rPr>
                        </m:ctrlPr>
                      </m:sSubPr>
                      <m:e>
                        <m:r>
                          <a:rPr lang="en-US" sz="900" b="0" i="1" smtClean="0">
                            <a:solidFill>
                              <a:srgbClr val="1A1A1A"/>
                            </a:solidFill>
                            <a:latin typeface="Cambria Math" panose="02040503050406030204" pitchFamily="18" charset="0"/>
                          </a:rPr>
                          <m:t>𝑄</m:t>
                        </m:r>
                      </m:e>
                      <m:sub>
                        <m:r>
                          <a:rPr lang="en-US" sz="900" b="0" i="1" smtClean="0">
                            <a:solidFill>
                              <a:srgbClr val="1A1A1A"/>
                            </a:solidFill>
                            <a:latin typeface="Cambria Math" panose="02040503050406030204" pitchFamily="18" charset="0"/>
                          </a:rPr>
                          <m:t>𝐶</m:t>
                        </m:r>
                      </m:sub>
                    </m:sSub>
                  </m:oMath>
                </a14:m>
                <a:r>
                  <a:rPr lang="en-US" sz="900" dirty="0">
                    <a:solidFill>
                      <a:srgbClr val="1A1A1A"/>
                    </a:solidFill>
                    <a:latin typeface="Montserrat" pitchFamily="2" charset="0"/>
                  </a:rPr>
                  <a:t>: Quantized value in the compressed domain</a:t>
                </a:r>
              </a:p>
              <a:p>
                <a:pPr marL="171450" indent="-171450">
                  <a:lnSpc>
                    <a:spcPts val="1600"/>
                  </a:lnSpc>
                  <a:buFont typeface="Arial" panose="020B0604020202020204" pitchFamily="34" charset="0"/>
                  <a:buChar char="•"/>
                </a:pPr>
                <a14:m>
                  <m:oMath xmlns:m="http://schemas.openxmlformats.org/officeDocument/2006/math">
                    <m:sSub>
                      <m:sSubPr>
                        <m:ctrlPr>
                          <a:rPr lang="el-GR" sz="900" i="1" smtClean="0">
                            <a:solidFill>
                              <a:srgbClr val="1A1A1A"/>
                            </a:solidFill>
                            <a:latin typeface="Cambria Math" panose="02040503050406030204" pitchFamily="18" charset="0"/>
                            <a:ea typeface="Cambria Math" panose="02040503050406030204" pitchFamily="18" charset="0"/>
                          </a:rPr>
                        </m:ctrlPr>
                      </m:sSubPr>
                      <m:e>
                        <m:r>
                          <a:rPr lang="el-GR" sz="900" i="1">
                            <a:solidFill>
                              <a:srgbClr val="1A1A1A"/>
                            </a:solidFill>
                            <a:latin typeface="Cambria Math" panose="02040503050406030204" pitchFamily="18" charset="0"/>
                            <a:ea typeface="Cambria Math" panose="02040503050406030204" pitchFamily="18" charset="0"/>
                          </a:rPr>
                          <m:t>𝛥</m:t>
                        </m:r>
                      </m:e>
                      <m:sub>
                        <m:r>
                          <a:rPr lang="en-US" sz="900" b="0" i="1" smtClean="0">
                            <a:solidFill>
                              <a:srgbClr val="1A1A1A"/>
                            </a:solidFill>
                            <a:latin typeface="Cambria Math" panose="02040503050406030204" pitchFamily="18" charset="0"/>
                            <a:ea typeface="Cambria Math" panose="02040503050406030204" pitchFamily="18" charset="0"/>
                          </a:rPr>
                          <m:t>𝐶</m:t>
                        </m:r>
                      </m:sub>
                    </m:sSub>
                  </m:oMath>
                </a14:m>
                <a:r>
                  <a:rPr lang="en-US" sz="900" dirty="0">
                    <a:solidFill>
                      <a:srgbClr val="1A1A1A"/>
                    </a:solidFill>
                    <a:latin typeface="Montserrat" pitchFamily="2" charset="0"/>
                  </a:rPr>
                  <a:t>: Quantization step specific to the compressed signal</a:t>
                </a:r>
              </a:p>
              <a:p>
                <a:pPr marL="171450" indent="-171450">
                  <a:lnSpc>
                    <a:spcPts val="1600"/>
                  </a:lnSpc>
                  <a:buFont typeface="Arial" panose="020B0604020202020204" pitchFamily="34" charset="0"/>
                  <a:buChar char="•"/>
                </a:pPr>
                <a14:m>
                  <m:oMath xmlns:m="http://schemas.openxmlformats.org/officeDocument/2006/math">
                    <m:sSub>
                      <m:sSubPr>
                        <m:ctrlPr>
                          <a:rPr lang="en-US" sz="900" b="0" i="1" smtClean="0">
                            <a:solidFill>
                              <a:srgbClr val="1A1A1A"/>
                            </a:solidFill>
                            <a:latin typeface="Cambria Math" panose="02040503050406030204" pitchFamily="18" charset="0"/>
                          </a:rPr>
                        </m:ctrlPr>
                      </m:sSubPr>
                      <m:e>
                        <m:r>
                          <a:rPr lang="en-US" sz="900" b="0" i="1" smtClean="0">
                            <a:solidFill>
                              <a:srgbClr val="1A1A1A"/>
                            </a:solidFill>
                            <a:latin typeface="Cambria Math" panose="02040503050406030204" pitchFamily="18" charset="0"/>
                          </a:rPr>
                          <m:t>𝑄</m:t>
                        </m:r>
                      </m:e>
                      <m:sub>
                        <m:r>
                          <a:rPr lang="en-US" sz="900" b="0" i="1" smtClean="0">
                            <a:solidFill>
                              <a:srgbClr val="1A1A1A"/>
                            </a:solidFill>
                            <a:latin typeface="Cambria Math" panose="02040503050406030204" pitchFamily="18" charset="0"/>
                            <a:ea typeface="Cambria Math" panose="02040503050406030204" pitchFamily="18" charset="0"/>
                          </a:rPr>
                          <m:t>𝜇</m:t>
                        </m:r>
                      </m:sub>
                    </m:sSub>
                  </m:oMath>
                </a14:m>
                <a:r>
                  <a:rPr lang="en-US" sz="900" dirty="0">
                    <a:solidFill>
                      <a:srgbClr val="1A1A1A"/>
                    </a:solidFill>
                    <a:latin typeface="Montserrat" pitchFamily="2" charset="0"/>
                  </a:rPr>
                  <a:t>​: Final value after expansion (recovery of the corrected original signal)</a:t>
                </a:r>
              </a:p>
            </p:txBody>
          </p:sp>
        </mc:Choice>
        <mc:Fallback xmlns="">
          <p:sp>
            <p:nvSpPr>
              <p:cNvPr id="4" name="Text 1">
                <a:extLst>
                  <a:ext uri="{FF2B5EF4-FFF2-40B4-BE49-F238E27FC236}">
                    <a16:creationId xmlns:a16="http://schemas.microsoft.com/office/drawing/2014/main" id="{B6D2B078-E950-2F79-91D3-E73DB6CA3A0B}"/>
                  </a:ext>
                </a:extLst>
              </p:cNvPr>
              <p:cNvSpPr>
                <a:spLocks noRot="1" noChangeAspect="1" noMove="1" noResize="1" noEditPoints="1" noAdjustHandles="1" noChangeArrowheads="1" noChangeShapeType="1" noTextEdit="1"/>
              </p:cNvSpPr>
              <p:nvPr/>
            </p:nvSpPr>
            <p:spPr>
              <a:xfrm>
                <a:off x="348344" y="3275454"/>
                <a:ext cx="6509656" cy="1208279"/>
              </a:xfrm>
              <a:prstGeom prst="rect">
                <a:avLst/>
              </a:prstGeom>
              <a:blipFill>
                <a:blip r:embed="rId4"/>
                <a:stretch>
                  <a:fillRect l="-1030" b="-4020"/>
                </a:stretch>
              </a:blipFill>
              <a:ln/>
            </p:spPr>
            <p:txBody>
              <a:bodyPr/>
              <a:lstStyle/>
              <a:p>
                <a:r>
                  <a:rPr lang="pt-BR">
                    <a:noFill/>
                  </a:rPr>
                  <a:t> </a:t>
                </a:r>
              </a:p>
            </p:txBody>
          </p:sp>
        </mc:Fallback>
      </mc:AlternateContent>
      <p:pic>
        <p:nvPicPr>
          <p:cNvPr id="12" name="Imagem 11" descr="Texto&#10;&#10;O conteúdo gerado por IA pode estar incorreto.">
            <a:extLst>
              <a:ext uri="{FF2B5EF4-FFF2-40B4-BE49-F238E27FC236}">
                <a16:creationId xmlns:a16="http://schemas.microsoft.com/office/drawing/2014/main" id="{0D1C901F-7500-9051-1CD4-52C5DCF8042D}"/>
              </a:ext>
            </a:extLst>
          </p:cNvPr>
          <p:cNvPicPr>
            <a:picLocks noChangeAspect="1"/>
          </p:cNvPicPr>
          <p:nvPr/>
        </p:nvPicPr>
        <p:blipFill>
          <a:blip r:embed="rId5"/>
          <a:stretch>
            <a:fillRect/>
          </a:stretch>
        </p:blipFill>
        <p:spPr>
          <a:xfrm>
            <a:off x="1478575" y="1253843"/>
            <a:ext cx="2118838" cy="745246"/>
          </a:xfrm>
          <a:prstGeom prst="rect">
            <a:avLst/>
          </a:prstGeom>
        </p:spPr>
      </p:pic>
      <p:pic>
        <p:nvPicPr>
          <p:cNvPr id="13" name="Imagem 12" descr="Uma imagem contendo objeto, relógio&#10;&#10;O conteúdo gerado por IA pode estar incorreto.">
            <a:extLst>
              <a:ext uri="{FF2B5EF4-FFF2-40B4-BE49-F238E27FC236}">
                <a16:creationId xmlns:a16="http://schemas.microsoft.com/office/drawing/2014/main" id="{C9EB648B-9940-9015-DCAF-B0F6AC8706F5}"/>
              </a:ext>
            </a:extLst>
          </p:cNvPr>
          <p:cNvPicPr>
            <a:picLocks noChangeAspect="1"/>
          </p:cNvPicPr>
          <p:nvPr/>
        </p:nvPicPr>
        <p:blipFill>
          <a:blip r:embed="rId6"/>
          <a:stretch>
            <a:fillRect/>
          </a:stretch>
        </p:blipFill>
        <p:spPr>
          <a:xfrm>
            <a:off x="1478575" y="1908886"/>
            <a:ext cx="3502496" cy="643037"/>
          </a:xfrm>
          <a:prstGeom prst="rect">
            <a:avLst/>
          </a:prstGeom>
        </p:spPr>
      </p:pic>
      <p:pic>
        <p:nvPicPr>
          <p:cNvPr id="14" name="Imagem 13" descr="Texto&#10;&#10;O conteúdo gerado por IA pode estar incorreto.">
            <a:extLst>
              <a:ext uri="{FF2B5EF4-FFF2-40B4-BE49-F238E27FC236}">
                <a16:creationId xmlns:a16="http://schemas.microsoft.com/office/drawing/2014/main" id="{A41A1B09-CEBA-9FB2-A430-93A963DADDCA}"/>
              </a:ext>
            </a:extLst>
          </p:cNvPr>
          <p:cNvPicPr>
            <a:picLocks noChangeAspect="1"/>
          </p:cNvPicPr>
          <p:nvPr/>
        </p:nvPicPr>
        <p:blipFill>
          <a:blip r:embed="rId7"/>
          <a:stretch>
            <a:fillRect/>
          </a:stretch>
        </p:blipFill>
        <p:spPr>
          <a:xfrm>
            <a:off x="1381358" y="2551923"/>
            <a:ext cx="2566699" cy="655043"/>
          </a:xfrm>
          <a:prstGeom prst="rect">
            <a:avLst/>
          </a:prstGeom>
        </p:spPr>
      </p:pic>
      <p:sp>
        <p:nvSpPr>
          <p:cNvPr id="15" name="CaixaDeTexto 14">
            <a:extLst>
              <a:ext uri="{FF2B5EF4-FFF2-40B4-BE49-F238E27FC236}">
                <a16:creationId xmlns:a16="http://schemas.microsoft.com/office/drawing/2014/main" id="{CA1E1451-7B1C-B21D-385E-134B496360A5}"/>
              </a:ext>
            </a:extLst>
          </p:cNvPr>
          <p:cNvSpPr txBox="1"/>
          <p:nvPr/>
        </p:nvSpPr>
        <p:spPr>
          <a:xfrm>
            <a:off x="317501" y="927327"/>
            <a:ext cx="2689461" cy="297517"/>
          </a:xfrm>
          <a:prstGeom prst="rect">
            <a:avLst/>
          </a:prstGeom>
          <a:noFill/>
        </p:spPr>
        <p:txBody>
          <a:bodyPr wrap="square">
            <a:spAutoFit/>
          </a:bodyPr>
          <a:lstStyle/>
          <a:p>
            <a:pPr>
              <a:lnSpc>
                <a:spcPts val="1600"/>
              </a:lnSpc>
            </a:pPr>
            <a:r>
              <a:rPr lang="en-US" sz="1400" b="1" dirty="0">
                <a:solidFill>
                  <a:srgbClr val="1A1A1A"/>
                </a:solidFill>
                <a:latin typeface="Montserrat" pitchFamily="2" charset="0"/>
              </a:rPr>
              <a:t>Non-Linear Quantization:</a:t>
            </a:r>
          </a:p>
        </p:txBody>
      </p:sp>
      <p:sp>
        <p:nvSpPr>
          <p:cNvPr id="16" name="CaixaDeTexto 15">
            <a:extLst>
              <a:ext uri="{FF2B5EF4-FFF2-40B4-BE49-F238E27FC236}">
                <a16:creationId xmlns:a16="http://schemas.microsoft.com/office/drawing/2014/main" id="{3F83BAA7-AD05-9CE1-C8E9-2B9A28A4A819}"/>
              </a:ext>
            </a:extLst>
          </p:cNvPr>
          <p:cNvSpPr txBox="1"/>
          <p:nvPr/>
        </p:nvSpPr>
        <p:spPr>
          <a:xfrm>
            <a:off x="317501" y="1485159"/>
            <a:ext cx="1240524" cy="284245"/>
          </a:xfrm>
          <a:prstGeom prst="rect">
            <a:avLst/>
          </a:prstGeom>
          <a:noFill/>
        </p:spPr>
        <p:txBody>
          <a:bodyPr wrap="square">
            <a:spAutoFit/>
          </a:bodyPr>
          <a:lstStyle/>
          <a:p>
            <a:pPr>
              <a:lnSpc>
                <a:spcPts val="1600"/>
              </a:lnSpc>
            </a:pPr>
            <a:r>
              <a:rPr lang="en-US" sz="1100" b="1" dirty="0">
                <a:solidFill>
                  <a:srgbClr val="1A1A1A"/>
                </a:solidFill>
                <a:latin typeface="Montserrat" pitchFamily="2" charset="0"/>
              </a:rPr>
              <a:t>Compression:</a:t>
            </a:r>
          </a:p>
        </p:txBody>
      </p:sp>
      <p:sp>
        <p:nvSpPr>
          <p:cNvPr id="17" name="CaixaDeTexto 16">
            <a:extLst>
              <a:ext uri="{FF2B5EF4-FFF2-40B4-BE49-F238E27FC236}">
                <a16:creationId xmlns:a16="http://schemas.microsoft.com/office/drawing/2014/main" id="{5C1F8E31-EB61-F2FF-B883-AA9D019F3E09}"/>
              </a:ext>
            </a:extLst>
          </p:cNvPr>
          <p:cNvSpPr txBox="1"/>
          <p:nvPr/>
        </p:nvSpPr>
        <p:spPr>
          <a:xfrm>
            <a:off x="317501" y="2089292"/>
            <a:ext cx="1240524" cy="284245"/>
          </a:xfrm>
          <a:prstGeom prst="rect">
            <a:avLst/>
          </a:prstGeom>
          <a:noFill/>
        </p:spPr>
        <p:txBody>
          <a:bodyPr wrap="square">
            <a:spAutoFit/>
          </a:bodyPr>
          <a:lstStyle/>
          <a:p>
            <a:pPr>
              <a:lnSpc>
                <a:spcPts val="1600"/>
              </a:lnSpc>
            </a:pPr>
            <a:r>
              <a:rPr lang="en-US" sz="1100" b="1" dirty="0">
                <a:solidFill>
                  <a:srgbClr val="1A1A1A"/>
                </a:solidFill>
                <a:latin typeface="Montserrat" pitchFamily="2" charset="0"/>
              </a:rPr>
              <a:t>Quantization:</a:t>
            </a:r>
          </a:p>
        </p:txBody>
      </p:sp>
      <p:sp>
        <p:nvSpPr>
          <p:cNvPr id="18" name="CaixaDeTexto 17">
            <a:extLst>
              <a:ext uri="{FF2B5EF4-FFF2-40B4-BE49-F238E27FC236}">
                <a16:creationId xmlns:a16="http://schemas.microsoft.com/office/drawing/2014/main" id="{4027DCA6-6A3C-4D97-0DAD-6080C07ACD95}"/>
              </a:ext>
            </a:extLst>
          </p:cNvPr>
          <p:cNvSpPr txBox="1"/>
          <p:nvPr/>
        </p:nvSpPr>
        <p:spPr>
          <a:xfrm>
            <a:off x="348344" y="2737322"/>
            <a:ext cx="1240524" cy="284245"/>
          </a:xfrm>
          <a:prstGeom prst="rect">
            <a:avLst/>
          </a:prstGeom>
          <a:noFill/>
        </p:spPr>
        <p:txBody>
          <a:bodyPr wrap="square">
            <a:spAutoFit/>
          </a:bodyPr>
          <a:lstStyle/>
          <a:p>
            <a:pPr>
              <a:lnSpc>
                <a:spcPts val="1600"/>
              </a:lnSpc>
            </a:pPr>
            <a:r>
              <a:rPr lang="en-US" sz="1100" b="1" dirty="0">
                <a:solidFill>
                  <a:srgbClr val="1A1A1A"/>
                </a:solidFill>
                <a:latin typeface="Montserrat" pitchFamily="2" charset="0"/>
              </a:rPr>
              <a:t>Expansion:</a:t>
            </a:r>
          </a:p>
        </p:txBody>
      </p:sp>
    </p:spTree>
    <p:extLst>
      <p:ext uri="{BB962C8B-B14F-4D97-AF65-F5344CB8AC3E}">
        <p14:creationId xmlns:p14="http://schemas.microsoft.com/office/powerpoint/2010/main" val="3065828834"/>
      </p:ext>
    </p:extLst>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163EB-3BA6-B9F5-2191-F03C7A88862D}"/>
            </a:ext>
          </a:extLst>
        </p:cNvPr>
        <p:cNvGrpSpPr/>
        <p:nvPr/>
      </p:nvGrpSpPr>
      <p:grpSpPr>
        <a:xfrm>
          <a:off x="0" y="0"/>
          <a:ext cx="0" cy="0"/>
          <a:chOff x="0" y="0"/>
          <a:chExt cx="0" cy="0"/>
        </a:xfrm>
      </p:grpSpPr>
      <p:sp>
        <p:nvSpPr>
          <p:cNvPr id="35" name="Text 0">
            <a:extLst>
              <a:ext uri="{FF2B5EF4-FFF2-40B4-BE49-F238E27FC236}">
                <a16:creationId xmlns:a16="http://schemas.microsoft.com/office/drawing/2014/main" id="{1A2A2CF4-C7DF-C4CC-BA8E-2AC607E93C0B}"/>
              </a:ext>
            </a:extLst>
          </p:cNvPr>
          <p:cNvSpPr/>
          <p:nvPr/>
        </p:nvSpPr>
        <p:spPr>
          <a:xfrm>
            <a:off x="285751" y="324744"/>
            <a:ext cx="4927631"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LINEAR INTERPOLATION APPROACH</a:t>
            </a:r>
          </a:p>
        </p:txBody>
      </p:sp>
      <p:pic>
        <p:nvPicPr>
          <p:cNvPr id="10" name="Imagem 9" descr="Uma imagem contendo Interface gráfica do usuário&#10;&#10;O conteúdo gerado por IA pode estar incorreto.">
            <a:extLst>
              <a:ext uri="{FF2B5EF4-FFF2-40B4-BE49-F238E27FC236}">
                <a16:creationId xmlns:a16="http://schemas.microsoft.com/office/drawing/2014/main" id="{E653FF1F-29FE-1514-FD2E-B82B1B3C8C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pic>
        <p:nvPicPr>
          <p:cNvPr id="2" name="Imagem 1" descr="Texto&#10;&#10;O conteúdo gerado por IA pode estar incorreto.">
            <a:extLst>
              <a:ext uri="{FF2B5EF4-FFF2-40B4-BE49-F238E27FC236}">
                <a16:creationId xmlns:a16="http://schemas.microsoft.com/office/drawing/2014/main" id="{29F3A65F-970B-1FFC-3398-63C20DE29C26}"/>
              </a:ext>
            </a:extLst>
          </p:cNvPr>
          <p:cNvPicPr>
            <a:picLocks noChangeAspect="1"/>
          </p:cNvPicPr>
          <p:nvPr/>
        </p:nvPicPr>
        <p:blipFill>
          <a:blip r:embed="rId4"/>
          <a:stretch>
            <a:fillRect/>
          </a:stretch>
        </p:blipFill>
        <p:spPr>
          <a:xfrm>
            <a:off x="2700033" y="1295929"/>
            <a:ext cx="3414245" cy="3075214"/>
          </a:xfrm>
          <a:prstGeom prst="rect">
            <a:avLst/>
          </a:prstGeom>
        </p:spPr>
      </p:pic>
      <p:sp>
        <p:nvSpPr>
          <p:cNvPr id="3" name="Text 1">
            <a:extLst>
              <a:ext uri="{FF2B5EF4-FFF2-40B4-BE49-F238E27FC236}">
                <a16:creationId xmlns:a16="http://schemas.microsoft.com/office/drawing/2014/main" id="{8A8538F9-9E47-E1D1-CD85-E14EDFC94C7E}"/>
              </a:ext>
            </a:extLst>
          </p:cNvPr>
          <p:cNvSpPr/>
          <p:nvPr/>
        </p:nvSpPr>
        <p:spPr>
          <a:xfrm>
            <a:off x="3706923" y="992641"/>
            <a:ext cx="1400464" cy="205184"/>
          </a:xfrm>
          <a:prstGeom prst="rect">
            <a:avLst/>
          </a:prstGeom>
          <a:noFill/>
          <a:ln/>
        </p:spPr>
        <p:txBody>
          <a:bodyPr wrap="square" lIns="0" tIns="0" rIns="0" bIns="0" rtlCol="0" anchor="t">
            <a:spAutoFit/>
          </a:bodyPr>
          <a:lstStyle/>
          <a:p>
            <a:pPr>
              <a:lnSpc>
                <a:spcPts val="1600"/>
              </a:lnSpc>
            </a:pPr>
            <a:r>
              <a:rPr lang="en-US" sz="1400" b="1" dirty="0">
                <a:solidFill>
                  <a:srgbClr val="1A1A1A"/>
                </a:solidFill>
                <a:latin typeface="Montserrat" pitchFamily="2" charset="0"/>
              </a:rPr>
              <a:t>Code example:</a:t>
            </a:r>
            <a:endParaRPr lang="en-US" sz="1400" dirty="0">
              <a:solidFill>
                <a:srgbClr val="1A1A1A"/>
              </a:solidFill>
              <a:latin typeface="Montserrat" pitchFamily="2" charset="0"/>
            </a:endParaRPr>
          </a:p>
        </p:txBody>
      </p:sp>
    </p:spTree>
    <p:extLst>
      <p:ext uri="{BB962C8B-B14F-4D97-AF65-F5344CB8AC3E}">
        <p14:creationId xmlns:p14="http://schemas.microsoft.com/office/powerpoint/2010/main" val="659567659"/>
      </p:ext>
    </p:extLst>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9F40F-5367-F8E0-E0CD-4D91F4559D2F}"/>
            </a:ext>
          </a:extLst>
        </p:cNvPr>
        <p:cNvGrpSpPr/>
        <p:nvPr/>
      </p:nvGrpSpPr>
      <p:grpSpPr>
        <a:xfrm>
          <a:off x="0" y="0"/>
          <a:ext cx="0" cy="0"/>
          <a:chOff x="0" y="0"/>
          <a:chExt cx="0" cy="0"/>
        </a:xfrm>
      </p:grpSpPr>
      <p:pic>
        <p:nvPicPr>
          <p:cNvPr id="10" name="Imagem 9" descr="Uma imagem contendo Interface gráfica do usuário&#10;&#10;O conteúdo gerado por IA pode estar incorreto.">
            <a:extLst>
              <a:ext uri="{FF2B5EF4-FFF2-40B4-BE49-F238E27FC236}">
                <a16:creationId xmlns:a16="http://schemas.microsoft.com/office/drawing/2014/main" id="{00A498EE-E630-A560-73B9-8C64A31760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pic>
        <p:nvPicPr>
          <p:cNvPr id="7" name="Imagem 6" descr="Gráfico&#10;&#10;O conteúdo gerado por IA pode estar incorreto.">
            <a:extLst>
              <a:ext uri="{FF2B5EF4-FFF2-40B4-BE49-F238E27FC236}">
                <a16:creationId xmlns:a16="http://schemas.microsoft.com/office/drawing/2014/main" id="{B4EEC53C-93B7-8AC7-3AD2-13ABBF46A756}"/>
              </a:ext>
            </a:extLst>
          </p:cNvPr>
          <p:cNvPicPr>
            <a:picLocks noChangeAspect="1"/>
          </p:cNvPicPr>
          <p:nvPr/>
        </p:nvPicPr>
        <p:blipFill>
          <a:blip r:embed="rId4"/>
          <a:stretch>
            <a:fillRect/>
          </a:stretch>
        </p:blipFill>
        <p:spPr>
          <a:xfrm>
            <a:off x="599033" y="1471900"/>
            <a:ext cx="7818502" cy="2564522"/>
          </a:xfrm>
          <a:prstGeom prst="rect">
            <a:avLst/>
          </a:prstGeom>
        </p:spPr>
      </p:pic>
      <p:sp>
        <p:nvSpPr>
          <p:cNvPr id="2" name="Text 0">
            <a:extLst>
              <a:ext uri="{FF2B5EF4-FFF2-40B4-BE49-F238E27FC236}">
                <a16:creationId xmlns:a16="http://schemas.microsoft.com/office/drawing/2014/main" id="{48A7AFBD-D49F-079A-2544-721BBC6D3E60}"/>
              </a:ext>
            </a:extLst>
          </p:cNvPr>
          <p:cNvSpPr/>
          <p:nvPr/>
        </p:nvSpPr>
        <p:spPr>
          <a:xfrm>
            <a:off x="285751" y="324744"/>
            <a:ext cx="4927631"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LINEAR INTERPOLATION APPROACH</a:t>
            </a:r>
          </a:p>
        </p:txBody>
      </p:sp>
    </p:spTree>
    <p:extLst>
      <p:ext uri="{BB962C8B-B14F-4D97-AF65-F5344CB8AC3E}">
        <p14:creationId xmlns:p14="http://schemas.microsoft.com/office/powerpoint/2010/main" val="600106564"/>
      </p:ext>
    </p:extLst>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41013-196B-4187-CD00-2A0887CBCE90}"/>
            </a:ext>
          </a:extLst>
        </p:cNvPr>
        <p:cNvGrpSpPr/>
        <p:nvPr/>
      </p:nvGrpSpPr>
      <p:grpSpPr>
        <a:xfrm>
          <a:off x="0" y="0"/>
          <a:ext cx="0" cy="0"/>
          <a:chOff x="0" y="0"/>
          <a:chExt cx="0" cy="0"/>
        </a:xfrm>
      </p:grpSpPr>
      <p:sp>
        <p:nvSpPr>
          <p:cNvPr id="35" name="Text 0">
            <a:extLst>
              <a:ext uri="{FF2B5EF4-FFF2-40B4-BE49-F238E27FC236}">
                <a16:creationId xmlns:a16="http://schemas.microsoft.com/office/drawing/2014/main" id="{6796F88A-1DAD-C385-6F83-FAB8DDDC5E97}"/>
              </a:ext>
            </a:extLst>
          </p:cNvPr>
          <p:cNvSpPr/>
          <p:nvPr/>
        </p:nvSpPr>
        <p:spPr>
          <a:xfrm>
            <a:off x="285751" y="324744"/>
            <a:ext cx="3399970"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CLASSIC DSP APPROACH</a:t>
            </a:r>
          </a:p>
        </p:txBody>
      </p:sp>
      <p:pic>
        <p:nvPicPr>
          <p:cNvPr id="10" name="Imagem 9" descr="Uma imagem contendo Interface gráfica do usuário&#10;&#10;O conteúdo gerado por IA pode estar incorreto.">
            <a:extLst>
              <a:ext uri="{FF2B5EF4-FFF2-40B4-BE49-F238E27FC236}">
                <a16:creationId xmlns:a16="http://schemas.microsoft.com/office/drawing/2014/main" id="{E25712E9-411D-9355-BCF3-DE54CCA7F8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sp>
        <p:nvSpPr>
          <p:cNvPr id="8" name="CaixaDeTexto 7">
            <a:extLst>
              <a:ext uri="{FF2B5EF4-FFF2-40B4-BE49-F238E27FC236}">
                <a16:creationId xmlns:a16="http://schemas.microsoft.com/office/drawing/2014/main" id="{EBDCFAC3-BC1C-96AB-6996-CB1FC43FD39D}"/>
              </a:ext>
            </a:extLst>
          </p:cNvPr>
          <p:cNvSpPr txBox="1"/>
          <p:nvPr/>
        </p:nvSpPr>
        <p:spPr>
          <a:xfrm>
            <a:off x="316592" y="4729372"/>
            <a:ext cx="4007213" cy="265201"/>
          </a:xfrm>
          <a:prstGeom prst="rect">
            <a:avLst/>
          </a:prstGeom>
          <a:noFill/>
        </p:spPr>
        <p:txBody>
          <a:bodyPr wrap="square">
            <a:spAutoFit/>
          </a:bodyPr>
          <a:lstStyle/>
          <a:p>
            <a:pPr>
              <a:lnSpc>
                <a:spcPts val="1600"/>
              </a:lnSpc>
            </a:pPr>
            <a:r>
              <a:rPr lang="en-US" sz="600" b="1" dirty="0">
                <a:solidFill>
                  <a:srgbClr val="1A1A1A"/>
                </a:solidFill>
                <a:latin typeface="Montserrat" pitchFamily="2" charset="0"/>
              </a:rPr>
              <a:t>Obs.: </a:t>
            </a:r>
            <a:r>
              <a:rPr lang="en-US" sz="600" dirty="0">
                <a:solidFill>
                  <a:srgbClr val="1A1A1A"/>
                </a:solidFill>
                <a:latin typeface="Montserrat" pitchFamily="2" charset="0"/>
              </a:rPr>
              <a:t>Reference book: Discrete-time signal processing by </a:t>
            </a:r>
            <a:r>
              <a:rPr lang="de-DE" sz="600" dirty="0">
                <a:solidFill>
                  <a:srgbClr val="1A1A1A"/>
                </a:solidFill>
                <a:latin typeface="Montserrat" pitchFamily="2" charset="0"/>
              </a:rPr>
              <a:t>Alan V. Oppenheim, Ronald W. Schafer</a:t>
            </a:r>
            <a:endParaRPr lang="en-US" sz="600" dirty="0">
              <a:solidFill>
                <a:srgbClr val="1A1A1A"/>
              </a:solidFill>
              <a:latin typeface="Montserrat" pitchFamily="2" charset="0"/>
            </a:endParaRPr>
          </a:p>
        </p:txBody>
      </p:sp>
      <p:pic>
        <p:nvPicPr>
          <p:cNvPr id="16" name="Imagem 15" descr="Texto, Carta&#10;&#10;O conteúdo gerado por IA pode estar incorreto.">
            <a:extLst>
              <a:ext uri="{FF2B5EF4-FFF2-40B4-BE49-F238E27FC236}">
                <a16:creationId xmlns:a16="http://schemas.microsoft.com/office/drawing/2014/main" id="{A362A65D-6E6E-EC6E-3CBC-E3F4A2C1097E}"/>
              </a:ext>
            </a:extLst>
          </p:cNvPr>
          <p:cNvPicPr>
            <a:picLocks noChangeAspect="1"/>
          </p:cNvPicPr>
          <p:nvPr/>
        </p:nvPicPr>
        <p:blipFill>
          <a:blip r:embed="rId4"/>
          <a:srcRect l="8609" t="19124" r="8837" b="16541"/>
          <a:stretch>
            <a:fillRect/>
          </a:stretch>
        </p:blipFill>
        <p:spPr>
          <a:xfrm>
            <a:off x="316592" y="841640"/>
            <a:ext cx="2492383" cy="578740"/>
          </a:xfrm>
          <a:prstGeom prst="rect">
            <a:avLst/>
          </a:prstGeom>
        </p:spPr>
      </p:pic>
      <p:pic>
        <p:nvPicPr>
          <p:cNvPr id="18" name="Imagem 17" descr="Diagrama&#10;&#10;O conteúdo gerado por IA pode estar incorreto.">
            <a:extLst>
              <a:ext uri="{FF2B5EF4-FFF2-40B4-BE49-F238E27FC236}">
                <a16:creationId xmlns:a16="http://schemas.microsoft.com/office/drawing/2014/main" id="{2F74F69F-DBD0-286A-2150-274350733CE8}"/>
              </a:ext>
            </a:extLst>
          </p:cNvPr>
          <p:cNvPicPr>
            <a:picLocks noChangeAspect="1"/>
          </p:cNvPicPr>
          <p:nvPr/>
        </p:nvPicPr>
        <p:blipFill>
          <a:blip r:embed="rId5"/>
          <a:srcRect l="12413" t="24883" r="6671" b="14118"/>
          <a:stretch>
            <a:fillRect/>
          </a:stretch>
        </p:blipFill>
        <p:spPr>
          <a:xfrm>
            <a:off x="316592" y="1523942"/>
            <a:ext cx="2237657" cy="694367"/>
          </a:xfrm>
          <a:prstGeom prst="rect">
            <a:avLst/>
          </a:prstGeom>
        </p:spPr>
      </p:pic>
      <p:pic>
        <p:nvPicPr>
          <p:cNvPr id="20" name="Imagem 19" descr="Texto&#10;&#10;O conteúdo gerado por IA pode estar incorreto.">
            <a:extLst>
              <a:ext uri="{FF2B5EF4-FFF2-40B4-BE49-F238E27FC236}">
                <a16:creationId xmlns:a16="http://schemas.microsoft.com/office/drawing/2014/main" id="{42568409-38D1-3464-7F1A-0E126A3DE3D4}"/>
              </a:ext>
            </a:extLst>
          </p:cNvPr>
          <p:cNvPicPr>
            <a:picLocks noChangeAspect="1"/>
          </p:cNvPicPr>
          <p:nvPr/>
        </p:nvPicPr>
        <p:blipFill>
          <a:blip r:embed="rId6"/>
          <a:srcRect l="4642" t="20928" r="5729" b="20909"/>
          <a:stretch>
            <a:fillRect/>
          </a:stretch>
        </p:blipFill>
        <p:spPr>
          <a:xfrm>
            <a:off x="316592" y="2321871"/>
            <a:ext cx="2446663" cy="389442"/>
          </a:xfrm>
          <a:prstGeom prst="rect">
            <a:avLst/>
          </a:prstGeom>
        </p:spPr>
      </p:pic>
      <mc:AlternateContent xmlns:mc="http://schemas.openxmlformats.org/markup-compatibility/2006">
        <mc:Choice xmlns:a14="http://schemas.microsoft.com/office/drawing/2010/main" Requires="a14">
          <p:sp>
            <p:nvSpPr>
              <p:cNvPr id="24" name="CaixaDeTexto 23">
                <a:extLst>
                  <a:ext uri="{FF2B5EF4-FFF2-40B4-BE49-F238E27FC236}">
                    <a16:creationId xmlns:a16="http://schemas.microsoft.com/office/drawing/2014/main" id="{E0DACE27-D454-88EC-E3A9-B8F27AF52E17}"/>
                  </a:ext>
                </a:extLst>
              </p:cNvPr>
              <p:cNvSpPr txBox="1"/>
              <p:nvPr/>
            </p:nvSpPr>
            <p:spPr>
              <a:xfrm>
                <a:off x="316591" y="2815335"/>
                <a:ext cx="8172089" cy="707886"/>
              </a:xfrm>
              <a:prstGeom prst="rect">
                <a:avLst/>
              </a:prstGeom>
              <a:noFill/>
            </p:spPr>
            <p:txBody>
              <a:bodyPr wrap="square">
                <a:spAutoFit/>
              </a:bodyPr>
              <a:lstStyle/>
              <a:p>
                <a:pPr>
                  <a:buFont typeface="Arial" panose="020B0604020202020204" pitchFamily="34" charset="0"/>
                  <a:buChar char="•"/>
                </a:pPr>
                <a:r>
                  <a:rPr lang="pt-BR" sz="1000" b="0" dirty="0">
                    <a:solidFill>
                      <a:schemeClr val="tx1"/>
                    </a:solidFill>
                    <a:effectLst/>
                  </a:rPr>
                  <a:t> </a:t>
                </a:r>
                <a14:m>
                  <m:oMath xmlns:m="http://schemas.openxmlformats.org/officeDocument/2006/math">
                    <m:sSub>
                      <m:sSubPr>
                        <m:ctrlPr>
                          <a:rPr lang="pt-BR" sz="1000" b="0" i="1" dirty="0" smtClean="0">
                            <a:solidFill>
                              <a:schemeClr val="tx1"/>
                            </a:solidFill>
                            <a:effectLst/>
                            <a:latin typeface="Cambria Math" panose="02040503050406030204" pitchFamily="18" charset="0"/>
                          </a:rPr>
                        </m:ctrlPr>
                      </m:sSubPr>
                      <m:e>
                        <m:r>
                          <a:rPr lang="en-US" sz="1000" b="0" i="1" dirty="0" smtClean="0">
                            <a:solidFill>
                              <a:schemeClr val="tx1"/>
                            </a:solidFill>
                            <a:effectLst/>
                            <a:latin typeface="Cambria Math" panose="02040503050406030204" pitchFamily="18" charset="0"/>
                          </a:rPr>
                          <m:t>𝑋</m:t>
                        </m:r>
                      </m:e>
                      <m:sub>
                        <m:r>
                          <a:rPr lang="en-US" sz="1000" b="0" i="1" dirty="0" smtClean="0">
                            <a:solidFill>
                              <a:schemeClr val="tx1"/>
                            </a:solidFill>
                            <a:effectLst/>
                            <a:latin typeface="Cambria Math" panose="02040503050406030204" pitchFamily="18" charset="0"/>
                          </a:rPr>
                          <m:t>𝑚</m:t>
                        </m:r>
                      </m:sub>
                    </m:sSub>
                  </m:oMath>
                </a14:m>
                <a:r>
                  <a:rPr lang="pt-BR" sz="1000" b="0" i="0" dirty="0">
                    <a:solidFill>
                      <a:schemeClr val="tx1"/>
                    </a:solidFill>
                    <a:effectLst/>
                    <a:latin typeface="Montserrat" pitchFamily="2" charset="0"/>
                  </a:rPr>
                  <a:t>: </a:t>
                </a:r>
                <a:r>
                  <a:rPr lang="en-US" sz="1000" dirty="0">
                    <a:latin typeface="Montserrat" pitchFamily="2" charset="0"/>
                  </a:rPr>
                  <a:t>It represents the maximum amplitude of the signal (it is generally assumed that the signal ranges from</a:t>
                </a:r>
                <a:r>
                  <a:rPr lang="pt-BR" sz="1000" dirty="0"/>
                  <a:t> </a:t>
                </a:r>
                <a14:m>
                  <m:oMath xmlns:m="http://schemas.openxmlformats.org/officeDocument/2006/math">
                    <m:sSub>
                      <m:sSubPr>
                        <m:ctrlPr>
                          <a:rPr lang="pt-BR" sz="1000" i="1" dirty="0">
                            <a:latin typeface="Cambria Math" panose="02040503050406030204" pitchFamily="18" charset="0"/>
                          </a:rPr>
                        </m:ctrlPr>
                      </m:sSubPr>
                      <m:e>
                        <m:r>
                          <a:rPr lang="en-US" sz="1000" b="0" i="1" dirty="0" smtClean="0">
                            <a:latin typeface="Cambria Math" panose="02040503050406030204" pitchFamily="18" charset="0"/>
                          </a:rPr>
                          <m:t>−</m:t>
                        </m:r>
                        <m:r>
                          <a:rPr lang="en-US" sz="1000" i="1" dirty="0">
                            <a:latin typeface="Cambria Math" panose="02040503050406030204" pitchFamily="18" charset="0"/>
                          </a:rPr>
                          <m:t>𝑋</m:t>
                        </m:r>
                      </m:e>
                      <m:sub>
                        <m:r>
                          <a:rPr lang="en-US" sz="1000" i="1" dirty="0">
                            <a:latin typeface="Cambria Math" panose="02040503050406030204" pitchFamily="18" charset="0"/>
                          </a:rPr>
                          <m:t>𝑚</m:t>
                        </m:r>
                      </m:sub>
                    </m:sSub>
                  </m:oMath>
                </a14:m>
                <a:r>
                  <a:rPr lang="en-US" sz="1000" dirty="0">
                    <a:latin typeface="Montserrat" pitchFamily="2" charset="0"/>
                  </a:rPr>
                  <a:t> to </a:t>
                </a:r>
                <a14:m>
                  <m:oMath xmlns:m="http://schemas.openxmlformats.org/officeDocument/2006/math">
                    <m:sSub>
                      <m:sSubPr>
                        <m:ctrlPr>
                          <a:rPr lang="pt-BR" sz="1000" i="1" dirty="0">
                            <a:latin typeface="Cambria Math" panose="02040503050406030204" pitchFamily="18" charset="0"/>
                          </a:rPr>
                        </m:ctrlPr>
                      </m:sSubPr>
                      <m:e>
                        <m:r>
                          <a:rPr lang="en-US" sz="1000" b="0" i="1" dirty="0" smtClean="0">
                            <a:latin typeface="Cambria Math" panose="02040503050406030204" pitchFamily="18" charset="0"/>
                          </a:rPr>
                          <m:t>+</m:t>
                        </m:r>
                        <m:r>
                          <a:rPr lang="en-US" sz="1000" i="1" dirty="0">
                            <a:latin typeface="Cambria Math" panose="02040503050406030204" pitchFamily="18" charset="0"/>
                          </a:rPr>
                          <m:t>𝑋</m:t>
                        </m:r>
                      </m:e>
                      <m:sub>
                        <m:r>
                          <a:rPr lang="en-US" sz="1000" i="1" dirty="0">
                            <a:latin typeface="Cambria Math" panose="02040503050406030204" pitchFamily="18" charset="0"/>
                          </a:rPr>
                          <m:t>𝑚</m:t>
                        </m:r>
                      </m:sub>
                    </m:sSub>
                  </m:oMath>
                </a14:m>
                <a:r>
                  <a:rPr lang="en-US" sz="1000" dirty="0">
                    <a:latin typeface="Montserrat" pitchFamily="2" charset="0"/>
                  </a:rPr>
                  <a:t>)</a:t>
                </a:r>
              </a:p>
              <a:p>
                <a:pPr>
                  <a:buFont typeface="Arial" panose="020B0604020202020204" pitchFamily="34" charset="0"/>
                  <a:buChar char="•"/>
                </a:pPr>
                <a:r>
                  <a:rPr lang="en-US" sz="1000" dirty="0">
                    <a:solidFill>
                      <a:schemeClr val="tx1"/>
                    </a:solidFill>
                  </a:rPr>
                  <a:t> </a:t>
                </a:r>
                <a14:m>
                  <m:oMath xmlns:m="http://schemas.openxmlformats.org/officeDocument/2006/math">
                    <m:d>
                      <m:dPr>
                        <m:begChr m:val="⌊"/>
                        <m:endChr m:val="⌋"/>
                        <m:ctrlPr>
                          <a:rPr lang="ar-AE" sz="1000" i="1">
                            <a:solidFill>
                              <a:schemeClr val="tx1"/>
                            </a:solidFill>
                            <a:latin typeface="Cambria Math" panose="02040503050406030204" pitchFamily="18" charset="0"/>
                          </a:rPr>
                        </m:ctrlPr>
                      </m:dPr>
                      <m:e>
                        <m:r>
                          <a:rPr lang="ar-AE" sz="1000">
                            <a:solidFill>
                              <a:schemeClr val="tx1"/>
                            </a:solidFill>
                            <a:latin typeface="Cambria Math" panose="02040503050406030204" pitchFamily="18" charset="0"/>
                          </a:rPr>
                          <m:t>…</m:t>
                        </m:r>
                      </m:e>
                    </m:d>
                  </m:oMath>
                </a14:m>
                <a:r>
                  <a:rPr lang="ar-AE" sz="1000" b="0" i="0" dirty="0">
                    <a:solidFill>
                      <a:schemeClr val="tx1"/>
                    </a:solidFill>
                    <a:effectLst/>
                    <a:latin typeface="Montserrat" pitchFamily="2" charset="0"/>
                  </a:rPr>
                  <a:t>: </a:t>
                </a:r>
                <a:r>
                  <a:rPr lang="en-US" sz="1000" b="0" i="0" dirty="0">
                    <a:solidFill>
                      <a:schemeClr val="tx1"/>
                    </a:solidFill>
                    <a:effectLst/>
                    <a:latin typeface="Montserrat" pitchFamily="2" charset="0"/>
                  </a:rPr>
                  <a:t> </a:t>
                </a:r>
                <a:r>
                  <a:rPr lang="en-US" sz="1000" dirty="0">
                    <a:latin typeface="Montserrat" pitchFamily="2" charset="0"/>
                  </a:rPr>
                  <a:t>The floor function, which rounds down (used here together with to simulate rounding)</a:t>
                </a:r>
                <a:endParaRPr lang="pt-BR" sz="1000" b="0" i="0" dirty="0">
                  <a:solidFill>
                    <a:schemeClr val="tx1"/>
                  </a:solidFill>
                  <a:effectLst/>
                  <a:latin typeface="Montserrat" pitchFamily="2" charset="0"/>
                </a:endParaRPr>
              </a:p>
              <a:p>
                <a:pPr>
                  <a:buFont typeface="Arial" panose="020B0604020202020204" pitchFamily="34" charset="0"/>
                  <a:buChar char="•"/>
                </a:pPr>
                <a:r>
                  <a:rPr lang="pt-BR" sz="1000" b="0" i="1" dirty="0">
                    <a:solidFill>
                      <a:schemeClr val="tx1"/>
                    </a:solidFill>
                    <a:effectLst/>
                    <a:latin typeface="Montserrat" pitchFamily="2" charset="0"/>
                  </a:rPr>
                  <a:t> e(n)</a:t>
                </a:r>
                <a:r>
                  <a:rPr lang="pt-BR" sz="1000" b="0" i="0" dirty="0">
                    <a:solidFill>
                      <a:schemeClr val="tx1"/>
                    </a:solidFill>
                    <a:effectLst/>
                    <a:latin typeface="Montserrat" pitchFamily="2" charset="0"/>
                  </a:rPr>
                  <a:t>: </a:t>
                </a:r>
                <a:r>
                  <a:rPr lang="en-US" sz="1000" dirty="0">
                    <a:latin typeface="Montserrat" pitchFamily="2" charset="0"/>
                  </a:rPr>
                  <a:t>Quantization error (or noise); the difference between the real signal and the quantized signal</a:t>
                </a:r>
                <a:endParaRPr lang="pt-BR" sz="1000" b="0" i="0" dirty="0">
                  <a:solidFill>
                    <a:schemeClr val="tx1"/>
                  </a:solidFill>
                  <a:effectLst/>
                  <a:latin typeface="Montserrat" pitchFamily="2" charset="0"/>
                </a:endParaRPr>
              </a:p>
              <a:p>
                <a:pPr>
                  <a:buFont typeface="Arial" panose="020B0604020202020204" pitchFamily="34" charset="0"/>
                  <a:buChar char="•"/>
                </a:pPr>
                <a:r>
                  <a:rPr lang="pt-BR" sz="1000" b="0" i="1" dirty="0">
                    <a:solidFill>
                      <a:schemeClr val="tx1"/>
                    </a:solidFill>
                    <a:effectLst/>
                    <a:latin typeface="Montserrat" pitchFamily="2" charset="0"/>
                  </a:rPr>
                  <a:t> x[n]</a:t>
                </a:r>
                <a:r>
                  <a:rPr lang="pt-BR" sz="1000" b="0" i="0" dirty="0">
                    <a:solidFill>
                      <a:schemeClr val="tx1"/>
                    </a:solidFill>
                    <a:effectLst/>
                    <a:latin typeface="Montserrat" pitchFamily="2" charset="0"/>
                  </a:rPr>
                  <a:t>: </a:t>
                </a:r>
                <a:r>
                  <a:rPr lang="en-US" sz="1000" dirty="0">
                    <a:latin typeface="Montserrat" pitchFamily="2" charset="0"/>
                  </a:rPr>
                  <a:t>Sample of the original signal in discrete time</a:t>
                </a:r>
                <a:endParaRPr lang="pt-BR" sz="1000" b="0" i="0" dirty="0">
                  <a:solidFill>
                    <a:schemeClr val="tx1"/>
                  </a:solidFill>
                  <a:effectLst/>
                  <a:latin typeface="Montserrat" pitchFamily="2" charset="0"/>
                </a:endParaRPr>
              </a:p>
            </p:txBody>
          </p:sp>
        </mc:Choice>
        <mc:Fallback>
          <p:sp>
            <p:nvSpPr>
              <p:cNvPr id="24" name="CaixaDeTexto 23">
                <a:extLst>
                  <a:ext uri="{FF2B5EF4-FFF2-40B4-BE49-F238E27FC236}">
                    <a16:creationId xmlns:a16="http://schemas.microsoft.com/office/drawing/2014/main" id="{E0DACE27-D454-88EC-E3A9-B8F27AF52E17}"/>
                  </a:ext>
                </a:extLst>
              </p:cNvPr>
              <p:cNvSpPr txBox="1">
                <a:spLocks noRot="1" noChangeAspect="1" noMove="1" noResize="1" noEditPoints="1" noAdjustHandles="1" noChangeArrowheads="1" noChangeShapeType="1" noTextEdit="1"/>
              </p:cNvSpPr>
              <p:nvPr/>
            </p:nvSpPr>
            <p:spPr>
              <a:xfrm>
                <a:off x="316591" y="2815335"/>
                <a:ext cx="8172089" cy="707886"/>
              </a:xfrm>
              <a:prstGeom prst="rect">
                <a:avLst/>
              </a:prstGeom>
              <a:blipFill>
                <a:blip r:embed="rId7"/>
                <a:stretch>
                  <a:fillRect b="-3448"/>
                </a:stretch>
              </a:blipFill>
            </p:spPr>
            <p:txBody>
              <a:bodyPr/>
              <a:lstStyle/>
              <a:p>
                <a:r>
                  <a:rPr lang="pt-BR">
                    <a:noFill/>
                  </a:rPr>
                  <a:t> </a:t>
                </a:r>
              </a:p>
            </p:txBody>
          </p:sp>
        </mc:Fallback>
      </mc:AlternateContent>
    </p:spTree>
    <p:extLst>
      <p:ext uri="{BB962C8B-B14F-4D97-AF65-F5344CB8AC3E}">
        <p14:creationId xmlns:p14="http://schemas.microsoft.com/office/powerpoint/2010/main" val="2929389824"/>
      </p:ext>
    </p:extLst>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EE829-DFA0-78EA-E4C1-7096BBC60856}"/>
            </a:ext>
          </a:extLst>
        </p:cNvPr>
        <p:cNvGrpSpPr/>
        <p:nvPr/>
      </p:nvGrpSpPr>
      <p:grpSpPr>
        <a:xfrm>
          <a:off x="0" y="0"/>
          <a:ext cx="0" cy="0"/>
          <a:chOff x="0" y="0"/>
          <a:chExt cx="0" cy="0"/>
        </a:xfrm>
      </p:grpSpPr>
      <p:sp>
        <p:nvSpPr>
          <p:cNvPr id="35" name="Text 0">
            <a:extLst>
              <a:ext uri="{FF2B5EF4-FFF2-40B4-BE49-F238E27FC236}">
                <a16:creationId xmlns:a16="http://schemas.microsoft.com/office/drawing/2014/main" id="{70EB8DE9-24B2-E92C-D23B-55E1DCE220FA}"/>
              </a:ext>
            </a:extLst>
          </p:cNvPr>
          <p:cNvSpPr/>
          <p:nvPr/>
        </p:nvSpPr>
        <p:spPr>
          <a:xfrm>
            <a:off x="285751" y="324744"/>
            <a:ext cx="3399970"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CLASSIC DSP APPROACH</a:t>
            </a:r>
          </a:p>
        </p:txBody>
      </p:sp>
      <p:pic>
        <p:nvPicPr>
          <p:cNvPr id="10" name="Imagem 9" descr="Uma imagem contendo Interface gráfica do usuário&#10;&#10;O conteúdo gerado por IA pode estar incorreto.">
            <a:extLst>
              <a:ext uri="{FF2B5EF4-FFF2-40B4-BE49-F238E27FC236}">
                <a16:creationId xmlns:a16="http://schemas.microsoft.com/office/drawing/2014/main" id="{8EE51896-EF1A-8CD4-E138-CD2A3A1DF7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sp>
        <p:nvSpPr>
          <p:cNvPr id="3" name="Text 1">
            <a:extLst>
              <a:ext uri="{FF2B5EF4-FFF2-40B4-BE49-F238E27FC236}">
                <a16:creationId xmlns:a16="http://schemas.microsoft.com/office/drawing/2014/main" id="{7DACFACE-3DD9-8DCE-BD78-62765B1707CD}"/>
              </a:ext>
            </a:extLst>
          </p:cNvPr>
          <p:cNvSpPr/>
          <p:nvPr/>
        </p:nvSpPr>
        <p:spPr>
          <a:xfrm>
            <a:off x="3706923" y="992641"/>
            <a:ext cx="1400464" cy="205184"/>
          </a:xfrm>
          <a:prstGeom prst="rect">
            <a:avLst/>
          </a:prstGeom>
          <a:noFill/>
          <a:ln/>
        </p:spPr>
        <p:txBody>
          <a:bodyPr wrap="square" lIns="0" tIns="0" rIns="0" bIns="0" rtlCol="0" anchor="t">
            <a:spAutoFit/>
          </a:bodyPr>
          <a:lstStyle/>
          <a:p>
            <a:pPr>
              <a:lnSpc>
                <a:spcPts val="1600"/>
              </a:lnSpc>
            </a:pPr>
            <a:r>
              <a:rPr lang="en-US" sz="1400" b="1" dirty="0">
                <a:solidFill>
                  <a:srgbClr val="1A1A1A"/>
                </a:solidFill>
                <a:latin typeface="Montserrat" pitchFamily="2" charset="0"/>
              </a:rPr>
              <a:t>Code example:</a:t>
            </a:r>
            <a:endParaRPr lang="en-US" sz="1400" dirty="0">
              <a:solidFill>
                <a:srgbClr val="1A1A1A"/>
              </a:solidFill>
              <a:latin typeface="Montserrat" pitchFamily="2" charset="0"/>
            </a:endParaRPr>
          </a:p>
        </p:txBody>
      </p:sp>
      <p:pic>
        <p:nvPicPr>
          <p:cNvPr id="5" name="Imagem 4" descr="Texto&#10;&#10;O conteúdo gerado por IA pode estar incorreto.">
            <a:extLst>
              <a:ext uri="{FF2B5EF4-FFF2-40B4-BE49-F238E27FC236}">
                <a16:creationId xmlns:a16="http://schemas.microsoft.com/office/drawing/2014/main" id="{67E1576B-2FE2-88B5-3F3C-34C35309D9DD}"/>
              </a:ext>
            </a:extLst>
          </p:cNvPr>
          <p:cNvPicPr>
            <a:picLocks noChangeAspect="1"/>
          </p:cNvPicPr>
          <p:nvPr/>
        </p:nvPicPr>
        <p:blipFill>
          <a:blip r:embed="rId4"/>
          <a:stretch>
            <a:fillRect/>
          </a:stretch>
        </p:blipFill>
        <p:spPr>
          <a:xfrm>
            <a:off x="2809152" y="1294117"/>
            <a:ext cx="3196006" cy="3435255"/>
          </a:xfrm>
          <a:prstGeom prst="rect">
            <a:avLst/>
          </a:prstGeom>
        </p:spPr>
      </p:pic>
    </p:spTree>
    <p:extLst>
      <p:ext uri="{BB962C8B-B14F-4D97-AF65-F5344CB8AC3E}">
        <p14:creationId xmlns:p14="http://schemas.microsoft.com/office/powerpoint/2010/main" val="2585628856"/>
      </p:ext>
    </p:extLst>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5B989-4E94-9972-673E-2BF91273F94B}"/>
            </a:ext>
          </a:extLst>
        </p:cNvPr>
        <p:cNvGrpSpPr/>
        <p:nvPr/>
      </p:nvGrpSpPr>
      <p:grpSpPr>
        <a:xfrm>
          <a:off x="0" y="0"/>
          <a:ext cx="0" cy="0"/>
          <a:chOff x="0" y="0"/>
          <a:chExt cx="0" cy="0"/>
        </a:xfrm>
      </p:grpSpPr>
      <p:sp>
        <p:nvSpPr>
          <p:cNvPr id="35" name="Text 0">
            <a:extLst>
              <a:ext uri="{FF2B5EF4-FFF2-40B4-BE49-F238E27FC236}">
                <a16:creationId xmlns:a16="http://schemas.microsoft.com/office/drawing/2014/main" id="{E778013A-DEF2-63C5-9FDA-F9886B054F4B}"/>
              </a:ext>
            </a:extLst>
          </p:cNvPr>
          <p:cNvSpPr/>
          <p:nvPr/>
        </p:nvSpPr>
        <p:spPr>
          <a:xfrm>
            <a:off x="285751" y="324744"/>
            <a:ext cx="3399970"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CLASSIC DSP APPROACH</a:t>
            </a:r>
          </a:p>
        </p:txBody>
      </p:sp>
      <p:pic>
        <p:nvPicPr>
          <p:cNvPr id="10" name="Imagem 9" descr="Uma imagem contendo Interface gráfica do usuário&#10;&#10;O conteúdo gerado por IA pode estar incorreto.">
            <a:extLst>
              <a:ext uri="{FF2B5EF4-FFF2-40B4-BE49-F238E27FC236}">
                <a16:creationId xmlns:a16="http://schemas.microsoft.com/office/drawing/2014/main" id="{FA2F4CCE-FE4D-A6A5-CED0-240ECB2F1B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pic>
        <p:nvPicPr>
          <p:cNvPr id="5" name="Imagem 4" descr="Gráfico, Gráfico de linhas&#10;&#10;O conteúdo gerado por IA pode estar incorreto.">
            <a:extLst>
              <a:ext uri="{FF2B5EF4-FFF2-40B4-BE49-F238E27FC236}">
                <a16:creationId xmlns:a16="http://schemas.microsoft.com/office/drawing/2014/main" id="{75AF5CD5-FAC3-2CC6-9354-9C1A43EED079}"/>
              </a:ext>
            </a:extLst>
          </p:cNvPr>
          <p:cNvPicPr>
            <a:picLocks noChangeAspect="1"/>
          </p:cNvPicPr>
          <p:nvPr/>
        </p:nvPicPr>
        <p:blipFill>
          <a:blip r:embed="rId4"/>
          <a:stretch>
            <a:fillRect/>
          </a:stretch>
        </p:blipFill>
        <p:spPr>
          <a:xfrm>
            <a:off x="1648038" y="979715"/>
            <a:ext cx="5351533" cy="3555686"/>
          </a:xfrm>
          <a:prstGeom prst="rect">
            <a:avLst/>
          </a:prstGeom>
        </p:spPr>
      </p:pic>
    </p:spTree>
    <p:extLst>
      <p:ext uri="{BB962C8B-B14F-4D97-AF65-F5344CB8AC3E}">
        <p14:creationId xmlns:p14="http://schemas.microsoft.com/office/powerpoint/2010/main" val="770867383"/>
      </p:ext>
    </p:extLst>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AA5BE98-5CD9-EBE8-0F2E-0E4EBE17E011}"/>
              </a:ext>
            </a:extLst>
          </p:cNvPr>
          <p:cNvSpPr/>
          <p:nvPr/>
        </p:nvSpPr>
        <p:spPr>
          <a:xfrm>
            <a:off x="285751" y="324744"/>
            <a:ext cx="4403450"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MACHINE LEARNING APPROACH</a:t>
            </a:r>
          </a:p>
        </p:txBody>
      </p:sp>
      <p:sp>
        <p:nvSpPr>
          <p:cNvPr id="3" name="Text 1">
            <a:extLst>
              <a:ext uri="{FF2B5EF4-FFF2-40B4-BE49-F238E27FC236}">
                <a16:creationId xmlns:a16="http://schemas.microsoft.com/office/drawing/2014/main" id="{C9FE00F8-83EF-41CB-AFEF-7D651AB47EF1}"/>
              </a:ext>
            </a:extLst>
          </p:cNvPr>
          <p:cNvSpPr/>
          <p:nvPr/>
        </p:nvSpPr>
        <p:spPr>
          <a:xfrm>
            <a:off x="389147" y="1419949"/>
            <a:ext cx="7344064" cy="410369"/>
          </a:xfrm>
          <a:prstGeom prst="rect">
            <a:avLst/>
          </a:prstGeom>
          <a:noFill/>
          <a:ln/>
        </p:spPr>
        <p:txBody>
          <a:bodyPr wrap="square" lIns="0" tIns="0" rIns="0" bIns="0" rtlCol="0" anchor="t">
            <a:spAutoFit/>
          </a:bodyPr>
          <a:lstStyle/>
          <a:p>
            <a:pPr marL="171450" indent="-171450">
              <a:lnSpc>
                <a:spcPts val="1600"/>
              </a:lnSpc>
              <a:buFont typeface="Arial" panose="020B0604020202020204" pitchFamily="34" charset="0"/>
              <a:buChar char="•"/>
            </a:pPr>
            <a:r>
              <a:rPr lang="en-US" sz="1400" b="1" dirty="0">
                <a:solidFill>
                  <a:srgbClr val="1A1A1A"/>
                </a:solidFill>
                <a:latin typeface="Montserrat" pitchFamily="2" charset="0"/>
              </a:rPr>
              <a:t>The weights: </a:t>
            </a:r>
            <a:r>
              <a:rPr lang="en-US" sz="1400" dirty="0">
                <a:solidFill>
                  <a:srgbClr val="1A1A1A"/>
                </a:solidFill>
                <a:latin typeface="Montserrat" pitchFamily="2" charset="0"/>
              </a:rPr>
              <a:t>Neural network parameters</a:t>
            </a:r>
          </a:p>
          <a:p>
            <a:pPr marL="171450" indent="-171450">
              <a:lnSpc>
                <a:spcPts val="1600"/>
              </a:lnSpc>
              <a:buFont typeface="Arial" panose="020B0604020202020204" pitchFamily="34" charset="0"/>
              <a:buChar char="•"/>
            </a:pPr>
            <a:r>
              <a:rPr lang="en-US" sz="1400" b="1" dirty="0">
                <a:solidFill>
                  <a:srgbClr val="1A1A1A"/>
                </a:solidFill>
                <a:latin typeface="Montserrat" pitchFamily="2" charset="0"/>
              </a:rPr>
              <a:t>The activations: </a:t>
            </a:r>
            <a:r>
              <a:rPr lang="en-US" sz="1400" dirty="0">
                <a:solidFill>
                  <a:srgbClr val="1A1A1A"/>
                </a:solidFill>
                <a:latin typeface="Montserrat" pitchFamily="2" charset="0"/>
              </a:rPr>
              <a:t>Values that propagate through the layers of the neural network</a:t>
            </a:r>
          </a:p>
        </p:txBody>
      </p:sp>
      <p:sp>
        <p:nvSpPr>
          <p:cNvPr id="4" name="CaixaDeTexto 3">
            <a:extLst>
              <a:ext uri="{FF2B5EF4-FFF2-40B4-BE49-F238E27FC236}">
                <a16:creationId xmlns:a16="http://schemas.microsoft.com/office/drawing/2014/main" id="{D9A7F7EB-99DD-2C84-B159-CF64E56ADFB6}"/>
              </a:ext>
            </a:extLst>
          </p:cNvPr>
          <p:cNvSpPr txBox="1"/>
          <p:nvPr/>
        </p:nvSpPr>
        <p:spPr>
          <a:xfrm>
            <a:off x="285751" y="1088575"/>
            <a:ext cx="2127714" cy="303288"/>
          </a:xfrm>
          <a:prstGeom prst="rect">
            <a:avLst/>
          </a:prstGeom>
          <a:noFill/>
        </p:spPr>
        <p:txBody>
          <a:bodyPr wrap="square">
            <a:spAutoFit/>
          </a:bodyPr>
          <a:lstStyle/>
          <a:p>
            <a:pPr>
              <a:lnSpc>
                <a:spcPts val="1600"/>
              </a:lnSpc>
            </a:pPr>
            <a:r>
              <a:rPr lang="en-US" sz="1400" b="1" dirty="0">
                <a:solidFill>
                  <a:srgbClr val="1A1A1A"/>
                </a:solidFill>
                <a:latin typeface="Montserrat" pitchFamily="2" charset="0"/>
              </a:rPr>
              <a:t>You can quantize:</a:t>
            </a:r>
          </a:p>
        </p:txBody>
      </p:sp>
      <p:pic>
        <p:nvPicPr>
          <p:cNvPr id="2050" name="Picture 2" descr="Weights and Bias in a Neural Network | TDS Archive">
            <a:extLst>
              <a:ext uri="{FF2B5EF4-FFF2-40B4-BE49-F238E27FC236}">
                <a16:creationId xmlns:a16="http://schemas.microsoft.com/office/drawing/2014/main" id="{BF659862-6360-E371-CD2D-AA45A6F7557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15" t="6370" r="10492" b="13257"/>
          <a:stretch>
            <a:fillRect/>
          </a:stretch>
        </p:blipFill>
        <p:spPr bwMode="auto">
          <a:xfrm>
            <a:off x="1876416" y="2293305"/>
            <a:ext cx="4369525" cy="2039755"/>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m 6" descr="Uma imagem contendo Interface gráfica do usuário&#10;&#10;O conteúdo gerado por IA pode estar incorreto.">
            <a:extLst>
              <a:ext uri="{FF2B5EF4-FFF2-40B4-BE49-F238E27FC236}">
                <a16:creationId xmlns:a16="http://schemas.microsoft.com/office/drawing/2014/main" id="{D5E9875A-EFBA-71E4-2E82-D56B3272D7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spTree>
    <p:extLst>
      <p:ext uri="{BB962C8B-B14F-4D97-AF65-F5344CB8AC3E}">
        <p14:creationId xmlns:p14="http://schemas.microsoft.com/office/powerpoint/2010/main" val="1209754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61F03-3606-5A3F-1442-CD226183F8D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4F2E15C-A9DD-503E-D62C-CBE6DA8FEE2A}"/>
              </a:ext>
            </a:extLst>
          </p:cNvPr>
          <p:cNvSpPr/>
          <p:nvPr/>
        </p:nvSpPr>
        <p:spPr>
          <a:xfrm>
            <a:off x="285751" y="324744"/>
            <a:ext cx="4531690"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LINEAR QUANTIZATION EXAMPLE</a:t>
            </a:r>
          </a:p>
        </p:txBody>
      </p:sp>
      <p:pic>
        <p:nvPicPr>
          <p:cNvPr id="3" name="Imagem 2" descr="Uma imagem contendo Interface gráfica do usuário&#10;&#10;O conteúdo gerado por IA pode estar incorreto.">
            <a:extLst>
              <a:ext uri="{FF2B5EF4-FFF2-40B4-BE49-F238E27FC236}">
                <a16:creationId xmlns:a16="http://schemas.microsoft.com/office/drawing/2014/main" id="{1C89882A-847C-AD65-A8DA-A99D7EC3FD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sp>
        <p:nvSpPr>
          <p:cNvPr id="4" name="Text 1">
            <a:extLst>
              <a:ext uri="{FF2B5EF4-FFF2-40B4-BE49-F238E27FC236}">
                <a16:creationId xmlns:a16="http://schemas.microsoft.com/office/drawing/2014/main" id="{833A1D32-C89E-5FD0-5A04-C889E3174A2A}"/>
              </a:ext>
            </a:extLst>
          </p:cNvPr>
          <p:cNvSpPr/>
          <p:nvPr/>
        </p:nvSpPr>
        <p:spPr>
          <a:xfrm>
            <a:off x="2336409" y="1194717"/>
            <a:ext cx="4471181" cy="410369"/>
          </a:xfrm>
          <a:prstGeom prst="rect">
            <a:avLst/>
          </a:prstGeom>
          <a:noFill/>
          <a:ln/>
        </p:spPr>
        <p:txBody>
          <a:bodyPr wrap="square" lIns="0" tIns="0" rIns="0" bIns="0" rtlCol="0" anchor="t">
            <a:spAutoFit/>
          </a:bodyPr>
          <a:lstStyle/>
          <a:p>
            <a:pPr algn="ctr">
              <a:lnSpc>
                <a:spcPts val="1600"/>
              </a:lnSpc>
            </a:pPr>
            <a:r>
              <a:rPr lang="en-US" sz="1400" dirty="0">
                <a:solidFill>
                  <a:srgbClr val="1A1A1A"/>
                </a:solidFill>
                <a:latin typeface="Montserrat" pitchFamily="2" charset="0"/>
              </a:rPr>
              <a:t>8-bit quantization: map values that are stores in torch.float32 to torch.int8 (e.g. between [-128,127])</a:t>
            </a:r>
          </a:p>
        </p:txBody>
      </p:sp>
      <p:pic>
        <p:nvPicPr>
          <p:cNvPr id="7" name="Imagem 6" descr="Tabela&#10;&#10;O conteúdo gerado por IA pode estar incorreto.">
            <a:extLst>
              <a:ext uri="{FF2B5EF4-FFF2-40B4-BE49-F238E27FC236}">
                <a16:creationId xmlns:a16="http://schemas.microsoft.com/office/drawing/2014/main" id="{70170335-7918-D40E-66D1-D1A40018D5D9}"/>
              </a:ext>
            </a:extLst>
          </p:cNvPr>
          <p:cNvPicPr>
            <a:picLocks noChangeAspect="1"/>
          </p:cNvPicPr>
          <p:nvPr/>
        </p:nvPicPr>
        <p:blipFill>
          <a:blip r:embed="rId3"/>
          <a:stretch>
            <a:fillRect/>
          </a:stretch>
        </p:blipFill>
        <p:spPr>
          <a:xfrm>
            <a:off x="2752312" y="1800735"/>
            <a:ext cx="3906177" cy="1702171"/>
          </a:xfrm>
          <a:prstGeom prst="rect">
            <a:avLst/>
          </a:prstGeom>
        </p:spPr>
      </p:pic>
      <p:sp>
        <p:nvSpPr>
          <p:cNvPr id="9" name="Text 1">
            <a:extLst>
              <a:ext uri="{FF2B5EF4-FFF2-40B4-BE49-F238E27FC236}">
                <a16:creationId xmlns:a16="http://schemas.microsoft.com/office/drawing/2014/main" id="{E0C005BF-3C6A-01DE-CD19-EAC7E8A67DD5}"/>
              </a:ext>
            </a:extLst>
          </p:cNvPr>
          <p:cNvSpPr/>
          <p:nvPr/>
        </p:nvSpPr>
        <p:spPr>
          <a:xfrm>
            <a:off x="2979324" y="3581014"/>
            <a:ext cx="1388863" cy="205184"/>
          </a:xfrm>
          <a:prstGeom prst="rect">
            <a:avLst/>
          </a:prstGeom>
          <a:noFill/>
          <a:ln/>
        </p:spPr>
        <p:txBody>
          <a:bodyPr wrap="square" lIns="0" tIns="0" rIns="0" bIns="0" rtlCol="0" anchor="t">
            <a:spAutoFit/>
          </a:bodyPr>
          <a:lstStyle/>
          <a:p>
            <a:pPr algn="ctr">
              <a:lnSpc>
                <a:spcPts val="1600"/>
              </a:lnSpc>
            </a:pPr>
            <a:r>
              <a:rPr lang="en-US" sz="1400" dirty="0">
                <a:solidFill>
                  <a:srgbClr val="1A1A1A"/>
                </a:solidFill>
                <a:latin typeface="Montserrat" pitchFamily="2" charset="0"/>
              </a:rPr>
              <a:t>Original tensor</a:t>
            </a:r>
          </a:p>
        </p:txBody>
      </p:sp>
      <p:sp>
        <p:nvSpPr>
          <p:cNvPr id="10" name="Text 1">
            <a:extLst>
              <a:ext uri="{FF2B5EF4-FFF2-40B4-BE49-F238E27FC236}">
                <a16:creationId xmlns:a16="http://schemas.microsoft.com/office/drawing/2014/main" id="{7479C7D2-68A3-828A-1D33-C68827C09075}"/>
              </a:ext>
            </a:extLst>
          </p:cNvPr>
          <p:cNvSpPr/>
          <p:nvPr/>
        </p:nvSpPr>
        <p:spPr>
          <a:xfrm>
            <a:off x="4869084" y="3581014"/>
            <a:ext cx="1582629" cy="205184"/>
          </a:xfrm>
          <a:prstGeom prst="rect">
            <a:avLst/>
          </a:prstGeom>
          <a:noFill/>
          <a:ln/>
        </p:spPr>
        <p:txBody>
          <a:bodyPr wrap="square" lIns="0" tIns="0" rIns="0" bIns="0" rtlCol="0" anchor="t">
            <a:spAutoFit/>
          </a:bodyPr>
          <a:lstStyle/>
          <a:p>
            <a:pPr algn="ctr">
              <a:lnSpc>
                <a:spcPts val="1600"/>
              </a:lnSpc>
            </a:pPr>
            <a:r>
              <a:rPr lang="en-US" sz="1400" dirty="0">
                <a:solidFill>
                  <a:srgbClr val="1A1A1A"/>
                </a:solidFill>
                <a:latin typeface="Montserrat" pitchFamily="2" charset="0"/>
              </a:rPr>
              <a:t>Quantized tensor</a:t>
            </a:r>
          </a:p>
        </p:txBody>
      </p:sp>
      <p:sp>
        <p:nvSpPr>
          <p:cNvPr id="13" name="Text 1">
            <a:extLst>
              <a:ext uri="{FF2B5EF4-FFF2-40B4-BE49-F238E27FC236}">
                <a16:creationId xmlns:a16="http://schemas.microsoft.com/office/drawing/2014/main" id="{825D8B89-921B-B28C-A551-F14474816868}"/>
              </a:ext>
            </a:extLst>
          </p:cNvPr>
          <p:cNvSpPr/>
          <p:nvPr/>
        </p:nvSpPr>
        <p:spPr>
          <a:xfrm>
            <a:off x="2781503" y="4023530"/>
            <a:ext cx="3847793" cy="205184"/>
          </a:xfrm>
          <a:prstGeom prst="rect">
            <a:avLst/>
          </a:prstGeom>
          <a:noFill/>
          <a:ln/>
        </p:spPr>
        <p:txBody>
          <a:bodyPr wrap="square" lIns="0" tIns="0" rIns="0" bIns="0" rtlCol="0" anchor="t">
            <a:spAutoFit/>
          </a:bodyPr>
          <a:lstStyle/>
          <a:p>
            <a:pPr algn="ctr">
              <a:lnSpc>
                <a:spcPts val="1600"/>
              </a:lnSpc>
            </a:pPr>
            <a:r>
              <a:rPr lang="en-US" sz="1400" b="1" dirty="0">
                <a:solidFill>
                  <a:srgbClr val="C00000"/>
                </a:solidFill>
                <a:latin typeface="Montserrat" pitchFamily="2" charset="0"/>
              </a:rPr>
              <a:t>How do we get the quantized tensor q?</a:t>
            </a:r>
          </a:p>
        </p:txBody>
      </p:sp>
    </p:spTree>
    <p:extLst>
      <p:ext uri="{BB962C8B-B14F-4D97-AF65-F5344CB8AC3E}">
        <p14:creationId xmlns:p14="http://schemas.microsoft.com/office/powerpoint/2010/main" val="3364705767"/>
      </p:ext>
    </p:extLst>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2D987-CE67-17B2-C7FF-6A17A63BC1BD}"/>
            </a:ext>
          </a:extLst>
        </p:cNvPr>
        <p:cNvGrpSpPr/>
        <p:nvPr/>
      </p:nvGrpSpPr>
      <p:grpSpPr>
        <a:xfrm>
          <a:off x="0" y="0"/>
          <a:ext cx="0" cy="0"/>
          <a:chOff x="0" y="0"/>
          <a:chExt cx="0" cy="0"/>
        </a:xfrm>
      </p:grpSpPr>
      <p:pic>
        <p:nvPicPr>
          <p:cNvPr id="3" name="Imagem 2" descr="Uma imagem contendo Interface gráfica do usuário&#10;&#10;O conteúdo gerado por IA pode estar incorreto.">
            <a:extLst>
              <a:ext uri="{FF2B5EF4-FFF2-40B4-BE49-F238E27FC236}">
                <a16:creationId xmlns:a16="http://schemas.microsoft.com/office/drawing/2014/main" id="{AB3CF2C1-44EF-A00D-4EB8-7E2258460F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pic>
        <p:nvPicPr>
          <p:cNvPr id="8" name="Imagem 7" descr="Gráfico, Forma, Gráfico de linhas&#10;&#10;O conteúdo gerado por IA pode estar incorreto.">
            <a:extLst>
              <a:ext uri="{FF2B5EF4-FFF2-40B4-BE49-F238E27FC236}">
                <a16:creationId xmlns:a16="http://schemas.microsoft.com/office/drawing/2014/main" id="{E25EB259-0A59-2F4D-296C-DEAA17D22E54}"/>
              </a:ext>
            </a:extLst>
          </p:cNvPr>
          <p:cNvPicPr>
            <a:picLocks noChangeAspect="1"/>
          </p:cNvPicPr>
          <p:nvPr/>
        </p:nvPicPr>
        <p:blipFill>
          <a:blip r:embed="rId3"/>
          <a:stretch>
            <a:fillRect/>
          </a:stretch>
        </p:blipFill>
        <p:spPr>
          <a:xfrm>
            <a:off x="779299" y="871648"/>
            <a:ext cx="3161122" cy="1546671"/>
          </a:xfrm>
          <a:prstGeom prst="rect">
            <a:avLst/>
          </a:prstGeom>
        </p:spPr>
      </p:pic>
      <p:sp>
        <p:nvSpPr>
          <p:cNvPr id="11" name="Text 1">
            <a:extLst>
              <a:ext uri="{FF2B5EF4-FFF2-40B4-BE49-F238E27FC236}">
                <a16:creationId xmlns:a16="http://schemas.microsoft.com/office/drawing/2014/main" id="{F9B0156D-1EA0-C04A-EE19-276CF6A55014}"/>
              </a:ext>
            </a:extLst>
          </p:cNvPr>
          <p:cNvSpPr/>
          <p:nvPr/>
        </p:nvSpPr>
        <p:spPr>
          <a:xfrm>
            <a:off x="1275082" y="2537623"/>
            <a:ext cx="1935145" cy="205184"/>
          </a:xfrm>
          <a:prstGeom prst="rect">
            <a:avLst/>
          </a:prstGeom>
          <a:noFill/>
          <a:ln/>
        </p:spPr>
        <p:txBody>
          <a:bodyPr wrap="square" lIns="0" tIns="0" rIns="0" bIns="0" rtlCol="0" anchor="t">
            <a:spAutoFit/>
          </a:bodyPr>
          <a:lstStyle/>
          <a:p>
            <a:pPr algn="ctr">
              <a:lnSpc>
                <a:spcPts val="1600"/>
              </a:lnSpc>
            </a:pPr>
            <a:r>
              <a:rPr lang="en-US" sz="1400" dirty="0">
                <a:solidFill>
                  <a:srgbClr val="1A1A1A"/>
                </a:solidFill>
                <a:latin typeface="Montserrat" pitchFamily="2" charset="0"/>
              </a:rPr>
              <a:t>Idea: </a:t>
            </a:r>
            <a:r>
              <a:rPr lang="en-US" sz="1400" b="1" dirty="0">
                <a:solidFill>
                  <a:srgbClr val="1A1A1A"/>
                </a:solidFill>
                <a:latin typeface="Montserrat" pitchFamily="2" charset="0"/>
              </a:rPr>
              <a:t>linear mapping</a:t>
            </a:r>
          </a:p>
        </p:txBody>
      </p:sp>
      <p:sp>
        <p:nvSpPr>
          <p:cNvPr id="16" name="CaixaDeTexto 15">
            <a:extLst>
              <a:ext uri="{FF2B5EF4-FFF2-40B4-BE49-F238E27FC236}">
                <a16:creationId xmlns:a16="http://schemas.microsoft.com/office/drawing/2014/main" id="{F89B4184-4621-AECF-5DC1-07F9FD47126C}"/>
              </a:ext>
            </a:extLst>
          </p:cNvPr>
          <p:cNvSpPr txBox="1"/>
          <p:nvPr/>
        </p:nvSpPr>
        <p:spPr>
          <a:xfrm>
            <a:off x="937611" y="2953618"/>
            <a:ext cx="1007014" cy="303225"/>
          </a:xfrm>
          <a:prstGeom prst="rect">
            <a:avLst/>
          </a:prstGeom>
          <a:noFill/>
        </p:spPr>
        <p:txBody>
          <a:bodyPr wrap="square">
            <a:spAutoFit/>
          </a:bodyPr>
          <a:lstStyle/>
          <a:p>
            <a:pPr algn="ctr">
              <a:lnSpc>
                <a:spcPts val="1600"/>
              </a:lnSpc>
            </a:pPr>
            <a:r>
              <a:rPr lang="en-US" sz="1400" dirty="0">
                <a:solidFill>
                  <a:srgbClr val="1A1A1A"/>
                </a:solidFill>
                <a:latin typeface="Montserrat" pitchFamily="2" charset="0"/>
              </a:rPr>
              <a:t>Formula:</a:t>
            </a:r>
          </a:p>
        </p:txBody>
      </p:sp>
      <p:sp>
        <p:nvSpPr>
          <p:cNvPr id="17" name="Text 1">
            <a:extLst>
              <a:ext uri="{FF2B5EF4-FFF2-40B4-BE49-F238E27FC236}">
                <a16:creationId xmlns:a16="http://schemas.microsoft.com/office/drawing/2014/main" id="{C600C1E5-7236-1E11-2730-7307BCCC3324}"/>
              </a:ext>
            </a:extLst>
          </p:cNvPr>
          <p:cNvSpPr/>
          <p:nvPr/>
        </p:nvSpPr>
        <p:spPr>
          <a:xfrm>
            <a:off x="1057448" y="3469995"/>
            <a:ext cx="1007014" cy="393954"/>
          </a:xfrm>
          <a:prstGeom prst="rect">
            <a:avLst/>
          </a:prstGeom>
          <a:noFill/>
          <a:ln/>
        </p:spPr>
        <p:txBody>
          <a:bodyPr wrap="square" lIns="0" tIns="0" rIns="0" bIns="0" rtlCol="0" anchor="t">
            <a:spAutoFit/>
          </a:bodyPr>
          <a:lstStyle/>
          <a:p>
            <a:pPr algn="ctr">
              <a:lnSpc>
                <a:spcPts val="1600"/>
              </a:lnSpc>
            </a:pPr>
            <a:r>
              <a:rPr lang="en-US" sz="1000" dirty="0">
                <a:solidFill>
                  <a:srgbClr val="1A1A1A"/>
                </a:solidFill>
                <a:latin typeface="Montserrat" pitchFamily="2" charset="0"/>
              </a:rPr>
              <a:t>original value</a:t>
            </a:r>
          </a:p>
          <a:p>
            <a:pPr algn="ctr">
              <a:lnSpc>
                <a:spcPts val="1600"/>
              </a:lnSpc>
            </a:pPr>
            <a:r>
              <a:rPr lang="en-US" sz="1000" dirty="0">
                <a:solidFill>
                  <a:srgbClr val="1A1A1A"/>
                </a:solidFill>
                <a:latin typeface="Montserrat" pitchFamily="2" charset="0"/>
              </a:rPr>
              <a:t>(e.g. in FP32)</a:t>
            </a:r>
          </a:p>
        </p:txBody>
      </p:sp>
      <p:cxnSp>
        <p:nvCxnSpPr>
          <p:cNvPr id="19" name="Conector de Seta Reta 18">
            <a:extLst>
              <a:ext uri="{FF2B5EF4-FFF2-40B4-BE49-F238E27FC236}">
                <a16:creationId xmlns:a16="http://schemas.microsoft.com/office/drawing/2014/main" id="{62535F49-F29D-572C-EB12-58365E7A347B}"/>
              </a:ext>
            </a:extLst>
          </p:cNvPr>
          <p:cNvCxnSpPr>
            <a:cxnSpLocks/>
          </p:cNvCxnSpPr>
          <p:nvPr/>
        </p:nvCxnSpPr>
        <p:spPr>
          <a:xfrm flipV="1">
            <a:off x="1828267" y="3195747"/>
            <a:ext cx="116358" cy="2417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Conector de Seta Reta 20">
            <a:extLst>
              <a:ext uri="{FF2B5EF4-FFF2-40B4-BE49-F238E27FC236}">
                <a16:creationId xmlns:a16="http://schemas.microsoft.com/office/drawing/2014/main" id="{CBBB4167-F643-9DAF-B50C-29B7457328B8}"/>
              </a:ext>
            </a:extLst>
          </p:cNvPr>
          <p:cNvCxnSpPr>
            <a:cxnSpLocks/>
          </p:cNvCxnSpPr>
          <p:nvPr/>
        </p:nvCxnSpPr>
        <p:spPr>
          <a:xfrm flipV="1">
            <a:off x="2125451" y="3207972"/>
            <a:ext cx="194767" cy="7430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 1">
            <a:extLst>
              <a:ext uri="{FF2B5EF4-FFF2-40B4-BE49-F238E27FC236}">
                <a16:creationId xmlns:a16="http://schemas.microsoft.com/office/drawing/2014/main" id="{1CAD73F8-0EAE-18E9-2428-49A60242F64C}"/>
              </a:ext>
            </a:extLst>
          </p:cNvPr>
          <p:cNvSpPr/>
          <p:nvPr/>
        </p:nvSpPr>
        <p:spPr>
          <a:xfrm>
            <a:off x="1621021" y="3954465"/>
            <a:ext cx="959742" cy="393954"/>
          </a:xfrm>
          <a:prstGeom prst="rect">
            <a:avLst/>
          </a:prstGeom>
          <a:noFill/>
          <a:ln/>
        </p:spPr>
        <p:txBody>
          <a:bodyPr wrap="square" lIns="0" tIns="0" rIns="0" bIns="0" rtlCol="0" anchor="t">
            <a:spAutoFit/>
          </a:bodyPr>
          <a:lstStyle/>
          <a:p>
            <a:pPr algn="ctr">
              <a:lnSpc>
                <a:spcPts val="1600"/>
              </a:lnSpc>
            </a:pPr>
            <a:r>
              <a:rPr lang="en-US" sz="1000" dirty="0">
                <a:solidFill>
                  <a:srgbClr val="1A1A1A"/>
                </a:solidFill>
                <a:latin typeface="Montserrat" pitchFamily="2" charset="0"/>
              </a:rPr>
              <a:t>Scale</a:t>
            </a:r>
          </a:p>
          <a:p>
            <a:pPr algn="ctr">
              <a:lnSpc>
                <a:spcPts val="1600"/>
              </a:lnSpc>
            </a:pPr>
            <a:r>
              <a:rPr lang="en-US" sz="1000" dirty="0">
                <a:solidFill>
                  <a:srgbClr val="1A1A1A"/>
                </a:solidFill>
                <a:latin typeface="Montserrat" pitchFamily="2" charset="0"/>
              </a:rPr>
              <a:t>(e.g. in FP32)</a:t>
            </a:r>
          </a:p>
        </p:txBody>
      </p:sp>
      <p:cxnSp>
        <p:nvCxnSpPr>
          <p:cNvPr id="25" name="Conector de Seta Reta 24">
            <a:extLst>
              <a:ext uri="{FF2B5EF4-FFF2-40B4-BE49-F238E27FC236}">
                <a16:creationId xmlns:a16="http://schemas.microsoft.com/office/drawing/2014/main" id="{D3F50536-B1AA-2494-02D6-93ABA0F73569}"/>
              </a:ext>
            </a:extLst>
          </p:cNvPr>
          <p:cNvCxnSpPr>
            <a:cxnSpLocks/>
          </p:cNvCxnSpPr>
          <p:nvPr/>
        </p:nvCxnSpPr>
        <p:spPr>
          <a:xfrm flipH="1" flipV="1">
            <a:off x="2615214" y="3224747"/>
            <a:ext cx="223748" cy="3388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 1">
            <a:extLst>
              <a:ext uri="{FF2B5EF4-FFF2-40B4-BE49-F238E27FC236}">
                <a16:creationId xmlns:a16="http://schemas.microsoft.com/office/drawing/2014/main" id="{61EB608F-10FF-C60E-3E24-7CC24DA6C9C3}"/>
              </a:ext>
            </a:extLst>
          </p:cNvPr>
          <p:cNvSpPr/>
          <p:nvPr/>
        </p:nvSpPr>
        <p:spPr>
          <a:xfrm>
            <a:off x="2359860" y="3617746"/>
            <a:ext cx="1140722" cy="390748"/>
          </a:xfrm>
          <a:prstGeom prst="rect">
            <a:avLst/>
          </a:prstGeom>
          <a:noFill/>
          <a:ln/>
        </p:spPr>
        <p:txBody>
          <a:bodyPr wrap="square" lIns="0" tIns="0" rIns="0" bIns="0" rtlCol="0" anchor="t">
            <a:spAutoFit/>
          </a:bodyPr>
          <a:lstStyle/>
          <a:p>
            <a:pPr algn="ctr">
              <a:lnSpc>
                <a:spcPts val="1600"/>
              </a:lnSpc>
            </a:pPr>
            <a:r>
              <a:rPr lang="en-US" sz="1000" dirty="0">
                <a:solidFill>
                  <a:srgbClr val="1A1A1A"/>
                </a:solidFill>
                <a:latin typeface="Montserrat" pitchFamily="2" charset="0"/>
              </a:rPr>
              <a:t>quantized value</a:t>
            </a:r>
          </a:p>
          <a:p>
            <a:pPr algn="ctr">
              <a:lnSpc>
                <a:spcPts val="1600"/>
              </a:lnSpc>
            </a:pPr>
            <a:r>
              <a:rPr lang="en-US" sz="1000" dirty="0">
                <a:solidFill>
                  <a:srgbClr val="1A1A1A"/>
                </a:solidFill>
                <a:latin typeface="Montserrat" pitchFamily="2" charset="0"/>
              </a:rPr>
              <a:t>(e.g. in INT8)</a:t>
            </a:r>
          </a:p>
        </p:txBody>
      </p:sp>
      <p:cxnSp>
        <p:nvCxnSpPr>
          <p:cNvPr id="29" name="Conector de Seta Reta 28">
            <a:extLst>
              <a:ext uri="{FF2B5EF4-FFF2-40B4-BE49-F238E27FC236}">
                <a16:creationId xmlns:a16="http://schemas.microsoft.com/office/drawing/2014/main" id="{A5B20B50-F73E-E254-F6EA-E181A5E5DF55}"/>
              </a:ext>
            </a:extLst>
          </p:cNvPr>
          <p:cNvCxnSpPr>
            <a:cxnSpLocks/>
          </p:cNvCxnSpPr>
          <p:nvPr/>
        </p:nvCxnSpPr>
        <p:spPr>
          <a:xfrm flipH="1" flipV="1">
            <a:off x="2930221" y="3207972"/>
            <a:ext cx="749901" cy="6559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 1">
            <a:extLst>
              <a:ext uri="{FF2B5EF4-FFF2-40B4-BE49-F238E27FC236}">
                <a16:creationId xmlns:a16="http://schemas.microsoft.com/office/drawing/2014/main" id="{3C0D6235-0776-93E3-0390-CEF55D04B836}"/>
              </a:ext>
            </a:extLst>
          </p:cNvPr>
          <p:cNvSpPr/>
          <p:nvPr/>
        </p:nvSpPr>
        <p:spPr>
          <a:xfrm>
            <a:off x="3260704" y="3908344"/>
            <a:ext cx="959742" cy="393954"/>
          </a:xfrm>
          <a:prstGeom prst="rect">
            <a:avLst/>
          </a:prstGeom>
          <a:noFill/>
          <a:ln/>
        </p:spPr>
        <p:txBody>
          <a:bodyPr wrap="square" lIns="0" tIns="0" rIns="0" bIns="0" rtlCol="0" anchor="t">
            <a:spAutoFit/>
          </a:bodyPr>
          <a:lstStyle/>
          <a:p>
            <a:pPr algn="ctr">
              <a:lnSpc>
                <a:spcPts val="1600"/>
              </a:lnSpc>
            </a:pPr>
            <a:r>
              <a:rPr lang="en-US" sz="1000" dirty="0">
                <a:solidFill>
                  <a:srgbClr val="1A1A1A"/>
                </a:solidFill>
                <a:latin typeface="Montserrat" pitchFamily="2" charset="0"/>
              </a:rPr>
              <a:t>Zero-point</a:t>
            </a:r>
          </a:p>
          <a:p>
            <a:pPr algn="ctr">
              <a:lnSpc>
                <a:spcPts val="1600"/>
              </a:lnSpc>
            </a:pPr>
            <a:r>
              <a:rPr lang="en-US" sz="1000" dirty="0">
                <a:solidFill>
                  <a:srgbClr val="1A1A1A"/>
                </a:solidFill>
                <a:latin typeface="Montserrat" pitchFamily="2" charset="0"/>
              </a:rPr>
              <a:t>(e.g. in INT8)</a:t>
            </a:r>
          </a:p>
        </p:txBody>
      </p:sp>
      <p:pic>
        <p:nvPicPr>
          <p:cNvPr id="36" name="Imagem 35" descr="Gráfico&#10;&#10;O conteúdo gerado por IA pode estar incorreto.">
            <a:extLst>
              <a:ext uri="{FF2B5EF4-FFF2-40B4-BE49-F238E27FC236}">
                <a16:creationId xmlns:a16="http://schemas.microsoft.com/office/drawing/2014/main" id="{A453FE15-6ACF-1260-A5C1-0F214AAEB7C3}"/>
              </a:ext>
            </a:extLst>
          </p:cNvPr>
          <p:cNvPicPr>
            <a:picLocks noChangeAspect="1"/>
          </p:cNvPicPr>
          <p:nvPr/>
        </p:nvPicPr>
        <p:blipFill>
          <a:blip r:embed="rId4"/>
          <a:stretch>
            <a:fillRect/>
          </a:stretch>
        </p:blipFill>
        <p:spPr>
          <a:xfrm>
            <a:off x="4972134" y="921924"/>
            <a:ext cx="2917828" cy="1446117"/>
          </a:xfrm>
          <a:prstGeom prst="rect">
            <a:avLst/>
          </a:prstGeom>
        </p:spPr>
      </p:pic>
      <p:sp>
        <p:nvSpPr>
          <p:cNvPr id="38" name="Text 1">
            <a:extLst>
              <a:ext uri="{FF2B5EF4-FFF2-40B4-BE49-F238E27FC236}">
                <a16:creationId xmlns:a16="http://schemas.microsoft.com/office/drawing/2014/main" id="{0BAE0BBA-0170-00A7-9C2A-586AFA63F9C2}"/>
              </a:ext>
            </a:extLst>
          </p:cNvPr>
          <p:cNvSpPr/>
          <p:nvPr/>
        </p:nvSpPr>
        <p:spPr>
          <a:xfrm>
            <a:off x="5048789" y="2431818"/>
            <a:ext cx="3111021" cy="933012"/>
          </a:xfrm>
          <a:prstGeom prst="rect">
            <a:avLst/>
          </a:prstGeom>
          <a:noFill/>
          <a:ln/>
        </p:spPr>
        <p:txBody>
          <a:bodyPr wrap="square" lIns="0" tIns="0" rIns="0" bIns="0" rtlCol="0" anchor="t">
            <a:spAutoFit/>
          </a:bodyPr>
          <a:lstStyle/>
          <a:p>
            <a:pPr>
              <a:lnSpc>
                <a:spcPct val="150000"/>
              </a:lnSpc>
            </a:pPr>
            <a:r>
              <a:rPr lang="en-US" sz="1400" dirty="0">
                <a:solidFill>
                  <a:srgbClr val="1A1A1A"/>
                </a:solidFill>
                <a:latin typeface="Montserrat" pitchFamily="2" charset="0"/>
              </a:rPr>
              <a:t>Example with S=2 and Z=0:</a:t>
            </a:r>
          </a:p>
          <a:p>
            <a:pPr marL="285750" indent="-285750">
              <a:lnSpc>
                <a:spcPct val="150000"/>
              </a:lnSpc>
              <a:buFont typeface="Arial" panose="020B0604020202020204" pitchFamily="34" charset="0"/>
              <a:buChar char="•"/>
            </a:pPr>
            <a:r>
              <a:rPr lang="en-US" sz="1400" dirty="0">
                <a:solidFill>
                  <a:srgbClr val="1A1A1A"/>
                </a:solidFill>
                <a:latin typeface="Montserrat" pitchFamily="2" charset="0"/>
              </a:rPr>
              <a:t>we get r = 2(Q - 0) = 2Q</a:t>
            </a:r>
          </a:p>
          <a:p>
            <a:pPr marL="285750" indent="-285750">
              <a:lnSpc>
                <a:spcPct val="150000"/>
              </a:lnSpc>
              <a:buFont typeface="Arial" panose="020B0604020202020204" pitchFamily="34" charset="0"/>
              <a:buChar char="•"/>
            </a:pPr>
            <a:r>
              <a:rPr lang="en-US" sz="1400" dirty="0">
                <a:solidFill>
                  <a:srgbClr val="1A1A1A"/>
                </a:solidFill>
                <a:latin typeface="Montserrat" pitchFamily="2" charset="0"/>
              </a:rPr>
              <a:t>For Q = 10, we gave r = 2 * 10 =20</a:t>
            </a:r>
          </a:p>
        </p:txBody>
      </p:sp>
      <p:sp>
        <p:nvSpPr>
          <p:cNvPr id="39" name="Text 0">
            <a:extLst>
              <a:ext uri="{FF2B5EF4-FFF2-40B4-BE49-F238E27FC236}">
                <a16:creationId xmlns:a16="http://schemas.microsoft.com/office/drawing/2014/main" id="{E80A7FE5-DF57-C209-C242-9C9C463F3A3C}"/>
              </a:ext>
            </a:extLst>
          </p:cNvPr>
          <p:cNvSpPr/>
          <p:nvPr/>
        </p:nvSpPr>
        <p:spPr>
          <a:xfrm>
            <a:off x="285751" y="324744"/>
            <a:ext cx="2085507"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QUANTIZATION</a:t>
            </a:r>
          </a:p>
        </p:txBody>
      </p:sp>
      <p:sp>
        <p:nvSpPr>
          <p:cNvPr id="42" name="Text 1">
            <a:extLst>
              <a:ext uri="{FF2B5EF4-FFF2-40B4-BE49-F238E27FC236}">
                <a16:creationId xmlns:a16="http://schemas.microsoft.com/office/drawing/2014/main" id="{91C2C7B4-07EF-6ABB-687D-52B523CC90D8}"/>
              </a:ext>
            </a:extLst>
          </p:cNvPr>
          <p:cNvSpPr/>
          <p:nvPr/>
        </p:nvSpPr>
        <p:spPr>
          <a:xfrm>
            <a:off x="2648103" y="4587124"/>
            <a:ext cx="3847793" cy="205184"/>
          </a:xfrm>
          <a:prstGeom prst="rect">
            <a:avLst/>
          </a:prstGeom>
          <a:noFill/>
          <a:ln/>
        </p:spPr>
        <p:txBody>
          <a:bodyPr wrap="square" lIns="0" tIns="0" rIns="0" bIns="0" rtlCol="0" anchor="t">
            <a:spAutoFit/>
          </a:bodyPr>
          <a:lstStyle/>
          <a:p>
            <a:pPr algn="ctr">
              <a:lnSpc>
                <a:spcPts val="1600"/>
              </a:lnSpc>
            </a:pPr>
            <a:r>
              <a:rPr lang="en-US" sz="1400" b="1" dirty="0">
                <a:solidFill>
                  <a:srgbClr val="C00000"/>
                </a:solidFill>
                <a:latin typeface="Montserrat" pitchFamily="2" charset="0"/>
              </a:rPr>
              <a:t>How do we get back the original tensor?</a:t>
            </a:r>
          </a:p>
        </p:txBody>
      </p:sp>
      <mc:AlternateContent xmlns:mc="http://schemas.openxmlformats.org/markup-compatibility/2006" xmlns:a14="http://schemas.microsoft.com/office/drawing/2010/main">
        <mc:Choice Requires="a14">
          <p:sp>
            <p:nvSpPr>
              <p:cNvPr id="43" name="CaixaDeTexto 42">
                <a:extLst>
                  <a:ext uri="{FF2B5EF4-FFF2-40B4-BE49-F238E27FC236}">
                    <a16:creationId xmlns:a16="http://schemas.microsoft.com/office/drawing/2014/main" id="{A82D5ABD-485A-3683-22BB-AF5F8078E766}"/>
                  </a:ext>
                </a:extLst>
              </p:cNvPr>
              <p:cNvSpPr txBox="1"/>
              <p:nvPr/>
            </p:nvSpPr>
            <p:spPr>
              <a:xfrm>
                <a:off x="1906741" y="2961751"/>
                <a:ext cx="1150571"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𝑟</m:t>
                      </m:r>
                      <m:r>
                        <a:rPr lang="en-US" sz="1600" b="0" i="1" smtClean="0">
                          <a:latin typeface="Cambria Math" panose="02040503050406030204" pitchFamily="18" charset="0"/>
                        </a:rPr>
                        <m:t>=</m:t>
                      </m:r>
                      <m:r>
                        <a:rPr lang="en-US" sz="1600" b="0" i="1" smtClean="0">
                          <a:latin typeface="Cambria Math" panose="02040503050406030204" pitchFamily="18" charset="0"/>
                        </a:rPr>
                        <m:t>𝑠</m:t>
                      </m:r>
                      <m:d>
                        <m:dPr>
                          <m:ctrlPr>
                            <a:rPr lang="en-US" sz="1600" i="1" smtClean="0">
                              <a:latin typeface="Cambria Math" panose="02040503050406030204" pitchFamily="18" charset="0"/>
                            </a:rPr>
                          </m:ctrlPr>
                        </m:dPr>
                        <m:e>
                          <m:r>
                            <a:rPr lang="en-US" sz="1600" b="0" i="1" smtClean="0">
                              <a:latin typeface="Cambria Math" panose="02040503050406030204" pitchFamily="18" charset="0"/>
                            </a:rPr>
                            <m:t>𝑞</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rPr>
                            <m:t>𝑧</m:t>
                          </m:r>
                        </m:e>
                      </m:d>
                    </m:oMath>
                  </m:oMathPara>
                </a14:m>
                <a:endParaRPr lang="pt-BR" sz="1600" i="1" dirty="0"/>
              </a:p>
            </p:txBody>
          </p:sp>
        </mc:Choice>
        <mc:Fallback xmlns="">
          <p:sp>
            <p:nvSpPr>
              <p:cNvPr id="43" name="CaixaDeTexto 42">
                <a:extLst>
                  <a:ext uri="{FF2B5EF4-FFF2-40B4-BE49-F238E27FC236}">
                    <a16:creationId xmlns:a16="http://schemas.microsoft.com/office/drawing/2014/main" id="{A82D5ABD-485A-3683-22BB-AF5F8078E766}"/>
                  </a:ext>
                </a:extLst>
              </p:cNvPr>
              <p:cNvSpPr txBox="1">
                <a:spLocks noRot="1" noChangeAspect="1" noMove="1" noResize="1" noEditPoints="1" noAdjustHandles="1" noChangeArrowheads="1" noChangeShapeType="1" noTextEdit="1"/>
              </p:cNvSpPr>
              <p:nvPr/>
            </p:nvSpPr>
            <p:spPr>
              <a:xfrm>
                <a:off x="1906741" y="2961751"/>
                <a:ext cx="1150571" cy="246221"/>
              </a:xfrm>
              <a:prstGeom prst="rect">
                <a:avLst/>
              </a:prstGeom>
              <a:blipFill>
                <a:blip r:embed="rId5"/>
                <a:stretch>
                  <a:fillRect l="-2116" b="-25000"/>
                </a:stretch>
              </a:blipFill>
            </p:spPr>
            <p:txBody>
              <a:bodyPr/>
              <a:lstStyle/>
              <a:p>
                <a:r>
                  <a:rPr lang="pt-BR">
                    <a:noFill/>
                  </a:rPr>
                  <a:t> </a:t>
                </a:r>
              </a:p>
            </p:txBody>
          </p:sp>
        </mc:Fallback>
      </mc:AlternateContent>
    </p:spTree>
    <p:extLst>
      <p:ext uri="{BB962C8B-B14F-4D97-AF65-F5344CB8AC3E}">
        <p14:creationId xmlns:p14="http://schemas.microsoft.com/office/powerpoint/2010/main" val="1054799953"/>
      </p:ext>
    </p:extLst>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9F618-4052-F738-5C43-7372D42E0CFC}"/>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969586D8-364B-218C-5D28-A223F4F9EF4B}"/>
              </a:ext>
            </a:extLst>
          </p:cNvPr>
          <p:cNvSpPr/>
          <p:nvPr/>
        </p:nvSpPr>
        <p:spPr>
          <a:xfrm>
            <a:off x="285751" y="324744"/>
            <a:ext cx="2468625"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DEQUANTIZATION</a:t>
            </a:r>
          </a:p>
        </p:txBody>
      </p:sp>
      <p:pic>
        <p:nvPicPr>
          <p:cNvPr id="6" name="Imagem 5" descr="Uma imagem contendo Interface gráfica do usuário&#10;&#10;O conteúdo gerado por IA pode estar incorreto.">
            <a:extLst>
              <a:ext uri="{FF2B5EF4-FFF2-40B4-BE49-F238E27FC236}">
                <a16:creationId xmlns:a16="http://schemas.microsoft.com/office/drawing/2014/main" id="{179B0DE6-E8FE-EF75-34AB-619D204050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pic>
        <p:nvPicPr>
          <p:cNvPr id="4" name="Imagem 3" descr="Gráfico, Gráfico de linhas&#10;&#10;O conteúdo gerado por IA pode estar incorreto.">
            <a:extLst>
              <a:ext uri="{FF2B5EF4-FFF2-40B4-BE49-F238E27FC236}">
                <a16:creationId xmlns:a16="http://schemas.microsoft.com/office/drawing/2014/main" id="{64FE7A7A-2E45-E27E-F3E1-D5B2F3045ACE}"/>
              </a:ext>
            </a:extLst>
          </p:cNvPr>
          <p:cNvPicPr>
            <a:picLocks noChangeAspect="1"/>
          </p:cNvPicPr>
          <p:nvPr/>
        </p:nvPicPr>
        <p:blipFill>
          <a:blip r:embed="rId3"/>
          <a:stretch>
            <a:fillRect/>
          </a:stretch>
        </p:blipFill>
        <p:spPr>
          <a:xfrm>
            <a:off x="2999975" y="678836"/>
            <a:ext cx="2839069" cy="1419535"/>
          </a:xfrm>
          <a:prstGeom prst="rect">
            <a:avLst/>
          </a:prstGeom>
        </p:spPr>
      </p:pic>
      <mc:AlternateContent xmlns:mc="http://schemas.openxmlformats.org/markup-compatibility/2006">
        <mc:Choice xmlns:a14="http://schemas.microsoft.com/office/drawing/2010/main" Requires="a14">
          <p:sp>
            <p:nvSpPr>
              <p:cNvPr id="10" name="CaixaDeTexto 9">
                <a:extLst>
                  <a:ext uri="{FF2B5EF4-FFF2-40B4-BE49-F238E27FC236}">
                    <a16:creationId xmlns:a16="http://schemas.microsoft.com/office/drawing/2014/main" id="{9EBB283C-7EE6-DCFF-5C9F-9D654073CF1B}"/>
                  </a:ext>
                </a:extLst>
              </p:cNvPr>
              <p:cNvSpPr txBox="1"/>
              <p:nvPr/>
            </p:nvSpPr>
            <p:spPr>
              <a:xfrm>
                <a:off x="3799905" y="2046163"/>
                <a:ext cx="1150571"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𝑟</m:t>
                      </m:r>
                      <m:r>
                        <a:rPr lang="en-US" sz="1600" b="0" i="1" smtClean="0">
                          <a:latin typeface="Cambria Math" panose="02040503050406030204" pitchFamily="18" charset="0"/>
                        </a:rPr>
                        <m:t>=</m:t>
                      </m:r>
                      <m:r>
                        <a:rPr lang="en-US" sz="1600" b="0" i="1" smtClean="0">
                          <a:latin typeface="Cambria Math" panose="02040503050406030204" pitchFamily="18" charset="0"/>
                        </a:rPr>
                        <m:t>𝑠</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𝑞</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rPr>
                            <m:t>𝑧</m:t>
                          </m:r>
                        </m:e>
                      </m:d>
                    </m:oMath>
                  </m:oMathPara>
                </a14:m>
                <a:endParaRPr lang="pt-BR" sz="1600" i="1" dirty="0"/>
              </a:p>
            </p:txBody>
          </p:sp>
        </mc:Choice>
        <mc:Fallback>
          <p:sp>
            <p:nvSpPr>
              <p:cNvPr id="10" name="CaixaDeTexto 9">
                <a:extLst>
                  <a:ext uri="{FF2B5EF4-FFF2-40B4-BE49-F238E27FC236}">
                    <a16:creationId xmlns:a16="http://schemas.microsoft.com/office/drawing/2014/main" id="{9EBB283C-7EE6-DCFF-5C9F-9D654073CF1B}"/>
                  </a:ext>
                </a:extLst>
              </p:cNvPr>
              <p:cNvSpPr txBox="1">
                <a:spLocks noRot="1" noChangeAspect="1" noMove="1" noResize="1" noEditPoints="1" noAdjustHandles="1" noChangeArrowheads="1" noChangeShapeType="1" noTextEdit="1"/>
              </p:cNvSpPr>
              <p:nvPr/>
            </p:nvSpPr>
            <p:spPr>
              <a:xfrm>
                <a:off x="3799905" y="2046163"/>
                <a:ext cx="1150571" cy="246221"/>
              </a:xfrm>
              <a:prstGeom prst="rect">
                <a:avLst/>
              </a:prstGeom>
              <a:blipFill>
                <a:blip r:embed="rId4"/>
                <a:stretch>
                  <a:fillRect l="-1587" b="-25000"/>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1" name="CaixaDeTexto 10">
                <a:extLst>
                  <a:ext uri="{FF2B5EF4-FFF2-40B4-BE49-F238E27FC236}">
                    <a16:creationId xmlns:a16="http://schemas.microsoft.com/office/drawing/2014/main" id="{7B74672B-9779-42B8-3F0F-29C3B913B017}"/>
                  </a:ext>
                </a:extLst>
              </p:cNvPr>
              <p:cNvSpPr txBox="1"/>
              <p:nvPr/>
            </p:nvSpPr>
            <p:spPr>
              <a:xfrm>
                <a:off x="3899676" y="2406149"/>
                <a:ext cx="997132" cy="329449"/>
              </a:xfrm>
              <a:prstGeom prst="rect">
                <a:avLst/>
              </a:prstGeom>
              <a:noFill/>
            </p:spPr>
            <p:txBody>
              <a:bodyPr wrap="none" lIns="0" tIns="0" rIns="0" bIns="0" rtlCol="0">
                <a:spAutoFit/>
              </a:bodyPr>
              <a:lstStyle/>
              <a:p>
                <a14:m>
                  <m:oMath xmlns:m="http://schemas.openxmlformats.org/officeDocument/2006/math">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𝑟</m:t>
                        </m:r>
                      </m:num>
                      <m:den>
                        <m:r>
                          <a:rPr lang="en-US" sz="1600" b="0" i="1" smtClean="0">
                            <a:latin typeface="Cambria Math" panose="02040503050406030204" pitchFamily="18" charset="0"/>
                          </a:rPr>
                          <m:t>𝑠</m:t>
                        </m:r>
                      </m:den>
                    </m:f>
                    <m:r>
                      <a:rPr lang="en-US" sz="1600" b="0" i="1" smtClean="0">
                        <a:latin typeface="Cambria Math" panose="02040503050406030204" pitchFamily="18" charset="0"/>
                      </a:rPr>
                      <m:t>= </m:t>
                    </m:r>
                    <m:r>
                      <a:rPr lang="en-US" sz="1600" b="0" i="1" smtClean="0">
                        <a:latin typeface="Cambria Math" panose="02040503050406030204" pitchFamily="18" charset="0"/>
                      </a:rPr>
                      <m:t>𝑞</m:t>
                    </m:r>
                    <m:r>
                      <a:rPr lang="en-US" sz="1600" b="0" i="1" smtClean="0">
                        <a:latin typeface="Cambria Math" panose="02040503050406030204" pitchFamily="18" charset="0"/>
                      </a:rPr>
                      <m:t> − </m:t>
                    </m:r>
                    <m:r>
                      <a:rPr lang="en-US" sz="1600" b="0" i="1" smtClean="0">
                        <a:latin typeface="Cambria Math" panose="02040503050406030204" pitchFamily="18" charset="0"/>
                        <a:ea typeface="Cambria Math" panose="02040503050406030204" pitchFamily="18" charset="0"/>
                      </a:rPr>
                      <m:t>𝑧</m:t>
                    </m:r>
                  </m:oMath>
                </a14:m>
                <a:r>
                  <a:rPr lang="pt-BR" sz="1600" i="1" dirty="0"/>
                  <a:t> </a:t>
                </a:r>
              </a:p>
            </p:txBody>
          </p:sp>
        </mc:Choice>
        <mc:Fallback>
          <p:sp>
            <p:nvSpPr>
              <p:cNvPr id="11" name="CaixaDeTexto 10">
                <a:extLst>
                  <a:ext uri="{FF2B5EF4-FFF2-40B4-BE49-F238E27FC236}">
                    <a16:creationId xmlns:a16="http://schemas.microsoft.com/office/drawing/2014/main" id="{7B74672B-9779-42B8-3F0F-29C3B913B017}"/>
                  </a:ext>
                </a:extLst>
              </p:cNvPr>
              <p:cNvSpPr txBox="1">
                <a:spLocks noRot="1" noChangeAspect="1" noMove="1" noResize="1" noEditPoints="1" noAdjustHandles="1" noChangeArrowheads="1" noChangeShapeType="1" noTextEdit="1"/>
              </p:cNvSpPr>
              <p:nvPr/>
            </p:nvSpPr>
            <p:spPr>
              <a:xfrm>
                <a:off x="3899676" y="2406149"/>
                <a:ext cx="997132" cy="329449"/>
              </a:xfrm>
              <a:prstGeom prst="rect">
                <a:avLst/>
              </a:prstGeom>
              <a:blipFill>
                <a:blip r:embed="rId5"/>
                <a:stretch>
                  <a:fillRect l="-4294" b="-11111"/>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2" name="CaixaDeTexto 11">
                <a:extLst>
                  <a:ext uri="{FF2B5EF4-FFF2-40B4-BE49-F238E27FC236}">
                    <a16:creationId xmlns:a16="http://schemas.microsoft.com/office/drawing/2014/main" id="{8A1AD1B3-32E1-B118-2F22-BDD9FD02C910}"/>
                  </a:ext>
                </a:extLst>
              </p:cNvPr>
              <p:cNvSpPr txBox="1"/>
              <p:nvPr/>
            </p:nvSpPr>
            <p:spPr>
              <a:xfrm>
                <a:off x="3899676" y="2859750"/>
                <a:ext cx="952248" cy="329449"/>
              </a:xfrm>
              <a:prstGeom prst="rect">
                <a:avLst/>
              </a:prstGeom>
              <a:noFill/>
            </p:spPr>
            <p:txBody>
              <a:bodyPr wrap="none" lIns="0" tIns="0" rIns="0" bIns="0" rtlCol="0">
                <a:spAutoFit/>
              </a:bodyPr>
              <a:lstStyle/>
              <a:p>
                <a14:m>
                  <m:oMath xmlns:m="http://schemas.openxmlformats.org/officeDocument/2006/math">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𝑟</m:t>
                        </m:r>
                      </m:num>
                      <m:den>
                        <m:r>
                          <a:rPr lang="en-US" sz="1600" b="0" i="1" smtClean="0">
                            <a:latin typeface="Cambria Math" panose="02040503050406030204" pitchFamily="18" charset="0"/>
                          </a:rPr>
                          <m:t>𝑠</m:t>
                        </m:r>
                      </m:den>
                    </m:f>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𝑧</m:t>
                    </m:r>
                    <m:r>
                      <a:rPr lang="en-US" sz="1600" b="0" i="1" smtClean="0">
                        <a:latin typeface="Cambria Math" panose="02040503050406030204" pitchFamily="18" charset="0"/>
                      </a:rPr>
                      <m:t>= </m:t>
                    </m:r>
                    <m:r>
                      <a:rPr lang="en-US" sz="1600" b="0" i="1" smtClean="0">
                        <a:latin typeface="Cambria Math" panose="02040503050406030204" pitchFamily="18" charset="0"/>
                      </a:rPr>
                      <m:t>𝑞</m:t>
                    </m:r>
                  </m:oMath>
                </a14:m>
                <a:r>
                  <a:rPr lang="pt-BR" sz="1600" i="1" dirty="0"/>
                  <a:t> </a:t>
                </a:r>
              </a:p>
            </p:txBody>
          </p:sp>
        </mc:Choice>
        <mc:Fallback>
          <p:sp>
            <p:nvSpPr>
              <p:cNvPr id="12" name="CaixaDeTexto 11">
                <a:extLst>
                  <a:ext uri="{FF2B5EF4-FFF2-40B4-BE49-F238E27FC236}">
                    <a16:creationId xmlns:a16="http://schemas.microsoft.com/office/drawing/2014/main" id="{8A1AD1B3-32E1-B118-2F22-BDD9FD02C910}"/>
                  </a:ext>
                </a:extLst>
              </p:cNvPr>
              <p:cNvSpPr txBox="1">
                <a:spLocks noRot="1" noChangeAspect="1" noMove="1" noResize="1" noEditPoints="1" noAdjustHandles="1" noChangeArrowheads="1" noChangeShapeType="1" noTextEdit="1"/>
              </p:cNvSpPr>
              <p:nvPr/>
            </p:nvSpPr>
            <p:spPr>
              <a:xfrm>
                <a:off x="3899676" y="2859750"/>
                <a:ext cx="952248" cy="329449"/>
              </a:xfrm>
              <a:prstGeom prst="rect">
                <a:avLst/>
              </a:prstGeom>
              <a:blipFill>
                <a:blip r:embed="rId6"/>
                <a:stretch>
                  <a:fillRect l="-4487" r="-1282" b="-12963"/>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3" name="CaixaDeTexto 12">
                <a:extLst>
                  <a:ext uri="{FF2B5EF4-FFF2-40B4-BE49-F238E27FC236}">
                    <a16:creationId xmlns:a16="http://schemas.microsoft.com/office/drawing/2014/main" id="{F427C3C6-3F82-EFA2-D97A-3B2CCF208C74}"/>
                  </a:ext>
                </a:extLst>
              </p:cNvPr>
              <p:cNvSpPr txBox="1"/>
              <p:nvPr/>
            </p:nvSpPr>
            <p:spPr>
              <a:xfrm>
                <a:off x="3491551" y="3313351"/>
                <a:ext cx="1753622" cy="368499"/>
              </a:xfrm>
              <a:prstGeom prst="rect">
                <a:avLst/>
              </a:prstGeom>
              <a:noFill/>
            </p:spPr>
            <p:txBody>
              <a:bodyPr wrap="none" lIns="0" tIns="0" rIns="0" bIns="0" rtlCol="0">
                <a:spAutoFit/>
              </a:bodyPr>
              <a:lstStyle/>
              <a:p>
                <a14:m>
                  <m:oMath xmlns:m="http://schemas.openxmlformats.org/officeDocument/2006/math">
                    <m:r>
                      <a:rPr lang="en-US" sz="1600" b="0" i="1" smtClean="0">
                        <a:latin typeface="Cambria Math" panose="02040503050406030204" pitchFamily="18" charset="0"/>
                      </a:rPr>
                      <m:t>𝑞</m:t>
                    </m:r>
                    <m:r>
                      <a:rPr lang="en-US" sz="1600" b="0" i="1" smtClean="0">
                        <a:latin typeface="Cambria Math" panose="02040503050406030204" pitchFamily="18" charset="0"/>
                      </a:rPr>
                      <m:t> = </m:t>
                    </m:r>
                    <m:r>
                      <a:rPr lang="en-US" sz="1600" b="0" i="1" smtClean="0">
                        <a:latin typeface="Cambria Math" panose="02040503050406030204" pitchFamily="18" charset="0"/>
                      </a:rPr>
                      <m:t>𝑟𝑜𝑢𝑛𝑑</m:t>
                    </m:r>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𝑟</m:t>
                            </m:r>
                          </m:num>
                          <m:den>
                            <m:r>
                              <a:rPr lang="en-US" sz="1600" b="0" i="1" smtClean="0">
                                <a:latin typeface="Cambria Math" panose="02040503050406030204" pitchFamily="18" charset="0"/>
                              </a:rPr>
                              <m:t>𝑠</m:t>
                            </m:r>
                          </m:den>
                        </m:f>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𝑧</m:t>
                        </m:r>
                      </m:e>
                    </m:d>
                  </m:oMath>
                </a14:m>
                <a:r>
                  <a:rPr lang="pt-BR" sz="1600" i="1" dirty="0"/>
                  <a:t> </a:t>
                </a:r>
              </a:p>
            </p:txBody>
          </p:sp>
        </mc:Choice>
        <mc:Fallback>
          <p:sp>
            <p:nvSpPr>
              <p:cNvPr id="13" name="CaixaDeTexto 12">
                <a:extLst>
                  <a:ext uri="{FF2B5EF4-FFF2-40B4-BE49-F238E27FC236}">
                    <a16:creationId xmlns:a16="http://schemas.microsoft.com/office/drawing/2014/main" id="{F427C3C6-3F82-EFA2-D97A-3B2CCF208C74}"/>
                  </a:ext>
                </a:extLst>
              </p:cNvPr>
              <p:cNvSpPr txBox="1">
                <a:spLocks noRot="1" noChangeAspect="1" noMove="1" noResize="1" noEditPoints="1" noAdjustHandles="1" noChangeArrowheads="1" noChangeShapeType="1" noTextEdit="1"/>
              </p:cNvSpPr>
              <p:nvPr/>
            </p:nvSpPr>
            <p:spPr>
              <a:xfrm>
                <a:off x="3491551" y="3313351"/>
                <a:ext cx="1753622" cy="368499"/>
              </a:xfrm>
              <a:prstGeom prst="rect">
                <a:avLst/>
              </a:prstGeom>
              <a:blipFill>
                <a:blip r:embed="rId7"/>
                <a:stretch>
                  <a:fillRect l="-4181" b="-8333"/>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4" name="CaixaDeTexto 13">
                <a:extLst>
                  <a:ext uri="{FF2B5EF4-FFF2-40B4-BE49-F238E27FC236}">
                    <a16:creationId xmlns:a16="http://schemas.microsoft.com/office/drawing/2014/main" id="{7F15130A-7091-C66C-F5CA-4C87426F9232}"/>
                  </a:ext>
                </a:extLst>
              </p:cNvPr>
              <p:cNvSpPr txBox="1"/>
              <p:nvPr/>
            </p:nvSpPr>
            <p:spPr>
              <a:xfrm>
                <a:off x="3263649" y="3810877"/>
                <a:ext cx="2311723" cy="5532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𝑞</m:t>
                      </m:r>
                      <m:r>
                        <a:rPr lang="en-US" sz="1600" b="0" i="1" smtClean="0">
                          <a:latin typeface="Cambria Math" panose="02040503050406030204" pitchFamily="18" charset="0"/>
                        </a:rPr>
                        <m:t> = </m:t>
                      </m:r>
                      <m:r>
                        <a:rPr lang="en-US" sz="1600" b="0" i="1" smtClean="0">
                          <a:latin typeface="Cambria Math" panose="02040503050406030204" pitchFamily="18" charset="0"/>
                        </a:rPr>
                        <m:t>𝑖𝑛𝑡</m:t>
                      </m:r>
                      <m:d>
                        <m:dPr>
                          <m:ctrlPr>
                            <a:rPr lang="en-US" sz="1600" b="0" i="1" smtClean="0">
                              <a:latin typeface="Cambria Math" panose="02040503050406030204" pitchFamily="18" charset="0"/>
                            </a:rPr>
                          </m:ctrlPr>
                        </m:dPr>
                        <m:e>
                          <m:r>
                            <a:rPr lang="en-US" sz="1600" i="1">
                              <a:latin typeface="Cambria Math" panose="02040503050406030204" pitchFamily="18" charset="0"/>
                            </a:rPr>
                            <m:t>𝑟𝑜𝑢𝑛𝑑</m:t>
                          </m:r>
                          <m:d>
                            <m:dPr>
                              <m:ctrlPr>
                                <a:rPr lang="en-US" sz="1600" i="1">
                                  <a:latin typeface="Cambria Math" panose="02040503050406030204" pitchFamily="18" charset="0"/>
                                </a:rPr>
                              </m:ctrlPr>
                            </m:dPr>
                            <m:e>
                              <m:f>
                                <m:fPr>
                                  <m:ctrlPr>
                                    <a:rPr lang="en-US" sz="1600" i="1">
                                      <a:latin typeface="Cambria Math" panose="02040503050406030204" pitchFamily="18" charset="0"/>
                                    </a:rPr>
                                  </m:ctrlPr>
                                </m:fPr>
                                <m:num>
                                  <m:r>
                                    <a:rPr lang="en-US" sz="1600" i="1">
                                      <a:latin typeface="Cambria Math" panose="02040503050406030204" pitchFamily="18" charset="0"/>
                                    </a:rPr>
                                    <m:t>𝑟</m:t>
                                  </m:r>
                                </m:num>
                                <m:den>
                                  <m:r>
                                    <a:rPr lang="en-US" sz="1600" i="1">
                                      <a:latin typeface="Cambria Math" panose="02040503050406030204" pitchFamily="18" charset="0"/>
                                    </a:rPr>
                                    <m:t>𝑠</m:t>
                                  </m:r>
                                </m:den>
                              </m:f>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𝑧</m:t>
                              </m:r>
                            </m:e>
                          </m:d>
                        </m:e>
                      </m:d>
                    </m:oMath>
                  </m:oMathPara>
                </a14:m>
                <a:endParaRPr lang="pt-BR" sz="1600" i="1" dirty="0"/>
              </a:p>
            </p:txBody>
          </p:sp>
        </mc:Choice>
        <mc:Fallback>
          <p:sp>
            <p:nvSpPr>
              <p:cNvPr id="14" name="CaixaDeTexto 13">
                <a:extLst>
                  <a:ext uri="{FF2B5EF4-FFF2-40B4-BE49-F238E27FC236}">
                    <a16:creationId xmlns:a16="http://schemas.microsoft.com/office/drawing/2014/main" id="{7F15130A-7091-C66C-F5CA-4C87426F9232}"/>
                  </a:ext>
                </a:extLst>
              </p:cNvPr>
              <p:cNvSpPr txBox="1">
                <a:spLocks noRot="1" noChangeAspect="1" noMove="1" noResize="1" noEditPoints="1" noAdjustHandles="1" noChangeArrowheads="1" noChangeShapeType="1" noTextEdit="1"/>
              </p:cNvSpPr>
              <p:nvPr/>
            </p:nvSpPr>
            <p:spPr>
              <a:xfrm>
                <a:off x="3263649" y="3810877"/>
                <a:ext cx="2311723" cy="553228"/>
              </a:xfrm>
              <a:prstGeom prst="rect">
                <a:avLst/>
              </a:prstGeom>
              <a:blipFill>
                <a:blip r:embed="rId8"/>
                <a:stretch>
                  <a:fillRect/>
                </a:stretch>
              </a:blipFill>
            </p:spPr>
            <p:txBody>
              <a:bodyPr/>
              <a:lstStyle/>
              <a:p>
                <a:r>
                  <a:rPr lang="pt-BR">
                    <a:noFill/>
                  </a:rPr>
                  <a:t> </a:t>
                </a:r>
              </a:p>
            </p:txBody>
          </p:sp>
        </mc:Fallback>
      </mc:AlternateContent>
      <p:sp>
        <p:nvSpPr>
          <p:cNvPr id="2" name="Text 1">
            <a:extLst>
              <a:ext uri="{FF2B5EF4-FFF2-40B4-BE49-F238E27FC236}">
                <a16:creationId xmlns:a16="http://schemas.microsoft.com/office/drawing/2014/main" id="{3BABE201-38B0-5310-56D9-08C906FD9864}"/>
              </a:ext>
            </a:extLst>
          </p:cNvPr>
          <p:cNvSpPr/>
          <p:nvPr/>
        </p:nvSpPr>
        <p:spPr>
          <a:xfrm>
            <a:off x="2648103" y="4497633"/>
            <a:ext cx="3847793" cy="205184"/>
          </a:xfrm>
          <a:prstGeom prst="rect">
            <a:avLst/>
          </a:prstGeom>
          <a:noFill/>
          <a:ln/>
        </p:spPr>
        <p:txBody>
          <a:bodyPr wrap="square" lIns="0" tIns="0" rIns="0" bIns="0" rtlCol="0" anchor="t">
            <a:spAutoFit/>
          </a:bodyPr>
          <a:lstStyle/>
          <a:p>
            <a:pPr algn="ctr">
              <a:lnSpc>
                <a:spcPts val="1600"/>
              </a:lnSpc>
            </a:pPr>
            <a:r>
              <a:rPr lang="en-US" sz="1400" b="1" dirty="0">
                <a:solidFill>
                  <a:srgbClr val="C00000"/>
                </a:solidFill>
                <a:latin typeface="Montserrat" pitchFamily="2" charset="0"/>
              </a:rPr>
              <a:t>How to determine s and z?</a:t>
            </a:r>
          </a:p>
        </p:txBody>
      </p:sp>
    </p:spTree>
    <p:extLst>
      <p:ext uri="{BB962C8B-B14F-4D97-AF65-F5344CB8AC3E}">
        <p14:creationId xmlns:p14="http://schemas.microsoft.com/office/powerpoint/2010/main" val="322231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78B07-9982-6F4D-EECC-4277A769EAB9}"/>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75ED17D3-DBD5-951C-5EAC-680245E16E04}"/>
              </a:ext>
            </a:extLst>
          </p:cNvPr>
          <p:cNvSpPr/>
          <p:nvPr/>
        </p:nvSpPr>
        <p:spPr>
          <a:xfrm>
            <a:off x="285751" y="324744"/>
            <a:ext cx="3331040"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SCALE AND ZERO POINT</a:t>
            </a:r>
          </a:p>
        </p:txBody>
      </p:sp>
      <p:pic>
        <p:nvPicPr>
          <p:cNvPr id="6" name="Imagem 5" descr="Uma imagem contendo Interface gráfica do usuário&#10;&#10;O conteúdo gerado por IA pode estar incorreto.">
            <a:extLst>
              <a:ext uri="{FF2B5EF4-FFF2-40B4-BE49-F238E27FC236}">
                <a16:creationId xmlns:a16="http://schemas.microsoft.com/office/drawing/2014/main" id="{06F7C985-0B3E-BA0B-F435-6077C96305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mc:AlternateContent xmlns:mc="http://schemas.openxmlformats.org/markup-compatibility/2006">
        <mc:Choice xmlns:a14="http://schemas.microsoft.com/office/drawing/2010/main" Requires="a14">
          <p:sp>
            <p:nvSpPr>
              <p:cNvPr id="9" name="Text 1">
                <a:extLst>
                  <a:ext uri="{FF2B5EF4-FFF2-40B4-BE49-F238E27FC236}">
                    <a16:creationId xmlns:a16="http://schemas.microsoft.com/office/drawing/2014/main" id="{60E83002-3150-9E0A-16FF-4FD20C7A7F5A}"/>
                  </a:ext>
                </a:extLst>
              </p:cNvPr>
              <p:cNvSpPr/>
              <p:nvPr/>
            </p:nvSpPr>
            <p:spPr>
              <a:xfrm>
                <a:off x="285752" y="912032"/>
                <a:ext cx="8457782" cy="205184"/>
              </a:xfrm>
              <a:prstGeom prst="rect">
                <a:avLst/>
              </a:prstGeom>
              <a:noFill/>
              <a:ln/>
            </p:spPr>
            <p:txBody>
              <a:bodyPr wrap="square" lIns="0" tIns="0" rIns="0" bIns="0" rtlCol="0" anchor="t">
                <a:spAutoFit/>
              </a:bodyPr>
              <a:lstStyle/>
              <a:p>
                <a:pPr>
                  <a:lnSpc>
                    <a:spcPts val="1600"/>
                  </a:lnSpc>
                </a:pPr>
                <a:r>
                  <a:rPr lang="en-US" sz="1400" dirty="0">
                    <a:solidFill>
                      <a:srgbClr val="1A1A1A"/>
                    </a:solidFill>
                    <a:latin typeface="Montserrat" pitchFamily="2" charset="0"/>
                  </a:rPr>
                  <a:t>Linear quantization maps the floating point  range </a:t>
                </a:r>
                <a14:m>
                  <m:oMath xmlns:m="http://schemas.openxmlformats.org/officeDocument/2006/math">
                    <m:r>
                      <a:rPr lang="en-US" sz="1400" b="0" i="0" smtClean="0">
                        <a:solidFill>
                          <a:srgbClr val="1A1A1A"/>
                        </a:solidFill>
                        <a:latin typeface="Cambria Math" panose="02040503050406030204" pitchFamily="18" charset="0"/>
                      </a:rPr>
                      <m:t>[</m:t>
                    </m:r>
                    <m:sSub>
                      <m:sSubPr>
                        <m:ctrlPr>
                          <a:rPr lang="en-US" sz="1400" i="1" smtClean="0">
                            <a:solidFill>
                              <a:srgbClr val="1A1A1A"/>
                            </a:solidFill>
                            <a:latin typeface="Cambria Math" panose="02040503050406030204" pitchFamily="18" charset="0"/>
                          </a:rPr>
                        </m:ctrlPr>
                      </m:sSubPr>
                      <m:e>
                        <m:r>
                          <m:rPr>
                            <m:sty m:val="p"/>
                          </m:rPr>
                          <a:rPr lang="en-US" sz="1400" b="0" i="1" smtClean="0">
                            <a:solidFill>
                              <a:srgbClr val="1A1A1A"/>
                            </a:solidFill>
                            <a:latin typeface="Cambria Math" panose="02040503050406030204" pitchFamily="18" charset="0"/>
                          </a:rPr>
                          <m:t>r</m:t>
                        </m:r>
                      </m:e>
                      <m:sub>
                        <m:r>
                          <m:rPr>
                            <m:sty m:val="p"/>
                          </m:rPr>
                          <a:rPr lang="en-US" sz="1400" b="0" i="1" smtClean="0">
                            <a:solidFill>
                              <a:srgbClr val="1A1A1A"/>
                            </a:solidFill>
                            <a:latin typeface="Cambria Math" panose="02040503050406030204" pitchFamily="18" charset="0"/>
                          </a:rPr>
                          <m:t>min</m:t>
                        </m:r>
                      </m:sub>
                    </m:sSub>
                    <m:r>
                      <a:rPr lang="en-US" sz="1400" b="0" i="1" smtClean="0">
                        <a:solidFill>
                          <a:srgbClr val="1A1A1A"/>
                        </a:solidFill>
                        <a:latin typeface="Cambria Math" panose="02040503050406030204" pitchFamily="18" charset="0"/>
                      </a:rPr>
                      <m:t>, </m:t>
                    </m:r>
                    <m:sSub>
                      <m:sSubPr>
                        <m:ctrlPr>
                          <a:rPr lang="en-US" sz="1400" b="0" i="1" smtClean="0">
                            <a:solidFill>
                              <a:srgbClr val="1A1A1A"/>
                            </a:solidFill>
                            <a:latin typeface="Cambria Math" panose="02040503050406030204" pitchFamily="18" charset="0"/>
                          </a:rPr>
                        </m:ctrlPr>
                      </m:sSubPr>
                      <m:e>
                        <m:r>
                          <m:rPr>
                            <m:sty m:val="p"/>
                          </m:rPr>
                          <a:rPr lang="en-US" sz="1400" b="0" i="1" smtClean="0">
                            <a:solidFill>
                              <a:srgbClr val="1A1A1A"/>
                            </a:solidFill>
                            <a:latin typeface="Cambria Math" panose="02040503050406030204" pitchFamily="18" charset="0"/>
                          </a:rPr>
                          <m:t>r</m:t>
                        </m:r>
                      </m:e>
                      <m:sub>
                        <m:r>
                          <m:rPr>
                            <m:sty m:val="p"/>
                          </m:rPr>
                          <a:rPr lang="en-US" sz="1400" b="0" i="1" smtClean="0">
                            <a:solidFill>
                              <a:srgbClr val="1A1A1A"/>
                            </a:solidFill>
                            <a:latin typeface="Cambria Math" panose="02040503050406030204" pitchFamily="18" charset="0"/>
                          </a:rPr>
                          <m:t>max</m:t>
                        </m:r>
                      </m:sub>
                    </m:sSub>
                    <m:r>
                      <a:rPr lang="en-US" sz="1400" b="0" i="1" smtClean="0">
                        <a:solidFill>
                          <a:srgbClr val="1A1A1A"/>
                        </a:solidFill>
                        <a:latin typeface="Cambria Math" panose="02040503050406030204" pitchFamily="18" charset="0"/>
                      </a:rPr>
                      <m:t>]</m:t>
                    </m:r>
                  </m:oMath>
                </a14:m>
                <a:r>
                  <a:rPr lang="en-US" sz="1400" dirty="0">
                    <a:solidFill>
                      <a:srgbClr val="1A1A1A"/>
                    </a:solidFill>
                    <a:latin typeface="Montserrat" pitchFamily="2" charset="0"/>
                  </a:rPr>
                  <a:t> to the quantized range </a:t>
                </a:r>
                <a14:m>
                  <m:oMath xmlns:m="http://schemas.openxmlformats.org/officeDocument/2006/math">
                    <m:r>
                      <a:rPr lang="en-US" sz="1400">
                        <a:solidFill>
                          <a:srgbClr val="1A1A1A"/>
                        </a:solidFill>
                        <a:latin typeface="Cambria Math" panose="02040503050406030204" pitchFamily="18" charset="0"/>
                      </a:rPr>
                      <m:t>[</m:t>
                    </m:r>
                    <m:sSub>
                      <m:sSubPr>
                        <m:ctrlPr>
                          <a:rPr lang="en-US" sz="1400" i="1">
                            <a:solidFill>
                              <a:srgbClr val="1A1A1A"/>
                            </a:solidFill>
                            <a:latin typeface="Cambria Math" panose="02040503050406030204" pitchFamily="18" charset="0"/>
                          </a:rPr>
                        </m:ctrlPr>
                      </m:sSubPr>
                      <m:e>
                        <m:r>
                          <m:rPr>
                            <m:sty m:val="p"/>
                          </m:rPr>
                          <a:rPr lang="en-US" sz="1400" b="0" i="1" smtClean="0">
                            <a:solidFill>
                              <a:srgbClr val="1A1A1A"/>
                            </a:solidFill>
                            <a:latin typeface="Cambria Math" panose="02040503050406030204" pitchFamily="18" charset="0"/>
                          </a:rPr>
                          <m:t>q</m:t>
                        </m:r>
                      </m:e>
                      <m:sub>
                        <m:r>
                          <m:rPr>
                            <m:sty m:val="p"/>
                          </m:rPr>
                          <a:rPr lang="en-US" sz="1400" i="1">
                            <a:solidFill>
                              <a:srgbClr val="1A1A1A"/>
                            </a:solidFill>
                            <a:latin typeface="Cambria Math" panose="02040503050406030204" pitchFamily="18" charset="0"/>
                          </a:rPr>
                          <m:t>min</m:t>
                        </m:r>
                      </m:sub>
                    </m:sSub>
                    <m:r>
                      <a:rPr lang="en-US" sz="1400" i="1">
                        <a:solidFill>
                          <a:srgbClr val="1A1A1A"/>
                        </a:solidFill>
                        <a:latin typeface="Cambria Math" panose="02040503050406030204" pitchFamily="18" charset="0"/>
                      </a:rPr>
                      <m:t>, </m:t>
                    </m:r>
                    <m:sSub>
                      <m:sSubPr>
                        <m:ctrlPr>
                          <a:rPr lang="en-US" sz="1400" i="1">
                            <a:solidFill>
                              <a:srgbClr val="1A1A1A"/>
                            </a:solidFill>
                            <a:latin typeface="Cambria Math" panose="02040503050406030204" pitchFamily="18" charset="0"/>
                          </a:rPr>
                        </m:ctrlPr>
                      </m:sSubPr>
                      <m:e>
                        <m:r>
                          <m:rPr>
                            <m:sty m:val="p"/>
                          </m:rPr>
                          <a:rPr lang="en-US" sz="1400" b="0" i="1" smtClean="0">
                            <a:solidFill>
                              <a:srgbClr val="1A1A1A"/>
                            </a:solidFill>
                            <a:latin typeface="Cambria Math" panose="02040503050406030204" pitchFamily="18" charset="0"/>
                          </a:rPr>
                          <m:t>q</m:t>
                        </m:r>
                      </m:e>
                      <m:sub>
                        <m:r>
                          <m:rPr>
                            <m:sty m:val="p"/>
                          </m:rPr>
                          <a:rPr lang="en-US" sz="1400" i="1">
                            <a:solidFill>
                              <a:srgbClr val="1A1A1A"/>
                            </a:solidFill>
                            <a:latin typeface="Cambria Math" panose="02040503050406030204" pitchFamily="18" charset="0"/>
                          </a:rPr>
                          <m:t>max</m:t>
                        </m:r>
                      </m:sub>
                    </m:sSub>
                    <m:r>
                      <a:rPr lang="en-US" sz="1400" i="1">
                        <a:solidFill>
                          <a:srgbClr val="1A1A1A"/>
                        </a:solidFill>
                        <a:latin typeface="Cambria Math" panose="02040503050406030204" pitchFamily="18" charset="0"/>
                      </a:rPr>
                      <m:t>]</m:t>
                    </m:r>
                  </m:oMath>
                </a14:m>
                <a:r>
                  <a:rPr lang="en-US" sz="1400" dirty="0">
                    <a:solidFill>
                      <a:srgbClr val="1A1A1A"/>
                    </a:solidFill>
                    <a:latin typeface="Montserrat" pitchFamily="2" charset="0"/>
                  </a:rPr>
                  <a:t> </a:t>
                </a:r>
              </a:p>
            </p:txBody>
          </p:sp>
        </mc:Choice>
        <mc:Fallback>
          <p:sp>
            <p:nvSpPr>
              <p:cNvPr id="9" name="Text 1">
                <a:extLst>
                  <a:ext uri="{FF2B5EF4-FFF2-40B4-BE49-F238E27FC236}">
                    <a16:creationId xmlns:a16="http://schemas.microsoft.com/office/drawing/2014/main" id="{60E83002-3150-9E0A-16FF-4FD20C7A7F5A}"/>
                  </a:ext>
                </a:extLst>
              </p:cNvPr>
              <p:cNvSpPr>
                <a:spLocks noRot="1" noChangeAspect="1" noMove="1" noResize="1" noEditPoints="1" noAdjustHandles="1" noChangeArrowheads="1" noChangeShapeType="1" noTextEdit="1"/>
              </p:cNvSpPr>
              <p:nvPr/>
            </p:nvSpPr>
            <p:spPr>
              <a:xfrm>
                <a:off x="285752" y="912032"/>
                <a:ext cx="8457782" cy="205184"/>
              </a:xfrm>
              <a:prstGeom prst="rect">
                <a:avLst/>
              </a:prstGeom>
              <a:blipFill>
                <a:blip r:embed="rId3"/>
                <a:stretch>
                  <a:fillRect l="-1298" t="-36364" r="-2163" b="-54545"/>
                </a:stretch>
              </a:blipFill>
              <a:ln/>
            </p:spPr>
            <p:txBody>
              <a:bodyPr/>
              <a:lstStyle/>
              <a:p>
                <a:r>
                  <a:rPr lang="pt-BR">
                    <a:noFill/>
                  </a:rPr>
                  <a:t> </a:t>
                </a:r>
              </a:p>
            </p:txBody>
          </p:sp>
        </mc:Fallback>
      </mc:AlternateContent>
      <p:sp>
        <p:nvSpPr>
          <p:cNvPr id="15" name="Text 1">
            <a:extLst>
              <a:ext uri="{FF2B5EF4-FFF2-40B4-BE49-F238E27FC236}">
                <a16:creationId xmlns:a16="http://schemas.microsoft.com/office/drawing/2014/main" id="{B3E450C8-1AE4-1D24-F9A7-F4C5234227B6}"/>
              </a:ext>
            </a:extLst>
          </p:cNvPr>
          <p:cNvSpPr/>
          <p:nvPr/>
        </p:nvSpPr>
        <p:spPr>
          <a:xfrm>
            <a:off x="285752" y="1210564"/>
            <a:ext cx="8457782" cy="205184"/>
          </a:xfrm>
          <a:prstGeom prst="rect">
            <a:avLst/>
          </a:prstGeom>
          <a:noFill/>
          <a:ln/>
        </p:spPr>
        <p:txBody>
          <a:bodyPr wrap="square" lIns="0" tIns="0" rIns="0" bIns="0" rtlCol="0" anchor="t">
            <a:spAutoFit/>
          </a:bodyPr>
          <a:lstStyle/>
          <a:p>
            <a:pPr>
              <a:lnSpc>
                <a:spcPts val="1600"/>
              </a:lnSpc>
            </a:pPr>
            <a:r>
              <a:rPr lang="en-US" sz="1400" dirty="0">
                <a:solidFill>
                  <a:srgbClr val="1A1A1A"/>
                </a:solidFill>
                <a:latin typeface="Montserrat" pitchFamily="2" charset="0"/>
              </a:rPr>
              <a:t>If we look that the </a:t>
            </a:r>
            <a:r>
              <a:rPr lang="en-US" sz="1400" b="1" dirty="0">
                <a:solidFill>
                  <a:srgbClr val="1A1A1A"/>
                </a:solidFill>
                <a:latin typeface="Montserrat" pitchFamily="2" charset="0"/>
              </a:rPr>
              <a:t>extreme values</a:t>
            </a:r>
            <a:r>
              <a:rPr lang="en-US" sz="1400" dirty="0">
                <a:solidFill>
                  <a:srgbClr val="1A1A1A"/>
                </a:solidFill>
                <a:latin typeface="Montserrat" pitchFamily="2" charset="0"/>
              </a:rPr>
              <a:t>, we should get: </a:t>
            </a:r>
          </a:p>
        </p:txBody>
      </p:sp>
      <mc:AlternateContent xmlns:mc="http://schemas.openxmlformats.org/markup-compatibility/2006">
        <mc:Choice xmlns:a14="http://schemas.microsoft.com/office/drawing/2010/main" Requires="a14">
          <p:sp>
            <p:nvSpPr>
              <p:cNvPr id="17" name="CaixaDeTexto 16">
                <a:extLst>
                  <a:ext uri="{FF2B5EF4-FFF2-40B4-BE49-F238E27FC236}">
                    <a16:creationId xmlns:a16="http://schemas.microsoft.com/office/drawing/2014/main" id="{C99CE95E-1FA4-110B-9732-89935ACBE6EC}"/>
                  </a:ext>
                </a:extLst>
              </p:cNvPr>
              <p:cNvSpPr txBox="1"/>
              <p:nvPr/>
            </p:nvSpPr>
            <p:spPr>
              <a:xfrm>
                <a:off x="285752" y="1601526"/>
                <a:ext cx="2175019" cy="61786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d>
                        <m:dPr>
                          <m:begChr m:val="{"/>
                          <m:endChr m:val=""/>
                          <m:ctrlPr>
                            <a:rPr lang="pt-BR" i="1" smtClean="0">
                              <a:latin typeface="Cambria Math" panose="02040503050406030204" pitchFamily="18" charset="0"/>
                            </a:rPr>
                          </m:ctrlPr>
                        </m:dPr>
                        <m:e>
                          <m:eqArr>
                            <m:eqArrPr>
                              <m:ctrlPr>
                                <a:rPr lang="pt-BR" i="1" smtClean="0">
                                  <a:latin typeface="Cambria Math" panose="02040503050406030204" pitchFamily="18" charset="0"/>
                                </a:rPr>
                              </m:ctrlPr>
                            </m:eqArrPr>
                            <m:e>
                              <m:sSub>
                                <m:sSubPr>
                                  <m:ctrlPr>
                                    <a:rPr lang="pt-BR" i="1" smtClean="0">
                                      <a:latin typeface="Cambria Math" panose="02040503050406030204" pitchFamily="18" charset="0"/>
                                    </a:rPr>
                                  </m:ctrlPr>
                                </m:sSubPr>
                                <m:e>
                                  <m:r>
                                    <m:rPr>
                                      <m:sty m:val="p"/>
                                    </m:rPr>
                                    <a:rPr lang="en-US" b="0" i="1" smtClean="0">
                                      <a:latin typeface="Cambria Math" panose="02040503050406030204" pitchFamily="18" charset="0"/>
                                    </a:rPr>
                                    <m:t>r</m:t>
                                  </m:r>
                                </m:e>
                                <m:sub>
                                  <m:r>
                                    <m:rPr>
                                      <m:sty m:val="p"/>
                                    </m:rPr>
                                    <a:rPr lang="en-US" b="0" i="1" smtClean="0">
                                      <a:latin typeface="Cambria Math" panose="02040503050406030204" pitchFamily="18" charset="0"/>
                                    </a:rPr>
                                    <m:t>min</m:t>
                                  </m:r>
                                </m:sub>
                              </m:sSub>
                              <m:r>
                                <a:rPr lang="en-US" b="0" i="1" smtClean="0">
                                  <a:latin typeface="Cambria Math" panose="02040503050406030204" pitchFamily="18" charset="0"/>
                                </a:rPr>
                                <m:t>= </m:t>
                              </m:r>
                              <m:r>
                                <m:rPr>
                                  <m:sty m:val="p"/>
                                </m:rPr>
                                <a:rPr lang="en-US" b="0" i="1" smtClean="0">
                                  <a:latin typeface="Cambria Math" panose="02040503050406030204" pitchFamily="18" charset="0"/>
                                </a:rPr>
                                <m:t>s</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q</m:t>
                                  </m:r>
                                </m:e>
                                <m:sub>
                                  <m:r>
                                    <m:rPr>
                                      <m:sty m:val="p"/>
                                    </m:rPr>
                                    <a:rPr lang="en-US" b="0" i="1" smtClean="0">
                                      <a:latin typeface="Cambria Math" panose="02040503050406030204" pitchFamily="18" charset="0"/>
                                    </a:rPr>
                                    <m:t>min</m:t>
                                  </m:r>
                                </m:sub>
                              </m:sSub>
                              <m:r>
                                <a:rPr lang="en-US" b="0" i="1" smtClean="0">
                                  <a:latin typeface="Cambria Math" panose="02040503050406030204" pitchFamily="18" charset="0"/>
                                  <a:ea typeface="Cambria Math" panose="02040503050406030204" pitchFamily="18" charset="0"/>
                                </a:rPr>
                                <m:t>−</m:t>
                              </m:r>
                              <m:r>
                                <m:rPr>
                                  <m:sty m:val="p"/>
                                </m:rPr>
                                <a:rPr lang="en-US" b="0" i="1" smtClean="0">
                                  <a:latin typeface="Cambria Math" panose="02040503050406030204" pitchFamily="18" charset="0"/>
                                  <a:ea typeface="Cambria Math" panose="02040503050406030204" pitchFamily="18" charset="0"/>
                                </a:rPr>
                                <m:t>z</m:t>
                              </m:r>
                              <m:r>
                                <a:rPr lang="en-US" b="0" i="1" smtClean="0">
                                  <a:latin typeface="Cambria Math" panose="02040503050406030204" pitchFamily="18" charset="0"/>
                                  <a:ea typeface="Cambria Math" panose="02040503050406030204" pitchFamily="18" charset="0"/>
                                </a:rPr>
                                <m:t>)</m:t>
                              </m:r>
                            </m:e>
                            <m:e>
                              <m:sSub>
                                <m:sSubPr>
                                  <m:ctrlPr>
                                    <a:rPr lang="pt-BR" i="1" smtClean="0">
                                      <a:latin typeface="Cambria Math" panose="02040503050406030204" pitchFamily="18" charset="0"/>
                                    </a:rPr>
                                  </m:ctrlPr>
                                </m:sSubPr>
                                <m:e>
                                  <m:r>
                                    <m:rPr>
                                      <m:sty m:val="p"/>
                                    </m:rPr>
                                    <a:rPr lang="en-US" b="0" i="1" smtClean="0">
                                      <a:latin typeface="Cambria Math" panose="02040503050406030204" pitchFamily="18" charset="0"/>
                                    </a:rPr>
                                    <m:t>r</m:t>
                                  </m:r>
                                </m:e>
                                <m:sub>
                                  <m:r>
                                    <m:rPr>
                                      <m:sty m:val="p"/>
                                    </m:rPr>
                                    <a:rPr lang="en-US" b="0" i="1" smtClean="0">
                                      <a:latin typeface="Cambria Math" panose="02040503050406030204" pitchFamily="18" charset="0"/>
                                    </a:rPr>
                                    <m:t>max</m:t>
                                  </m:r>
                                </m:sub>
                              </m:sSub>
                              <m:r>
                                <a:rPr lang="en-US" b="0" i="1" smtClean="0">
                                  <a:latin typeface="Cambria Math" panose="02040503050406030204" pitchFamily="18" charset="0"/>
                                </a:rPr>
                                <m:t>= </m:t>
                              </m:r>
                              <m:r>
                                <m:rPr>
                                  <m:sty m:val="p"/>
                                </m:rPr>
                                <a:rPr lang="en-US" b="0" i="1" smtClean="0">
                                  <a:latin typeface="Cambria Math" panose="02040503050406030204" pitchFamily="18" charset="0"/>
                                </a:rPr>
                                <m:t>s</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q</m:t>
                                  </m:r>
                                </m:e>
                                <m:sub>
                                  <m:r>
                                    <m:rPr>
                                      <m:sty m:val="p"/>
                                    </m:rPr>
                                    <a:rPr lang="en-US" b="0" i="1" smtClean="0">
                                      <a:latin typeface="Cambria Math" panose="02040503050406030204" pitchFamily="18" charset="0"/>
                                    </a:rPr>
                                    <m:t>max</m:t>
                                  </m:r>
                                </m:sub>
                              </m:sSub>
                              <m:r>
                                <a:rPr lang="en-US" b="0" i="1" smtClean="0">
                                  <a:latin typeface="Cambria Math" panose="02040503050406030204" pitchFamily="18" charset="0"/>
                                  <a:ea typeface="Cambria Math" panose="02040503050406030204" pitchFamily="18" charset="0"/>
                                </a:rPr>
                                <m:t>− </m:t>
                              </m:r>
                              <m:r>
                                <m:rPr>
                                  <m:sty m:val="p"/>
                                </m:rPr>
                                <a:rPr lang="en-US" b="0" i="1" smtClean="0">
                                  <a:latin typeface="Cambria Math" panose="02040503050406030204" pitchFamily="18" charset="0"/>
                                  <a:ea typeface="Cambria Math" panose="02040503050406030204" pitchFamily="18" charset="0"/>
                                </a:rPr>
                                <m:t>z</m:t>
                              </m:r>
                              <m:r>
                                <a:rPr lang="en-US" b="0" i="1" smtClean="0">
                                  <a:latin typeface="Cambria Math" panose="02040503050406030204" pitchFamily="18" charset="0"/>
                                  <a:ea typeface="Cambria Math" panose="02040503050406030204" pitchFamily="18" charset="0"/>
                                </a:rPr>
                                <m:t>)</m:t>
                              </m:r>
                            </m:e>
                          </m:eqArr>
                        </m:e>
                      </m:d>
                    </m:oMath>
                  </m:oMathPara>
                </a14:m>
                <a:endParaRPr lang="pt-BR" dirty="0"/>
              </a:p>
            </p:txBody>
          </p:sp>
        </mc:Choice>
        <mc:Fallback>
          <p:sp>
            <p:nvSpPr>
              <p:cNvPr id="17" name="CaixaDeTexto 16">
                <a:extLst>
                  <a:ext uri="{FF2B5EF4-FFF2-40B4-BE49-F238E27FC236}">
                    <a16:creationId xmlns:a16="http://schemas.microsoft.com/office/drawing/2014/main" id="{C99CE95E-1FA4-110B-9732-89935ACBE6EC}"/>
                  </a:ext>
                </a:extLst>
              </p:cNvPr>
              <p:cNvSpPr txBox="1">
                <a:spLocks noRot="1" noChangeAspect="1" noMove="1" noResize="1" noEditPoints="1" noAdjustHandles="1" noChangeArrowheads="1" noChangeShapeType="1" noTextEdit="1"/>
              </p:cNvSpPr>
              <p:nvPr/>
            </p:nvSpPr>
            <p:spPr>
              <a:xfrm>
                <a:off x="285752" y="1601526"/>
                <a:ext cx="2175019" cy="617861"/>
              </a:xfrm>
              <a:prstGeom prst="rect">
                <a:avLst/>
              </a:prstGeom>
              <a:blipFill>
                <a:blip r:embed="rId4"/>
                <a:stretch>
                  <a:fillRect/>
                </a:stretch>
              </a:blipFill>
            </p:spPr>
            <p:txBody>
              <a:bodyPr/>
              <a:lstStyle/>
              <a:p>
                <a:r>
                  <a:rPr lang="pt-BR">
                    <a:noFill/>
                  </a:rPr>
                  <a:t> </a:t>
                </a:r>
              </a:p>
            </p:txBody>
          </p:sp>
        </mc:Fallback>
      </mc:AlternateContent>
      <p:sp>
        <p:nvSpPr>
          <p:cNvPr id="19" name="Text 1">
            <a:extLst>
              <a:ext uri="{FF2B5EF4-FFF2-40B4-BE49-F238E27FC236}">
                <a16:creationId xmlns:a16="http://schemas.microsoft.com/office/drawing/2014/main" id="{4E96DACB-48A0-DB0F-3B75-8E49FFC6EB7C}"/>
              </a:ext>
            </a:extLst>
          </p:cNvPr>
          <p:cNvSpPr/>
          <p:nvPr/>
        </p:nvSpPr>
        <p:spPr>
          <a:xfrm>
            <a:off x="285751" y="2349508"/>
            <a:ext cx="6468795" cy="205184"/>
          </a:xfrm>
          <a:prstGeom prst="rect">
            <a:avLst/>
          </a:prstGeom>
          <a:noFill/>
          <a:ln/>
        </p:spPr>
        <p:txBody>
          <a:bodyPr wrap="square" lIns="0" tIns="0" rIns="0" bIns="0" rtlCol="0" anchor="t">
            <a:spAutoFit/>
          </a:bodyPr>
          <a:lstStyle/>
          <a:p>
            <a:pPr>
              <a:lnSpc>
                <a:spcPts val="1600"/>
              </a:lnSpc>
            </a:pPr>
            <a:r>
              <a:rPr lang="en-US" sz="1400" dirty="0">
                <a:solidFill>
                  <a:srgbClr val="1A1A1A"/>
                </a:solidFill>
                <a:latin typeface="Montserrat" pitchFamily="2" charset="0"/>
              </a:rPr>
              <a:t>If we subtract the first equation from the second one, we get the </a:t>
            </a:r>
            <a:r>
              <a:rPr lang="en-US" sz="1400" b="1" dirty="0">
                <a:solidFill>
                  <a:srgbClr val="1A1A1A"/>
                </a:solidFill>
                <a:latin typeface="Montserrat" pitchFamily="2" charset="0"/>
              </a:rPr>
              <a:t>scale s</a:t>
            </a:r>
            <a:r>
              <a:rPr lang="en-US" sz="1400" dirty="0">
                <a:solidFill>
                  <a:srgbClr val="1A1A1A"/>
                </a:solidFill>
                <a:latin typeface="Montserrat" pitchFamily="2" charset="0"/>
              </a:rPr>
              <a:t>:</a:t>
            </a:r>
          </a:p>
        </p:txBody>
      </p:sp>
      <p:sp>
        <p:nvSpPr>
          <p:cNvPr id="20" name="Text 1">
            <a:extLst>
              <a:ext uri="{FF2B5EF4-FFF2-40B4-BE49-F238E27FC236}">
                <a16:creationId xmlns:a16="http://schemas.microsoft.com/office/drawing/2014/main" id="{768D0526-F943-84E2-661C-83582269B85B}"/>
              </a:ext>
            </a:extLst>
          </p:cNvPr>
          <p:cNvSpPr/>
          <p:nvPr/>
        </p:nvSpPr>
        <p:spPr>
          <a:xfrm>
            <a:off x="285751" y="3013778"/>
            <a:ext cx="6542214" cy="205184"/>
          </a:xfrm>
          <a:prstGeom prst="rect">
            <a:avLst/>
          </a:prstGeom>
          <a:noFill/>
          <a:ln/>
        </p:spPr>
        <p:txBody>
          <a:bodyPr wrap="square" lIns="0" tIns="0" rIns="0" bIns="0" rtlCol="0" anchor="t">
            <a:spAutoFit/>
          </a:bodyPr>
          <a:lstStyle/>
          <a:p>
            <a:pPr>
              <a:lnSpc>
                <a:spcPts val="1600"/>
              </a:lnSpc>
            </a:pPr>
            <a:r>
              <a:rPr lang="en-US" sz="1400" dirty="0">
                <a:solidFill>
                  <a:srgbClr val="1A1A1A"/>
                </a:solidFill>
                <a:latin typeface="Montserrat" pitchFamily="2" charset="0"/>
              </a:rPr>
              <a:t>For the </a:t>
            </a:r>
            <a:r>
              <a:rPr lang="en-US" sz="1400" b="1" dirty="0">
                <a:solidFill>
                  <a:srgbClr val="1A1A1A"/>
                </a:solidFill>
                <a:latin typeface="Montserrat" pitchFamily="2" charset="0"/>
              </a:rPr>
              <a:t>zero point z</a:t>
            </a:r>
            <a:r>
              <a:rPr lang="en-US" sz="1400" dirty="0">
                <a:solidFill>
                  <a:srgbClr val="1A1A1A"/>
                </a:solidFill>
                <a:latin typeface="Montserrat" pitchFamily="2" charset="0"/>
              </a:rPr>
              <a:t>, we need to round the value since it is a n-bit integer: </a:t>
            </a:r>
          </a:p>
        </p:txBody>
      </p:sp>
      <mc:AlternateContent xmlns:mc="http://schemas.openxmlformats.org/markup-compatibility/2006">
        <mc:Choice xmlns:a14="http://schemas.microsoft.com/office/drawing/2010/main" Requires="a14">
          <p:sp>
            <p:nvSpPr>
              <p:cNvPr id="21" name="CaixaDeTexto 20">
                <a:extLst>
                  <a:ext uri="{FF2B5EF4-FFF2-40B4-BE49-F238E27FC236}">
                    <a16:creationId xmlns:a16="http://schemas.microsoft.com/office/drawing/2014/main" id="{E9791E93-BA4A-0245-A9D8-04E424141F83}"/>
                  </a:ext>
                </a:extLst>
              </p:cNvPr>
              <p:cNvSpPr txBox="1"/>
              <p:nvPr/>
            </p:nvSpPr>
            <p:spPr>
              <a:xfrm>
                <a:off x="211948" y="2643987"/>
                <a:ext cx="340484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pt-BR" i="1">
                                  <a:latin typeface="Cambria Math" panose="02040503050406030204" pitchFamily="18" charset="0"/>
                                </a:rPr>
                              </m:ctrlPr>
                            </m:sSubPr>
                            <m:e>
                              <m:r>
                                <m:rPr>
                                  <m:sty m:val="p"/>
                                </m:rPr>
                                <a:rPr lang="en-US" i="1">
                                  <a:latin typeface="Cambria Math" panose="02040503050406030204" pitchFamily="18" charset="0"/>
                                </a:rPr>
                                <m:t>r</m:t>
                              </m:r>
                            </m:e>
                            <m:sub>
                              <m:r>
                                <m:rPr>
                                  <m:sty m:val="p"/>
                                </m:rPr>
                                <a:rPr lang="en-US" i="1">
                                  <a:latin typeface="Cambria Math" panose="02040503050406030204" pitchFamily="18" charset="0"/>
                                </a:rPr>
                                <m:t>max</m:t>
                              </m:r>
                            </m:sub>
                          </m:sSub>
                          <m:r>
                            <a:rPr lang="en-US" b="0" i="1" smtClean="0">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m:rPr>
                                  <m:sty m:val="p"/>
                                </m:rPr>
                                <a:rPr lang="en-US" i="1">
                                  <a:latin typeface="Cambria Math" panose="02040503050406030204" pitchFamily="18" charset="0"/>
                                </a:rPr>
                                <m:t>r</m:t>
                              </m:r>
                            </m:e>
                            <m:sub>
                              <m:r>
                                <m:rPr>
                                  <m:sty m:val="p"/>
                                </m:rPr>
                                <a:rPr lang="en-US" i="1">
                                  <a:latin typeface="Cambria Math" panose="02040503050406030204" pitchFamily="18" charset="0"/>
                                </a:rPr>
                                <m:t>min</m:t>
                              </m:r>
                            </m:sub>
                          </m:sSub>
                        </m:e>
                      </m:d>
                      <m:r>
                        <a:rPr lang="en-US" b="0" i="1" smtClean="0">
                          <a:latin typeface="Cambria Math" panose="02040503050406030204" pitchFamily="18" charset="0"/>
                        </a:rPr>
                        <m:t>/</m:t>
                      </m:r>
                      <m:d>
                        <m:dPr>
                          <m:ctrlPr>
                            <a:rPr lang="en-US" i="1">
                              <a:latin typeface="Cambria Math" panose="02040503050406030204" pitchFamily="18" charset="0"/>
                            </a:rPr>
                          </m:ctrlPr>
                        </m:dPr>
                        <m:e>
                          <m:sSub>
                            <m:sSubPr>
                              <m:ctrlPr>
                                <a:rPr lang="pt-BR" i="1">
                                  <a:latin typeface="Cambria Math" panose="02040503050406030204" pitchFamily="18" charset="0"/>
                                </a:rPr>
                              </m:ctrlPr>
                            </m:sSubPr>
                            <m:e>
                              <m:r>
                                <m:rPr>
                                  <m:sty m:val="p"/>
                                </m:rPr>
                                <a:rPr lang="en-US" b="0" i="1" smtClean="0">
                                  <a:latin typeface="Cambria Math" panose="02040503050406030204" pitchFamily="18" charset="0"/>
                                </a:rPr>
                                <m:t>q</m:t>
                              </m:r>
                            </m:e>
                            <m:sub>
                              <m:r>
                                <m:rPr>
                                  <m:sty m:val="p"/>
                                </m:rPr>
                                <a:rPr lang="en-US" i="1">
                                  <a:latin typeface="Cambria Math" panose="02040503050406030204" pitchFamily="18" charset="0"/>
                                </a:rPr>
                                <m:t>max</m:t>
                              </m:r>
                            </m:sub>
                          </m:sSub>
                          <m:r>
                            <a:rPr lang="en-US"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m:rPr>
                                  <m:sty m:val="p"/>
                                </m:rPr>
                                <a:rPr lang="en-US" b="0" i="1" smtClean="0">
                                  <a:latin typeface="Cambria Math" panose="02040503050406030204" pitchFamily="18" charset="0"/>
                                </a:rPr>
                                <m:t>q</m:t>
                              </m:r>
                            </m:e>
                            <m:sub>
                              <m:r>
                                <m:rPr>
                                  <m:sty m:val="p"/>
                                </m:rPr>
                                <a:rPr lang="en-US" i="1">
                                  <a:latin typeface="Cambria Math" panose="02040503050406030204" pitchFamily="18" charset="0"/>
                                </a:rPr>
                                <m:t>min</m:t>
                              </m:r>
                            </m:sub>
                          </m:sSub>
                        </m:e>
                      </m:d>
                    </m:oMath>
                  </m:oMathPara>
                </a14:m>
                <a:endParaRPr lang="pt-BR" i="1" dirty="0"/>
              </a:p>
            </p:txBody>
          </p:sp>
        </mc:Choice>
        <mc:Fallback>
          <p:sp>
            <p:nvSpPr>
              <p:cNvPr id="21" name="CaixaDeTexto 20">
                <a:extLst>
                  <a:ext uri="{FF2B5EF4-FFF2-40B4-BE49-F238E27FC236}">
                    <a16:creationId xmlns:a16="http://schemas.microsoft.com/office/drawing/2014/main" id="{E9791E93-BA4A-0245-A9D8-04E424141F83}"/>
                  </a:ext>
                </a:extLst>
              </p:cNvPr>
              <p:cNvSpPr txBox="1">
                <a:spLocks noRot="1" noChangeAspect="1" noMove="1" noResize="1" noEditPoints="1" noAdjustHandles="1" noChangeArrowheads="1" noChangeShapeType="1" noTextEdit="1"/>
              </p:cNvSpPr>
              <p:nvPr/>
            </p:nvSpPr>
            <p:spPr>
              <a:xfrm>
                <a:off x="211948" y="2643987"/>
                <a:ext cx="3404843" cy="276999"/>
              </a:xfrm>
              <a:prstGeom prst="rect">
                <a:avLst/>
              </a:prstGeom>
              <a:blipFill>
                <a:blip r:embed="rId5"/>
                <a:stretch>
                  <a:fillRect t="-4444" b="-35556"/>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2" name="CaixaDeTexto 21">
                <a:extLst>
                  <a:ext uri="{FF2B5EF4-FFF2-40B4-BE49-F238E27FC236}">
                    <a16:creationId xmlns:a16="http://schemas.microsoft.com/office/drawing/2014/main" id="{243AD3F0-F21E-4943-0212-990E6CF2675B}"/>
                  </a:ext>
                </a:extLst>
              </p:cNvPr>
              <p:cNvSpPr txBox="1"/>
              <p:nvPr/>
            </p:nvSpPr>
            <p:spPr>
              <a:xfrm>
                <a:off x="285751" y="3313501"/>
                <a:ext cx="3075714" cy="276999"/>
              </a:xfrm>
              <a:prstGeom prst="rect">
                <a:avLst/>
              </a:prstGeom>
              <a:noFill/>
            </p:spPr>
            <p:txBody>
              <a:bodyPr wrap="none" lIns="0" tIns="0" rIns="0" bIns="0" rtlCol="0">
                <a:spAutoFit/>
              </a:bodyPr>
              <a:lstStyle/>
              <a:p>
                <a:pPr/>
                <a14:m>
                  <m:oMath xmlns:m="http://schemas.openxmlformats.org/officeDocument/2006/math">
                    <m:r>
                      <m:rPr>
                        <m:sty m:val="p"/>
                      </m:rPr>
                      <a:rPr lang="en-US" i="1">
                        <a:latin typeface="Cambria Math" panose="02040503050406030204" pitchFamily="18" charset="0"/>
                      </a:rPr>
                      <m:t>z</m:t>
                    </m:r>
                    <m:r>
                      <a:rPr lang="en-US" i="1">
                        <a:latin typeface="Cambria Math" panose="02040503050406030204" pitchFamily="18" charset="0"/>
                      </a:rPr>
                      <m:t>=</m:t>
                    </m:r>
                    <m:r>
                      <a:rPr lang="en-US" i="1">
                        <a:latin typeface="Cambria Math" panose="02040503050406030204" pitchFamily="18" charset="0"/>
                      </a:rPr>
                      <m:t>𝑖𝑛𝑡</m:t>
                    </m:r>
                    <m:r>
                      <a:rPr lang="en-US" i="1">
                        <a:latin typeface="Cambria Math" panose="02040503050406030204" pitchFamily="18" charset="0"/>
                      </a:rPr>
                      <m:t>(</m:t>
                    </m:r>
                    <m:r>
                      <a:rPr lang="en-US" i="1">
                        <a:latin typeface="Cambria Math" panose="02040503050406030204" pitchFamily="18" charset="0"/>
                      </a:rPr>
                      <m:t>𝑟𝑜𝑢𝑛𝑑</m:t>
                    </m:r>
                    <m:d>
                      <m:dPr>
                        <m:ctrlPr>
                          <a:rPr lang="en-US" i="1">
                            <a:latin typeface="Cambria Math" panose="02040503050406030204" pitchFamily="18" charset="0"/>
                          </a:rPr>
                        </m:ctrlPr>
                      </m:dPr>
                      <m:e>
                        <m:sSub>
                          <m:sSubPr>
                            <m:ctrlPr>
                              <a:rPr lang="pt-BR" i="1">
                                <a:latin typeface="Cambria Math" panose="02040503050406030204" pitchFamily="18" charset="0"/>
                              </a:rPr>
                            </m:ctrlPr>
                          </m:sSubPr>
                          <m:e>
                            <m:r>
                              <m:rPr>
                                <m:sty m:val="p"/>
                              </m:rPr>
                              <a:rPr lang="en-US" b="0" i="1" smtClean="0">
                                <a:latin typeface="Cambria Math" panose="02040503050406030204" pitchFamily="18" charset="0"/>
                              </a:rPr>
                              <m:t>q</m:t>
                            </m:r>
                          </m:e>
                          <m:sub>
                            <m:r>
                              <m:rPr>
                                <m:sty m:val="p"/>
                              </m:rPr>
                              <a:rPr lang="en-US" i="1">
                                <a:latin typeface="Cambria Math" panose="02040503050406030204" pitchFamily="18" charset="0"/>
                              </a:rPr>
                              <m:t>m</m:t>
                            </m:r>
                            <m:r>
                              <m:rPr>
                                <m:sty m:val="p"/>
                              </m:rPr>
                              <a:rPr lang="en-US" b="0" i="1" smtClean="0">
                                <a:latin typeface="Cambria Math" panose="02040503050406030204" pitchFamily="18" charset="0"/>
                              </a:rPr>
                              <m:t>in</m:t>
                            </m:r>
                          </m:sub>
                        </m:sSub>
                        <m:r>
                          <a:rPr lang="en-US"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m:rPr>
                                <m:sty m:val="p"/>
                              </m:rPr>
                              <a:rPr lang="en-US" b="0" i="1" smtClean="0">
                                <a:latin typeface="Cambria Math" panose="02040503050406030204" pitchFamily="18" charset="0"/>
                              </a:rPr>
                              <m:t>r</m:t>
                            </m:r>
                          </m:e>
                          <m:sub>
                            <m:r>
                              <m:rPr>
                                <m:sty m:val="p"/>
                              </m:rPr>
                              <a:rPr lang="en-US" i="1">
                                <a:latin typeface="Cambria Math" panose="02040503050406030204" pitchFamily="18" charset="0"/>
                              </a:rPr>
                              <m:t>min</m:t>
                            </m:r>
                          </m:sub>
                        </m:sSub>
                        <m:r>
                          <a:rPr lang="en-US" b="0" i="1" smtClean="0">
                            <a:latin typeface="Cambria Math" panose="02040503050406030204" pitchFamily="18" charset="0"/>
                          </a:rPr>
                          <m:t>/</m:t>
                        </m:r>
                        <m:r>
                          <m:rPr>
                            <m:sty m:val="p"/>
                          </m:rPr>
                          <a:rPr lang="en-US" b="0" i="1" smtClean="0">
                            <a:latin typeface="Cambria Math" panose="02040503050406030204" pitchFamily="18" charset="0"/>
                          </a:rPr>
                          <m:t>s</m:t>
                        </m:r>
                      </m:e>
                    </m:d>
                  </m:oMath>
                </a14:m>
                <a:r>
                  <a:rPr lang="pt-BR" i="1" dirty="0"/>
                  <a:t>)</a:t>
                </a:r>
              </a:p>
            </p:txBody>
          </p:sp>
        </mc:Choice>
        <mc:Fallback>
          <p:sp>
            <p:nvSpPr>
              <p:cNvPr id="22" name="CaixaDeTexto 21">
                <a:extLst>
                  <a:ext uri="{FF2B5EF4-FFF2-40B4-BE49-F238E27FC236}">
                    <a16:creationId xmlns:a16="http://schemas.microsoft.com/office/drawing/2014/main" id="{243AD3F0-F21E-4943-0212-990E6CF2675B}"/>
                  </a:ext>
                </a:extLst>
              </p:cNvPr>
              <p:cNvSpPr txBox="1">
                <a:spLocks noRot="1" noChangeAspect="1" noMove="1" noResize="1" noEditPoints="1" noAdjustHandles="1" noChangeArrowheads="1" noChangeShapeType="1" noTextEdit="1"/>
              </p:cNvSpPr>
              <p:nvPr/>
            </p:nvSpPr>
            <p:spPr>
              <a:xfrm>
                <a:off x="285751" y="3313501"/>
                <a:ext cx="3075714" cy="276999"/>
              </a:xfrm>
              <a:prstGeom prst="rect">
                <a:avLst/>
              </a:prstGeom>
              <a:blipFill>
                <a:blip r:embed="rId6"/>
                <a:stretch>
                  <a:fillRect l="-1984" t="-28889" r="-3770" b="-51111"/>
                </a:stretch>
              </a:blipFill>
            </p:spPr>
            <p:txBody>
              <a:bodyPr/>
              <a:lstStyle/>
              <a:p>
                <a:r>
                  <a:rPr lang="pt-BR">
                    <a:noFill/>
                  </a:rPr>
                  <a:t> </a:t>
                </a:r>
              </a:p>
            </p:txBody>
          </p:sp>
        </mc:Fallback>
      </mc:AlternateContent>
      <p:sp>
        <p:nvSpPr>
          <p:cNvPr id="25" name="Text 1">
            <a:extLst>
              <a:ext uri="{FF2B5EF4-FFF2-40B4-BE49-F238E27FC236}">
                <a16:creationId xmlns:a16="http://schemas.microsoft.com/office/drawing/2014/main" id="{9B8B414A-17B3-D8C0-4F5A-5A7FA54C09E2}"/>
              </a:ext>
            </a:extLst>
          </p:cNvPr>
          <p:cNvSpPr/>
          <p:nvPr/>
        </p:nvSpPr>
        <p:spPr>
          <a:xfrm>
            <a:off x="248180" y="3714825"/>
            <a:ext cx="2342997" cy="205184"/>
          </a:xfrm>
          <a:prstGeom prst="rect">
            <a:avLst/>
          </a:prstGeom>
          <a:noFill/>
          <a:ln/>
        </p:spPr>
        <p:txBody>
          <a:bodyPr wrap="square" lIns="0" tIns="0" rIns="0" bIns="0" rtlCol="0" anchor="t">
            <a:spAutoFit/>
          </a:bodyPr>
          <a:lstStyle/>
          <a:p>
            <a:pPr algn="ctr">
              <a:lnSpc>
                <a:spcPts val="1600"/>
              </a:lnSpc>
            </a:pPr>
            <a:r>
              <a:rPr lang="en-US" sz="1400" b="1" dirty="0">
                <a:latin typeface="Montserrat" pitchFamily="2" charset="0"/>
              </a:rPr>
              <a:t>Why make z an integer?</a:t>
            </a:r>
          </a:p>
        </p:txBody>
      </p:sp>
      <p:sp>
        <p:nvSpPr>
          <p:cNvPr id="26" name="Text 1">
            <a:extLst>
              <a:ext uri="{FF2B5EF4-FFF2-40B4-BE49-F238E27FC236}">
                <a16:creationId xmlns:a16="http://schemas.microsoft.com/office/drawing/2014/main" id="{ECCF0285-5B92-C63B-811F-F53EE599D6B9}"/>
              </a:ext>
            </a:extLst>
          </p:cNvPr>
          <p:cNvSpPr/>
          <p:nvPr/>
        </p:nvSpPr>
        <p:spPr>
          <a:xfrm>
            <a:off x="285751" y="4012801"/>
            <a:ext cx="7962728" cy="615553"/>
          </a:xfrm>
          <a:prstGeom prst="rect">
            <a:avLst/>
          </a:prstGeom>
          <a:noFill/>
          <a:ln/>
        </p:spPr>
        <p:txBody>
          <a:bodyPr wrap="square" lIns="0" tIns="0" rIns="0" bIns="0" rtlCol="0" anchor="t">
            <a:spAutoFit/>
          </a:bodyPr>
          <a:lstStyle/>
          <a:p>
            <a:pPr>
              <a:lnSpc>
                <a:spcPts val="1600"/>
              </a:lnSpc>
            </a:pPr>
            <a:r>
              <a:rPr lang="en-US" sz="1400" dirty="0">
                <a:solidFill>
                  <a:srgbClr val="1A1A1A"/>
                </a:solidFill>
                <a:latin typeface="Montserrat" pitchFamily="2" charset="0"/>
              </a:rPr>
              <a:t>Represent zero (in the original “r” range) with an integer in the quantized “q” range</a:t>
            </a:r>
          </a:p>
          <a:p>
            <a:pPr>
              <a:lnSpc>
                <a:spcPts val="1600"/>
              </a:lnSpc>
            </a:pPr>
            <a:endParaRPr lang="en-US" sz="1400" dirty="0">
              <a:solidFill>
                <a:srgbClr val="1A1A1A"/>
              </a:solidFill>
              <a:latin typeface="Montserrat" pitchFamily="2" charset="0"/>
            </a:endParaRPr>
          </a:p>
          <a:p>
            <a:pPr>
              <a:lnSpc>
                <a:spcPts val="1600"/>
              </a:lnSpc>
            </a:pPr>
            <a:r>
              <a:rPr lang="en-US" sz="1400" dirty="0">
                <a:solidFill>
                  <a:srgbClr val="1A1A1A"/>
                </a:solidFill>
                <a:latin typeface="Montserrat" pitchFamily="2" charset="0"/>
              </a:rPr>
              <a:t>E.g. zero-padding in Convolutional Neural Networks use tensors of exactly zero</a:t>
            </a:r>
          </a:p>
        </p:txBody>
      </p:sp>
    </p:spTree>
    <p:extLst>
      <p:ext uri="{BB962C8B-B14F-4D97-AF65-F5344CB8AC3E}">
        <p14:creationId xmlns:p14="http://schemas.microsoft.com/office/powerpoint/2010/main" val="39429075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AE9F8-B4C6-EF39-6B9D-ABDDF86F554C}"/>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B39ECA84-AD24-8950-2862-A6D272F8AB75}"/>
              </a:ext>
            </a:extLst>
          </p:cNvPr>
          <p:cNvSpPr/>
          <p:nvPr/>
        </p:nvSpPr>
        <p:spPr>
          <a:xfrm>
            <a:off x="285751" y="324744"/>
            <a:ext cx="1686359"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DERIVATION</a:t>
            </a:r>
          </a:p>
        </p:txBody>
      </p:sp>
      <p:pic>
        <p:nvPicPr>
          <p:cNvPr id="6" name="Imagem 5" descr="Uma imagem contendo Interface gráfica do usuário&#10;&#10;O conteúdo gerado por IA pode estar incorreto.">
            <a:extLst>
              <a:ext uri="{FF2B5EF4-FFF2-40B4-BE49-F238E27FC236}">
                <a16:creationId xmlns:a16="http://schemas.microsoft.com/office/drawing/2014/main" id="{91A1FF00-652B-01C1-15F9-5DE2A4565A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sp>
        <p:nvSpPr>
          <p:cNvPr id="2" name="CaixaDeTexto 1">
            <a:extLst>
              <a:ext uri="{FF2B5EF4-FFF2-40B4-BE49-F238E27FC236}">
                <a16:creationId xmlns:a16="http://schemas.microsoft.com/office/drawing/2014/main" id="{5FF975EF-7515-A54D-6DAA-A412A5EC6960}"/>
              </a:ext>
            </a:extLst>
          </p:cNvPr>
          <p:cNvSpPr txBox="1"/>
          <p:nvPr/>
        </p:nvSpPr>
        <p:spPr>
          <a:xfrm>
            <a:off x="285751" y="1517359"/>
            <a:ext cx="726620" cy="303288"/>
          </a:xfrm>
          <a:prstGeom prst="rect">
            <a:avLst/>
          </a:prstGeom>
          <a:noFill/>
        </p:spPr>
        <p:txBody>
          <a:bodyPr wrap="square">
            <a:spAutoFit/>
          </a:bodyPr>
          <a:lstStyle/>
          <a:p>
            <a:pPr>
              <a:lnSpc>
                <a:spcPts val="1600"/>
              </a:lnSpc>
            </a:pPr>
            <a:r>
              <a:rPr lang="en-US" sz="1400" b="1" dirty="0">
                <a:solidFill>
                  <a:srgbClr val="1A1A1A"/>
                </a:solidFill>
                <a:latin typeface="Montserrat" pitchFamily="2" charset="0"/>
              </a:rPr>
              <a:t>scale:</a:t>
            </a:r>
          </a:p>
        </p:txBody>
      </p:sp>
      <mc:AlternateContent xmlns:mc="http://schemas.openxmlformats.org/markup-compatibility/2006">
        <mc:Choice xmlns:a14="http://schemas.microsoft.com/office/drawing/2010/main" Requires="a14">
          <p:sp>
            <p:nvSpPr>
              <p:cNvPr id="3" name="CaixaDeTexto 2">
                <a:extLst>
                  <a:ext uri="{FF2B5EF4-FFF2-40B4-BE49-F238E27FC236}">
                    <a16:creationId xmlns:a16="http://schemas.microsoft.com/office/drawing/2014/main" id="{BDFC80AC-E52E-C171-5495-8312A9FBDECE}"/>
                  </a:ext>
                </a:extLst>
              </p:cNvPr>
              <p:cNvSpPr txBox="1"/>
              <p:nvPr/>
            </p:nvSpPr>
            <p:spPr>
              <a:xfrm>
                <a:off x="366274" y="1878836"/>
                <a:ext cx="3745321"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1600" i="1">
                              <a:latin typeface="Cambria Math" panose="02040503050406030204" pitchFamily="18" charset="0"/>
                            </a:rPr>
                          </m:ctrlPr>
                        </m:sSubPr>
                        <m:e>
                          <m:r>
                            <m:rPr>
                              <m:sty m:val="p"/>
                            </m:rPr>
                            <a:rPr lang="en-US" sz="1600" i="1">
                              <a:latin typeface="Cambria Math" panose="02040503050406030204" pitchFamily="18" charset="0"/>
                            </a:rPr>
                            <m:t>r</m:t>
                          </m:r>
                        </m:e>
                        <m:sub>
                          <m:r>
                            <m:rPr>
                              <m:sty m:val="p"/>
                            </m:rPr>
                            <a:rPr lang="en-US" sz="1600" i="1">
                              <a:latin typeface="Cambria Math" panose="02040503050406030204" pitchFamily="18" charset="0"/>
                            </a:rPr>
                            <m:t>min</m:t>
                          </m:r>
                        </m:sub>
                      </m:sSub>
                      <m:r>
                        <a:rPr lang="pt-BR" sz="1600" i="1" dirty="0">
                          <a:ea typeface="Cambria Math" panose="02040503050406030204" pitchFamily="18" charset="0"/>
                        </a:rPr>
                        <m:t>−</m:t>
                      </m:r>
                      <m:sSub>
                        <m:sSubPr>
                          <m:ctrlPr>
                            <a:rPr lang="pt-BR" sz="1600" i="1">
                              <a:latin typeface="Cambria Math" panose="02040503050406030204" pitchFamily="18" charset="0"/>
                            </a:rPr>
                          </m:ctrlPr>
                        </m:sSubPr>
                        <m:e>
                          <m:r>
                            <m:rPr>
                              <m:sty m:val="p"/>
                            </m:rPr>
                            <a:rPr lang="en-US" sz="1600" i="1">
                              <a:latin typeface="Cambria Math" panose="02040503050406030204" pitchFamily="18" charset="0"/>
                            </a:rPr>
                            <m:t>r</m:t>
                          </m:r>
                        </m:e>
                        <m:sub>
                          <m:r>
                            <m:rPr>
                              <m:sty m:val="p"/>
                            </m:rPr>
                            <a:rPr lang="en-US" sz="1600" i="1">
                              <a:latin typeface="Cambria Math" panose="02040503050406030204" pitchFamily="18" charset="0"/>
                            </a:rPr>
                            <m:t>m</m:t>
                          </m:r>
                          <m:r>
                            <m:rPr>
                              <m:sty m:val="p"/>
                            </m:rPr>
                            <a:rPr lang="en-US" sz="1600" b="0" i="1" smtClean="0">
                              <a:latin typeface="Cambria Math" panose="02040503050406030204" pitchFamily="18" charset="0"/>
                            </a:rPr>
                            <m:t>ax</m:t>
                          </m:r>
                        </m:sub>
                      </m:sSub>
                      <m:r>
                        <a:rPr lang="en-US" sz="1600" b="0" i="1" smtClean="0">
                          <a:latin typeface="Cambria Math" panose="02040503050406030204" pitchFamily="18" charset="0"/>
                        </a:rPr>
                        <m:t>= </m:t>
                      </m:r>
                      <m:r>
                        <m:rPr>
                          <m:sty m:val="p"/>
                        </m:rPr>
                        <a:rPr lang="en-US" sz="1600" b="0" i="1" smtClean="0">
                          <a:latin typeface="Cambria Math" panose="02040503050406030204" pitchFamily="18" charset="0"/>
                        </a:rPr>
                        <m:t>s</m:t>
                      </m:r>
                      <m:r>
                        <a:rPr lang="en-US" sz="1600" i="1">
                          <a:latin typeface="Cambria Math" panose="02040503050406030204" pitchFamily="18" charset="0"/>
                        </a:rPr>
                        <m:t>(</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q</m:t>
                          </m:r>
                        </m:e>
                        <m:sub>
                          <m:r>
                            <m:rPr>
                              <m:sty m:val="p"/>
                            </m:rPr>
                            <a:rPr lang="en-US" sz="1600" i="1">
                              <a:latin typeface="Cambria Math" panose="02040503050406030204" pitchFamily="18" charset="0"/>
                            </a:rPr>
                            <m:t>min</m:t>
                          </m:r>
                        </m:sub>
                      </m:sSub>
                      <m:r>
                        <a:rPr lang="en-US" sz="1600" i="1">
                          <a:latin typeface="Cambria Math" panose="02040503050406030204" pitchFamily="18" charset="0"/>
                          <a:ea typeface="Cambria Math" panose="02040503050406030204" pitchFamily="18" charset="0"/>
                        </a:rPr>
                        <m:t>−</m:t>
                      </m:r>
                      <m:r>
                        <m:rPr>
                          <m:sty m:val="p"/>
                        </m:rPr>
                        <a:rPr lang="en-US" sz="1600" i="1">
                          <a:latin typeface="Cambria Math" panose="02040503050406030204" pitchFamily="18" charset="0"/>
                          <a:ea typeface="Cambria Math" panose="02040503050406030204" pitchFamily="18" charset="0"/>
                        </a:rPr>
                        <m:t>z</m:t>
                      </m:r>
                      <m:r>
                        <a:rPr lang="en-US" sz="1600" i="1">
                          <a:latin typeface="Cambria Math" panose="02040503050406030204" pitchFamily="18" charset="0"/>
                          <a:ea typeface="Cambria Math" panose="02040503050406030204" pitchFamily="18" charset="0"/>
                        </a:rPr>
                        <m:t>) −</m:t>
                      </m:r>
                      <m:r>
                        <m:rPr>
                          <m:sty m:val="p"/>
                        </m:rPr>
                        <a:rPr lang="en-US" sz="1600" i="1">
                          <a:latin typeface="Cambria Math" panose="02040503050406030204" pitchFamily="18" charset="0"/>
                        </a:rPr>
                        <m:t>s</m:t>
                      </m:r>
                      <m:r>
                        <a:rPr lang="en-US" sz="1600" i="1">
                          <a:latin typeface="Cambria Math" panose="02040503050406030204" pitchFamily="18" charset="0"/>
                        </a:rPr>
                        <m:t>(</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q</m:t>
                          </m:r>
                        </m:e>
                        <m:sub>
                          <m:r>
                            <m:rPr>
                              <m:sty m:val="p"/>
                            </m:rPr>
                            <a:rPr lang="en-US" sz="1600" i="1">
                              <a:latin typeface="Cambria Math" panose="02040503050406030204" pitchFamily="18" charset="0"/>
                            </a:rPr>
                            <m:t>max</m:t>
                          </m:r>
                        </m:sub>
                      </m:sSub>
                      <m:r>
                        <a:rPr lang="en-US" sz="1600" i="1">
                          <a:latin typeface="Cambria Math" panose="02040503050406030204" pitchFamily="18" charset="0"/>
                          <a:ea typeface="Cambria Math" panose="02040503050406030204" pitchFamily="18" charset="0"/>
                        </a:rPr>
                        <m:t>− </m:t>
                      </m:r>
                      <m:r>
                        <m:rPr>
                          <m:sty m:val="p"/>
                        </m:rPr>
                        <a:rPr lang="en-US" sz="1600" i="1">
                          <a:latin typeface="Cambria Math" panose="02040503050406030204" pitchFamily="18" charset="0"/>
                          <a:ea typeface="Cambria Math" panose="02040503050406030204" pitchFamily="18" charset="0"/>
                        </a:rPr>
                        <m:t>z</m:t>
                      </m:r>
                      <m:r>
                        <a:rPr lang="en-US" sz="1600" i="1">
                          <a:latin typeface="Cambria Math" panose="02040503050406030204" pitchFamily="18" charset="0"/>
                          <a:ea typeface="Cambria Math" panose="02040503050406030204" pitchFamily="18" charset="0"/>
                        </a:rPr>
                        <m:t>)</m:t>
                      </m:r>
                    </m:oMath>
                  </m:oMathPara>
                </a14:m>
                <a:endParaRPr lang="pt-BR" sz="1600" i="1" dirty="0"/>
              </a:p>
            </p:txBody>
          </p:sp>
        </mc:Choice>
        <mc:Fallback>
          <p:sp>
            <p:nvSpPr>
              <p:cNvPr id="3" name="CaixaDeTexto 2">
                <a:extLst>
                  <a:ext uri="{FF2B5EF4-FFF2-40B4-BE49-F238E27FC236}">
                    <a16:creationId xmlns:a16="http://schemas.microsoft.com/office/drawing/2014/main" id="{BDFC80AC-E52E-C171-5495-8312A9FBDECE}"/>
                  </a:ext>
                </a:extLst>
              </p:cNvPr>
              <p:cNvSpPr txBox="1">
                <a:spLocks noRot="1" noChangeAspect="1" noMove="1" noResize="1" noEditPoints="1" noAdjustHandles="1" noChangeArrowheads="1" noChangeShapeType="1" noTextEdit="1"/>
              </p:cNvSpPr>
              <p:nvPr/>
            </p:nvSpPr>
            <p:spPr>
              <a:xfrm>
                <a:off x="366274" y="1878836"/>
                <a:ext cx="3745321" cy="246221"/>
              </a:xfrm>
              <a:prstGeom prst="rect">
                <a:avLst/>
              </a:prstGeom>
              <a:blipFill>
                <a:blip r:embed="rId3"/>
                <a:stretch>
                  <a:fillRect l="-163" r="-1629" b="-31707"/>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7" name="CaixaDeTexto 6">
                <a:extLst>
                  <a:ext uri="{FF2B5EF4-FFF2-40B4-BE49-F238E27FC236}">
                    <a16:creationId xmlns:a16="http://schemas.microsoft.com/office/drawing/2014/main" id="{7667AD54-47D3-4D6F-2176-2AD4F58D60D0}"/>
                  </a:ext>
                </a:extLst>
              </p:cNvPr>
              <p:cNvSpPr txBox="1"/>
              <p:nvPr/>
            </p:nvSpPr>
            <p:spPr>
              <a:xfrm>
                <a:off x="285751" y="800313"/>
                <a:ext cx="1931875" cy="54925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d>
                        <m:dPr>
                          <m:begChr m:val="{"/>
                          <m:endChr m:val=""/>
                          <m:ctrlPr>
                            <a:rPr lang="pt-BR" sz="1600" i="1" smtClean="0">
                              <a:latin typeface="Cambria Math" panose="02040503050406030204" pitchFamily="18" charset="0"/>
                            </a:rPr>
                          </m:ctrlPr>
                        </m:dPr>
                        <m:e>
                          <m:eqArr>
                            <m:eqArrPr>
                              <m:ctrlPr>
                                <a:rPr lang="pt-BR" sz="1600" i="1" smtClean="0">
                                  <a:latin typeface="Cambria Math" panose="02040503050406030204" pitchFamily="18" charset="0"/>
                                </a:rPr>
                              </m:ctrlPr>
                            </m:eqArrPr>
                            <m:e>
                              <m:sSub>
                                <m:sSubPr>
                                  <m:ctrlPr>
                                    <a:rPr lang="pt-BR" sz="1600" i="1" smtClean="0">
                                      <a:latin typeface="Cambria Math" panose="02040503050406030204" pitchFamily="18" charset="0"/>
                                    </a:rPr>
                                  </m:ctrlPr>
                                </m:sSubPr>
                                <m:e>
                                  <m:r>
                                    <m:rPr>
                                      <m:sty m:val="p"/>
                                    </m:rPr>
                                    <a:rPr lang="en-US" sz="1600" b="0" i="1" smtClean="0">
                                      <a:latin typeface="Cambria Math" panose="02040503050406030204" pitchFamily="18" charset="0"/>
                                    </a:rPr>
                                    <m:t>r</m:t>
                                  </m:r>
                                </m:e>
                                <m:sub>
                                  <m:r>
                                    <m:rPr>
                                      <m:sty m:val="p"/>
                                    </m:rPr>
                                    <a:rPr lang="en-US" sz="1600" b="0" i="1" smtClean="0">
                                      <a:latin typeface="Cambria Math" panose="02040503050406030204" pitchFamily="18" charset="0"/>
                                    </a:rPr>
                                    <m:t>min</m:t>
                                  </m:r>
                                </m:sub>
                              </m:sSub>
                              <m:r>
                                <a:rPr lang="en-US" sz="1600" b="0" i="1" smtClean="0">
                                  <a:latin typeface="Cambria Math" panose="02040503050406030204" pitchFamily="18" charset="0"/>
                                </a:rPr>
                                <m:t>= </m:t>
                              </m:r>
                              <m:r>
                                <m:rPr>
                                  <m:sty m:val="p"/>
                                </m:rPr>
                                <a:rPr lang="en-US" sz="1600" b="0" i="1" smtClean="0">
                                  <a:latin typeface="Cambria Math" panose="02040503050406030204" pitchFamily="18" charset="0"/>
                                </a:rPr>
                                <m:t>s</m:t>
                              </m:r>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m:rPr>
                                      <m:sty m:val="p"/>
                                    </m:rPr>
                                    <a:rPr lang="en-US" sz="1600" b="0" i="1" smtClean="0">
                                      <a:latin typeface="Cambria Math" panose="02040503050406030204" pitchFamily="18" charset="0"/>
                                    </a:rPr>
                                    <m:t>q</m:t>
                                  </m:r>
                                </m:e>
                                <m:sub>
                                  <m:r>
                                    <m:rPr>
                                      <m:sty m:val="p"/>
                                    </m:rPr>
                                    <a:rPr lang="en-US" sz="1600" b="0" i="1" smtClean="0">
                                      <a:latin typeface="Cambria Math" panose="02040503050406030204" pitchFamily="18" charset="0"/>
                                    </a:rPr>
                                    <m:t>min</m:t>
                                  </m:r>
                                </m:sub>
                              </m:sSub>
                              <m:r>
                                <a:rPr lang="en-US" sz="1600" b="0" i="1" smtClean="0">
                                  <a:latin typeface="Cambria Math" panose="02040503050406030204" pitchFamily="18" charset="0"/>
                                  <a:ea typeface="Cambria Math" panose="02040503050406030204" pitchFamily="18" charset="0"/>
                                </a:rPr>
                                <m:t>−</m:t>
                              </m:r>
                              <m:r>
                                <m:rPr>
                                  <m:sty m:val="p"/>
                                </m:rPr>
                                <a:rPr lang="en-US" sz="1600" b="0" i="1" smtClean="0">
                                  <a:latin typeface="Cambria Math" panose="02040503050406030204" pitchFamily="18" charset="0"/>
                                  <a:ea typeface="Cambria Math" panose="02040503050406030204" pitchFamily="18" charset="0"/>
                                </a:rPr>
                                <m:t>z</m:t>
                              </m:r>
                              <m:r>
                                <a:rPr lang="en-US" sz="1600" b="0" i="1" smtClean="0">
                                  <a:latin typeface="Cambria Math" panose="02040503050406030204" pitchFamily="18" charset="0"/>
                                  <a:ea typeface="Cambria Math" panose="02040503050406030204" pitchFamily="18" charset="0"/>
                                </a:rPr>
                                <m:t>)</m:t>
                              </m:r>
                            </m:e>
                            <m:e>
                              <m:sSub>
                                <m:sSubPr>
                                  <m:ctrlPr>
                                    <a:rPr lang="pt-BR" sz="1600" i="1" smtClean="0">
                                      <a:latin typeface="Cambria Math" panose="02040503050406030204" pitchFamily="18" charset="0"/>
                                    </a:rPr>
                                  </m:ctrlPr>
                                </m:sSubPr>
                                <m:e>
                                  <m:r>
                                    <m:rPr>
                                      <m:sty m:val="p"/>
                                    </m:rPr>
                                    <a:rPr lang="en-US" sz="1600" b="0" i="1" smtClean="0">
                                      <a:latin typeface="Cambria Math" panose="02040503050406030204" pitchFamily="18" charset="0"/>
                                    </a:rPr>
                                    <m:t>r</m:t>
                                  </m:r>
                                </m:e>
                                <m:sub>
                                  <m:r>
                                    <m:rPr>
                                      <m:sty m:val="p"/>
                                    </m:rPr>
                                    <a:rPr lang="en-US" sz="1600" b="0" i="1" smtClean="0">
                                      <a:latin typeface="Cambria Math" panose="02040503050406030204" pitchFamily="18" charset="0"/>
                                    </a:rPr>
                                    <m:t>max</m:t>
                                  </m:r>
                                </m:sub>
                              </m:sSub>
                              <m:r>
                                <a:rPr lang="en-US" sz="1600" b="0" i="1" smtClean="0">
                                  <a:latin typeface="Cambria Math" panose="02040503050406030204" pitchFamily="18" charset="0"/>
                                </a:rPr>
                                <m:t>= </m:t>
                              </m:r>
                              <m:r>
                                <m:rPr>
                                  <m:sty m:val="p"/>
                                </m:rPr>
                                <a:rPr lang="en-US" sz="1600" b="0" i="1" smtClean="0">
                                  <a:latin typeface="Cambria Math" panose="02040503050406030204" pitchFamily="18" charset="0"/>
                                </a:rPr>
                                <m:t>s</m:t>
                              </m:r>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m:rPr>
                                      <m:sty m:val="p"/>
                                    </m:rPr>
                                    <a:rPr lang="en-US" sz="1600" b="0" i="1" smtClean="0">
                                      <a:latin typeface="Cambria Math" panose="02040503050406030204" pitchFamily="18" charset="0"/>
                                    </a:rPr>
                                    <m:t>q</m:t>
                                  </m:r>
                                </m:e>
                                <m:sub>
                                  <m:r>
                                    <m:rPr>
                                      <m:sty m:val="p"/>
                                    </m:rPr>
                                    <a:rPr lang="en-US" sz="1600" b="0" i="1" smtClean="0">
                                      <a:latin typeface="Cambria Math" panose="02040503050406030204" pitchFamily="18" charset="0"/>
                                    </a:rPr>
                                    <m:t>max</m:t>
                                  </m:r>
                                </m:sub>
                              </m:sSub>
                              <m:r>
                                <a:rPr lang="en-US" sz="1600" b="0" i="1" smtClean="0">
                                  <a:latin typeface="Cambria Math" panose="02040503050406030204" pitchFamily="18" charset="0"/>
                                  <a:ea typeface="Cambria Math" panose="02040503050406030204" pitchFamily="18" charset="0"/>
                                </a:rPr>
                                <m:t>− </m:t>
                              </m:r>
                              <m:r>
                                <m:rPr>
                                  <m:sty m:val="p"/>
                                </m:rPr>
                                <a:rPr lang="en-US" sz="1600" b="0" i="1" smtClean="0">
                                  <a:latin typeface="Cambria Math" panose="02040503050406030204" pitchFamily="18" charset="0"/>
                                  <a:ea typeface="Cambria Math" panose="02040503050406030204" pitchFamily="18" charset="0"/>
                                </a:rPr>
                                <m:t>z</m:t>
                              </m:r>
                              <m:r>
                                <a:rPr lang="en-US" sz="1600" b="0" i="1" smtClean="0">
                                  <a:latin typeface="Cambria Math" panose="02040503050406030204" pitchFamily="18" charset="0"/>
                                  <a:ea typeface="Cambria Math" panose="02040503050406030204" pitchFamily="18" charset="0"/>
                                </a:rPr>
                                <m:t>)</m:t>
                              </m:r>
                            </m:e>
                          </m:eqArr>
                        </m:e>
                      </m:d>
                    </m:oMath>
                  </m:oMathPara>
                </a14:m>
                <a:endParaRPr lang="pt-BR" sz="1600" dirty="0"/>
              </a:p>
            </p:txBody>
          </p:sp>
        </mc:Choice>
        <mc:Fallback>
          <p:sp>
            <p:nvSpPr>
              <p:cNvPr id="7" name="CaixaDeTexto 6">
                <a:extLst>
                  <a:ext uri="{FF2B5EF4-FFF2-40B4-BE49-F238E27FC236}">
                    <a16:creationId xmlns:a16="http://schemas.microsoft.com/office/drawing/2014/main" id="{7667AD54-47D3-4D6F-2176-2AD4F58D60D0}"/>
                  </a:ext>
                </a:extLst>
              </p:cNvPr>
              <p:cNvSpPr txBox="1">
                <a:spLocks noRot="1" noChangeAspect="1" noMove="1" noResize="1" noEditPoints="1" noAdjustHandles="1" noChangeArrowheads="1" noChangeShapeType="1" noTextEdit="1"/>
              </p:cNvSpPr>
              <p:nvPr/>
            </p:nvSpPr>
            <p:spPr>
              <a:xfrm>
                <a:off x="285751" y="800313"/>
                <a:ext cx="1931875" cy="549253"/>
              </a:xfrm>
              <a:prstGeom prst="rect">
                <a:avLst/>
              </a:prstGeom>
              <a:blipFill>
                <a:blip r:embed="rId4"/>
                <a:stretch>
                  <a:fillRect b="-1111"/>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1" name="CaixaDeTexto 10">
                <a:extLst>
                  <a:ext uri="{FF2B5EF4-FFF2-40B4-BE49-F238E27FC236}">
                    <a16:creationId xmlns:a16="http://schemas.microsoft.com/office/drawing/2014/main" id="{36E2DC7A-A3B0-DF46-AD8C-0707803A0AF9}"/>
                  </a:ext>
                </a:extLst>
              </p:cNvPr>
              <p:cNvSpPr txBox="1"/>
              <p:nvPr/>
            </p:nvSpPr>
            <p:spPr>
              <a:xfrm>
                <a:off x="1376364" y="2125057"/>
                <a:ext cx="2869065"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 </m:t>
                      </m:r>
                      <m:r>
                        <m:rPr>
                          <m:sty m:val="p"/>
                        </m:rPr>
                        <a:rPr lang="en-US" sz="1600" b="0" i="1" smtClean="0">
                          <a:latin typeface="Cambria Math" panose="02040503050406030204" pitchFamily="18" charset="0"/>
                        </a:rPr>
                        <m:t>s</m:t>
                      </m:r>
                      <m:r>
                        <a:rPr lang="en-US" sz="1600" b="0" i="1" smtClean="0">
                          <a:latin typeface="Cambria Math" panose="02040503050406030204" pitchFamily="18" charset="0"/>
                        </a:rPr>
                        <m:t>(</m:t>
                      </m:r>
                      <m:r>
                        <a:rPr lang="en-US" sz="1600" i="1">
                          <a:latin typeface="Cambria Math" panose="02040503050406030204" pitchFamily="18" charset="0"/>
                        </a:rPr>
                        <m:t>(</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q</m:t>
                          </m:r>
                        </m:e>
                        <m:sub>
                          <m:r>
                            <m:rPr>
                              <m:sty m:val="p"/>
                            </m:rPr>
                            <a:rPr lang="en-US" sz="1600" i="1">
                              <a:latin typeface="Cambria Math" panose="02040503050406030204" pitchFamily="18" charset="0"/>
                            </a:rPr>
                            <m:t>min</m:t>
                          </m:r>
                        </m:sub>
                      </m:sSub>
                      <m:r>
                        <a:rPr lang="en-US" sz="1600" i="1">
                          <a:latin typeface="Cambria Math" panose="02040503050406030204" pitchFamily="18" charset="0"/>
                          <a:ea typeface="Cambria Math" panose="02040503050406030204" pitchFamily="18" charset="0"/>
                        </a:rPr>
                        <m:t>−</m:t>
                      </m:r>
                      <m:r>
                        <m:rPr>
                          <m:sty m:val="p"/>
                        </m:rPr>
                        <a:rPr lang="en-US" sz="1600" i="1">
                          <a:latin typeface="Cambria Math" panose="02040503050406030204" pitchFamily="18" charset="0"/>
                          <a:ea typeface="Cambria Math" panose="02040503050406030204" pitchFamily="18" charset="0"/>
                        </a:rPr>
                        <m:t>z</m:t>
                      </m:r>
                      <m:r>
                        <a:rPr lang="en-US" sz="1600" i="1">
                          <a:latin typeface="Cambria Math" panose="02040503050406030204" pitchFamily="18" charset="0"/>
                          <a:ea typeface="Cambria Math" panose="02040503050406030204" pitchFamily="18" charset="0"/>
                        </a:rPr>
                        <m:t>) −(</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q</m:t>
                          </m:r>
                        </m:e>
                        <m:sub>
                          <m:r>
                            <m:rPr>
                              <m:sty m:val="p"/>
                            </m:rPr>
                            <a:rPr lang="en-US" sz="1600" i="1">
                              <a:latin typeface="Cambria Math" panose="02040503050406030204" pitchFamily="18" charset="0"/>
                            </a:rPr>
                            <m:t>max</m:t>
                          </m:r>
                        </m:sub>
                      </m:sSub>
                      <m:r>
                        <a:rPr lang="en-US" sz="1600" i="1">
                          <a:latin typeface="Cambria Math" panose="02040503050406030204" pitchFamily="18" charset="0"/>
                          <a:ea typeface="Cambria Math" panose="02040503050406030204" pitchFamily="18" charset="0"/>
                        </a:rPr>
                        <m:t>− </m:t>
                      </m:r>
                      <m:r>
                        <m:rPr>
                          <m:sty m:val="p"/>
                        </m:rPr>
                        <a:rPr lang="en-US" sz="1600" i="1">
                          <a:latin typeface="Cambria Math" panose="02040503050406030204" pitchFamily="18" charset="0"/>
                          <a:ea typeface="Cambria Math" panose="02040503050406030204" pitchFamily="18" charset="0"/>
                        </a:rPr>
                        <m:t>z</m:t>
                      </m:r>
                      <m:r>
                        <a:rPr lang="en-US" sz="1600" i="1">
                          <a:latin typeface="Cambria Math" panose="02040503050406030204" pitchFamily="18" charset="0"/>
                          <a:ea typeface="Cambria Math" panose="02040503050406030204" pitchFamily="18" charset="0"/>
                        </a:rPr>
                        <m:t>))</m:t>
                      </m:r>
                    </m:oMath>
                  </m:oMathPara>
                </a14:m>
                <a:endParaRPr lang="pt-BR" sz="1600" dirty="0"/>
              </a:p>
            </p:txBody>
          </p:sp>
        </mc:Choice>
        <mc:Fallback>
          <p:sp>
            <p:nvSpPr>
              <p:cNvPr id="11" name="CaixaDeTexto 10">
                <a:extLst>
                  <a:ext uri="{FF2B5EF4-FFF2-40B4-BE49-F238E27FC236}">
                    <a16:creationId xmlns:a16="http://schemas.microsoft.com/office/drawing/2014/main" id="{36E2DC7A-A3B0-DF46-AD8C-0707803A0AF9}"/>
                  </a:ext>
                </a:extLst>
              </p:cNvPr>
              <p:cNvSpPr txBox="1">
                <a:spLocks noRot="1" noChangeAspect="1" noMove="1" noResize="1" noEditPoints="1" noAdjustHandles="1" noChangeArrowheads="1" noChangeShapeType="1" noTextEdit="1"/>
              </p:cNvSpPr>
              <p:nvPr/>
            </p:nvSpPr>
            <p:spPr>
              <a:xfrm>
                <a:off x="1376364" y="2125057"/>
                <a:ext cx="2869065" cy="338554"/>
              </a:xfrm>
              <a:prstGeom prst="rect">
                <a:avLst/>
              </a:prstGeom>
              <a:blipFill>
                <a:blip r:embed="rId5"/>
                <a:stretch>
                  <a:fillRect b="-10909"/>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2" name="CaixaDeTexto 11">
                <a:extLst>
                  <a:ext uri="{FF2B5EF4-FFF2-40B4-BE49-F238E27FC236}">
                    <a16:creationId xmlns:a16="http://schemas.microsoft.com/office/drawing/2014/main" id="{2FFEB3E4-A8E4-B2EC-4465-400E7E5CDDFF}"/>
                  </a:ext>
                </a:extLst>
              </p:cNvPr>
              <p:cNvSpPr txBox="1"/>
              <p:nvPr/>
            </p:nvSpPr>
            <p:spPr>
              <a:xfrm>
                <a:off x="1363302" y="2401075"/>
                <a:ext cx="2782326"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 </m:t>
                      </m:r>
                      <m:r>
                        <m:rPr>
                          <m:sty m:val="p"/>
                        </m:rPr>
                        <a:rPr lang="en-US" sz="1600" b="0" i="1" smtClean="0">
                          <a:latin typeface="Cambria Math" panose="02040503050406030204" pitchFamily="18" charset="0"/>
                        </a:rPr>
                        <m:t>s</m:t>
                      </m:r>
                      <m:r>
                        <a:rPr lang="en-US" sz="1600" b="0" i="1" smtClean="0">
                          <a:latin typeface="Cambria Math" panose="02040503050406030204" pitchFamily="18" charset="0"/>
                        </a:rPr>
                        <m:t>(</m:t>
                      </m:r>
                      <m:r>
                        <a:rPr lang="en-US" sz="1600" i="1">
                          <a:latin typeface="Cambria Math" panose="02040503050406030204" pitchFamily="18" charset="0"/>
                        </a:rPr>
                        <m:t>(</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q</m:t>
                          </m:r>
                        </m:e>
                        <m:sub>
                          <m:r>
                            <m:rPr>
                              <m:sty m:val="p"/>
                            </m:rPr>
                            <a:rPr lang="en-US" sz="1600" i="1">
                              <a:latin typeface="Cambria Math" panose="02040503050406030204" pitchFamily="18" charset="0"/>
                            </a:rPr>
                            <m:t>min</m:t>
                          </m:r>
                        </m:sub>
                      </m:sSub>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q</m:t>
                          </m:r>
                        </m:e>
                        <m:sub>
                          <m:r>
                            <m:rPr>
                              <m:sty m:val="p"/>
                            </m:rPr>
                            <a:rPr lang="en-US" sz="1600" i="1">
                              <a:latin typeface="Cambria Math" panose="02040503050406030204" pitchFamily="18" charset="0"/>
                            </a:rPr>
                            <m:t>max</m:t>
                          </m:r>
                        </m:sub>
                      </m:sSub>
                      <m:r>
                        <a:rPr lang="en-US" sz="1600" i="1">
                          <a:latin typeface="Cambria Math" panose="02040503050406030204" pitchFamily="18" charset="0"/>
                          <a:ea typeface="Cambria Math" panose="02040503050406030204" pitchFamily="18" charset="0"/>
                        </a:rPr>
                        <m:t>− </m:t>
                      </m:r>
                      <m:r>
                        <m:rPr>
                          <m:sty m:val="p"/>
                        </m:rPr>
                        <a:rPr lang="en-US" sz="1600" i="1">
                          <a:latin typeface="Cambria Math" panose="02040503050406030204" pitchFamily="18" charset="0"/>
                          <a:ea typeface="Cambria Math" panose="02040503050406030204" pitchFamily="18" charset="0"/>
                        </a:rPr>
                        <m:t>z</m:t>
                      </m:r>
                      <m:r>
                        <a:rPr lang="en-US" sz="1600" b="0" i="1" smtClean="0">
                          <a:latin typeface="Cambria Math" panose="02040503050406030204" pitchFamily="18" charset="0"/>
                          <a:ea typeface="Cambria Math" panose="02040503050406030204" pitchFamily="18" charset="0"/>
                        </a:rPr>
                        <m:t> + </m:t>
                      </m:r>
                      <m:r>
                        <m:rPr>
                          <m:sty m:val="p"/>
                        </m:rPr>
                        <a:rPr lang="en-US" sz="1600" b="0" i="1" smtClean="0">
                          <a:latin typeface="Cambria Math" panose="02040503050406030204" pitchFamily="18" charset="0"/>
                          <a:ea typeface="Cambria Math" panose="02040503050406030204" pitchFamily="18" charset="0"/>
                        </a:rPr>
                        <m:t>z</m:t>
                      </m:r>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m:t>
                      </m:r>
                    </m:oMath>
                  </m:oMathPara>
                </a14:m>
                <a:endParaRPr lang="pt-BR" sz="1600" dirty="0"/>
              </a:p>
            </p:txBody>
          </p:sp>
        </mc:Choice>
        <mc:Fallback>
          <p:sp>
            <p:nvSpPr>
              <p:cNvPr id="12" name="CaixaDeTexto 11">
                <a:extLst>
                  <a:ext uri="{FF2B5EF4-FFF2-40B4-BE49-F238E27FC236}">
                    <a16:creationId xmlns:a16="http://schemas.microsoft.com/office/drawing/2014/main" id="{2FFEB3E4-A8E4-B2EC-4465-400E7E5CDDFF}"/>
                  </a:ext>
                </a:extLst>
              </p:cNvPr>
              <p:cNvSpPr txBox="1">
                <a:spLocks noRot="1" noChangeAspect="1" noMove="1" noResize="1" noEditPoints="1" noAdjustHandles="1" noChangeArrowheads="1" noChangeShapeType="1" noTextEdit="1"/>
              </p:cNvSpPr>
              <p:nvPr/>
            </p:nvSpPr>
            <p:spPr>
              <a:xfrm>
                <a:off x="1363302" y="2401075"/>
                <a:ext cx="2782326" cy="338554"/>
              </a:xfrm>
              <a:prstGeom prst="rect">
                <a:avLst/>
              </a:prstGeom>
              <a:blipFill>
                <a:blip r:embed="rId6"/>
                <a:stretch>
                  <a:fillRect b="-10909"/>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4" name="CaixaDeTexto 13">
                <a:extLst>
                  <a:ext uri="{FF2B5EF4-FFF2-40B4-BE49-F238E27FC236}">
                    <a16:creationId xmlns:a16="http://schemas.microsoft.com/office/drawing/2014/main" id="{983C2583-CE3E-1D82-75F5-C5DF7B9D9F39}"/>
                  </a:ext>
                </a:extLst>
              </p:cNvPr>
              <p:cNvSpPr txBox="1"/>
              <p:nvPr/>
            </p:nvSpPr>
            <p:spPr>
              <a:xfrm>
                <a:off x="366274" y="2755578"/>
                <a:ext cx="272138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1600" i="1">
                              <a:latin typeface="Cambria Math" panose="02040503050406030204" pitchFamily="18" charset="0"/>
                            </a:rPr>
                          </m:ctrlPr>
                        </m:sSubPr>
                        <m:e>
                          <m:r>
                            <m:rPr>
                              <m:sty m:val="p"/>
                            </m:rPr>
                            <a:rPr lang="en-US" sz="1600" i="1">
                              <a:latin typeface="Cambria Math" panose="02040503050406030204" pitchFamily="18" charset="0"/>
                            </a:rPr>
                            <m:t>r</m:t>
                          </m:r>
                        </m:e>
                        <m:sub>
                          <m:r>
                            <m:rPr>
                              <m:sty m:val="p"/>
                            </m:rPr>
                            <a:rPr lang="en-US" sz="1600" i="1">
                              <a:latin typeface="Cambria Math" panose="02040503050406030204" pitchFamily="18" charset="0"/>
                            </a:rPr>
                            <m:t>min</m:t>
                          </m:r>
                        </m:sub>
                      </m:sSub>
                      <m:r>
                        <a:rPr lang="pt-BR" sz="1600" i="1" dirty="0">
                          <a:ea typeface="Cambria Math" panose="02040503050406030204" pitchFamily="18" charset="0"/>
                        </a:rPr>
                        <m:t>−</m:t>
                      </m:r>
                      <m:sSub>
                        <m:sSubPr>
                          <m:ctrlPr>
                            <a:rPr lang="pt-BR" sz="1600" i="1">
                              <a:latin typeface="Cambria Math" panose="02040503050406030204" pitchFamily="18" charset="0"/>
                            </a:rPr>
                          </m:ctrlPr>
                        </m:sSubPr>
                        <m:e>
                          <m:r>
                            <m:rPr>
                              <m:sty m:val="p"/>
                            </m:rPr>
                            <a:rPr lang="en-US" sz="1600" i="1">
                              <a:latin typeface="Cambria Math" panose="02040503050406030204" pitchFamily="18" charset="0"/>
                            </a:rPr>
                            <m:t>r</m:t>
                          </m:r>
                        </m:e>
                        <m:sub>
                          <m:r>
                            <m:rPr>
                              <m:sty m:val="p"/>
                            </m:rPr>
                            <a:rPr lang="en-US" sz="1600" i="1">
                              <a:latin typeface="Cambria Math" panose="02040503050406030204" pitchFamily="18" charset="0"/>
                            </a:rPr>
                            <m:t>m</m:t>
                          </m:r>
                          <m:r>
                            <m:rPr>
                              <m:sty m:val="p"/>
                            </m:rPr>
                            <a:rPr lang="en-US" sz="1600" b="0" i="1" smtClean="0">
                              <a:latin typeface="Cambria Math" panose="02040503050406030204" pitchFamily="18" charset="0"/>
                            </a:rPr>
                            <m:t>ax</m:t>
                          </m:r>
                        </m:sub>
                      </m:sSub>
                      <m:r>
                        <a:rPr lang="en-US" sz="1600" b="0" i="1" smtClean="0">
                          <a:latin typeface="Cambria Math" panose="02040503050406030204" pitchFamily="18" charset="0"/>
                        </a:rPr>
                        <m:t>= </m:t>
                      </m:r>
                      <m:r>
                        <m:rPr>
                          <m:sty m:val="p"/>
                        </m:rPr>
                        <a:rPr lang="en-US" sz="1600" b="0" i="1" smtClean="0">
                          <a:latin typeface="Cambria Math" panose="02040503050406030204" pitchFamily="18" charset="0"/>
                        </a:rPr>
                        <m:t>s</m:t>
                      </m:r>
                      <m:r>
                        <a:rPr lang="en-US" sz="1600" i="1">
                          <a:latin typeface="Cambria Math" panose="02040503050406030204" pitchFamily="18" charset="0"/>
                        </a:rPr>
                        <m:t>(</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q</m:t>
                          </m:r>
                        </m:e>
                        <m:sub>
                          <m:r>
                            <m:rPr>
                              <m:sty m:val="p"/>
                            </m:rPr>
                            <a:rPr lang="en-US" sz="1600" i="1">
                              <a:latin typeface="Cambria Math" panose="02040503050406030204" pitchFamily="18" charset="0"/>
                            </a:rPr>
                            <m:t>min</m:t>
                          </m:r>
                        </m:sub>
                      </m:sSub>
                      <m:r>
                        <a:rPr lang="en-US" sz="1600" b="0" i="1" smtClean="0">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q</m:t>
                          </m:r>
                        </m:e>
                        <m:sub>
                          <m:r>
                            <m:rPr>
                              <m:sty m:val="p"/>
                            </m:rPr>
                            <a:rPr lang="en-US" sz="1600" i="1">
                              <a:latin typeface="Cambria Math" panose="02040503050406030204" pitchFamily="18" charset="0"/>
                            </a:rPr>
                            <m:t>max</m:t>
                          </m:r>
                        </m:sub>
                      </m:sSub>
                      <m:r>
                        <a:rPr lang="en-US" sz="1600" i="1">
                          <a:latin typeface="Cambria Math" panose="02040503050406030204" pitchFamily="18" charset="0"/>
                          <a:ea typeface="Cambria Math" panose="02040503050406030204" pitchFamily="18" charset="0"/>
                        </a:rPr>
                        <m:t>)</m:t>
                      </m:r>
                    </m:oMath>
                  </m:oMathPara>
                </a14:m>
                <a:endParaRPr lang="pt-BR" sz="1600" i="1" dirty="0"/>
              </a:p>
            </p:txBody>
          </p:sp>
        </mc:Choice>
        <mc:Fallback>
          <p:sp>
            <p:nvSpPr>
              <p:cNvPr id="14" name="CaixaDeTexto 13">
                <a:extLst>
                  <a:ext uri="{FF2B5EF4-FFF2-40B4-BE49-F238E27FC236}">
                    <a16:creationId xmlns:a16="http://schemas.microsoft.com/office/drawing/2014/main" id="{983C2583-CE3E-1D82-75F5-C5DF7B9D9F39}"/>
                  </a:ext>
                </a:extLst>
              </p:cNvPr>
              <p:cNvSpPr txBox="1">
                <a:spLocks noRot="1" noChangeAspect="1" noMove="1" noResize="1" noEditPoints="1" noAdjustHandles="1" noChangeArrowheads="1" noChangeShapeType="1" noTextEdit="1"/>
              </p:cNvSpPr>
              <p:nvPr/>
            </p:nvSpPr>
            <p:spPr>
              <a:xfrm>
                <a:off x="366274" y="2755578"/>
                <a:ext cx="2721386" cy="246221"/>
              </a:xfrm>
              <a:prstGeom prst="rect">
                <a:avLst/>
              </a:prstGeom>
              <a:blipFill>
                <a:blip r:embed="rId7"/>
                <a:stretch>
                  <a:fillRect l="-447" r="-2237" b="-35000"/>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6" name="CaixaDeTexto 15">
                <a:extLst>
                  <a:ext uri="{FF2B5EF4-FFF2-40B4-BE49-F238E27FC236}">
                    <a16:creationId xmlns:a16="http://schemas.microsoft.com/office/drawing/2014/main" id="{73F1A7E6-2565-1A9F-1C94-DB64CF6BBD11}"/>
                  </a:ext>
                </a:extLst>
              </p:cNvPr>
              <p:cNvSpPr txBox="1"/>
              <p:nvPr/>
            </p:nvSpPr>
            <p:spPr>
              <a:xfrm>
                <a:off x="390633" y="3112914"/>
                <a:ext cx="1532727" cy="4632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pt-BR" sz="1600" i="1" smtClean="0">
                              <a:latin typeface="Cambria Math" panose="02040503050406030204" pitchFamily="18" charset="0"/>
                            </a:rPr>
                          </m:ctrlPr>
                        </m:fPr>
                        <m:num>
                          <m:sSub>
                            <m:sSubPr>
                              <m:ctrlPr>
                                <a:rPr lang="pt-BR" sz="1600" i="1">
                                  <a:latin typeface="Cambria Math" panose="02040503050406030204" pitchFamily="18" charset="0"/>
                                </a:rPr>
                              </m:ctrlPr>
                            </m:sSubPr>
                            <m:e>
                              <m:r>
                                <m:rPr>
                                  <m:sty m:val="p"/>
                                </m:rPr>
                                <a:rPr lang="en-US" sz="1600" i="1">
                                  <a:latin typeface="Cambria Math" panose="02040503050406030204" pitchFamily="18" charset="0"/>
                                </a:rPr>
                                <m:t>r</m:t>
                              </m:r>
                            </m:e>
                            <m:sub>
                              <m:r>
                                <m:rPr>
                                  <m:sty m:val="p"/>
                                </m:rPr>
                                <a:rPr lang="en-US" sz="1600" i="1">
                                  <a:latin typeface="Cambria Math" panose="02040503050406030204" pitchFamily="18" charset="0"/>
                                </a:rPr>
                                <m:t>min</m:t>
                              </m:r>
                            </m:sub>
                          </m:sSub>
                          <m:r>
                            <a:rPr lang="pt-BR" sz="1600" i="1" dirty="0">
                              <a:latin typeface="Cambria Math" panose="02040503050406030204" pitchFamily="18" charset="0"/>
                              <a:ea typeface="Cambria Math" panose="02040503050406030204" pitchFamily="18" charset="0"/>
                            </a:rPr>
                            <m:t>−</m:t>
                          </m:r>
                          <m:sSub>
                            <m:sSubPr>
                              <m:ctrlPr>
                                <a:rPr lang="pt-BR" sz="1600" i="1">
                                  <a:latin typeface="Cambria Math" panose="02040503050406030204" pitchFamily="18" charset="0"/>
                                </a:rPr>
                              </m:ctrlPr>
                            </m:sSubPr>
                            <m:e>
                              <m:r>
                                <m:rPr>
                                  <m:sty m:val="p"/>
                                </m:rPr>
                                <a:rPr lang="en-US" sz="1600" i="1">
                                  <a:latin typeface="Cambria Math" panose="02040503050406030204" pitchFamily="18" charset="0"/>
                                </a:rPr>
                                <m:t>r</m:t>
                              </m:r>
                            </m:e>
                            <m:sub>
                              <m:r>
                                <m:rPr>
                                  <m:sty m:val="p"/>
                                </m:rPr>
                                <a:rPr lang="en-US" sz="1600" i="1">
                                  <a:latin typeface="Cambria Math" panose="02040503050406030204" pitchFamily="18" charset="0"/>
                                </a:rPr>
                                <m:t>m</m:t>
                              </m:r>
                              <m:r>
                                <m:rPr>
                                  <m:sty m:val="p"/>
                                </m:rPr>
                                <a:rPr lang="en-US" sz="1600" i="1">
                                  <a:latin typeface="Cambria Math" panose="02040503050406030204" pitchFamily="18" charset="0"/>
                                </a:rPr>
                                <m:t>ax</m:t>
                              </m:r>
                            </m:sub>
                          </m:sSub>
                        </m:num>
                        <m:den>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q</m:t>
                              </m:r>
                            </m:e>
                            <m:sub>
                              <m:r>
                                <m:rPr>
                                  <m:sty m:val="p"/>
                                </m:rPr>
                                <a:rPr lang="en-US" sz="1600" i="1">
                                  <a:latin typeface="Cambria Math" panose="02040503050406030204" pitchFamily="18" charset="0"/>
                                </a:rPr>
                                <m:t>min</m:t>
                              </m:r>
                            </m:sub>
                          </m:sSub>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q</m:t>
                              </m:r>
                            </m:e>
                            <m:sub>
                              <m:r>
                                <m:rPr>
                                  <m:sty m:val="p"/>
                                </m:rPr>
                                <a:rPr lang="en-US" sz="1600" i="1">
                                  <a:latin typeface="Cambria Math" panose="02040503050406030204" pitchFamily="18" charset="0"/>
                                </a:rPr>
                                <m:t>max</m:t>
                              </m:r>
                            </m:sub>
                          </m:sSub>
                        </m:den>
                      </m:f>
                      <m:r>
                        <a:rPr lang="en-US" sz="1600" b="0" i="1" smtClean="0">
                          <a:latin typeface="Cambria Math" panose="02040503050406030204" pitchFamily="18" charset="0"/>
                        </a:rPr>
                        <m:t>= </m:t>
                      </m:r>
                      <m:r>
                        <m:rPr>
                          <m:sty m:val="p"/>
                        </m:rPr>
                        <a:rPr lang="en-US" sz="1600" b="0" i="1" smtClean="0">
                          <a:latin typeface="Cambria Math" panose="02040503050406030204" pitchFamily="18" charset="0"/>
                        </a:rPr>
                        <m:t>s</m:t>
                      </m:r>
                    </m:oMath>
                  </m:oMathPara>
                </a14:m>
                <a:endParaRPr lang="pt-BR" sz="1600" i="1" dirty="0"/>
              </a:p>
            </p:txBody>
          </p:sp>
        </mc:Choice>
        <mc:Fallback>
          <p:sp>
            <p:nvSpPr>
              <p:cNvPr id="16" name="CaixaDeTexto 15">
                <a:extLst>
                  <a:ext uri="{FF2B5EF4-FFF2-40B4-BE49-F238E27FC236}">
                    <a16:creationId xmlns:a16="http://schemas.microsoft.com/office/drawing/2014/main" id="{73F1A7E6-2565-1A9F-1C94-DB64CF6BBD11}"/>
                  </a:ext>
                </a:extLst>
              </p:cNvPr>
              <p:cNvSpPr txBox="1">
                <a:spLocks noRot="1" noChangeAspect="1" noMove="1" noResize="1" noEditPoints="1" noAdjustHandles="1" noChangeArrowheads="1" noChangeShapeType="1" noTextEdit="1"/>
              </p:cNvSpPr>
              <p:nvPr/>
            </p:nvSpPr>
            <p:spPr>
              <a:xfrm>
                <a:off x="390633" y="3112914"/>
                <a:ext cx="1532727" cy="463268"/>
              </a:xfrm>
              <a:prstGeom prst="rect">
                <a:avLst/>
              </a:prstGeom>
              <a:blipFill>
                <a:blip r:embed="rId8"/>
                <a:stretch>
                  <a:fillRect l="-2778" r="-1190" b="-14474"/>
                </a:stretch>
              </a:blipFill>
            </p:spPr>
            <p:txBody>
              <a:bodyPr/>
              <a:lstStyle/>
              <a:p>
                <a:r>
                  <a:rPr lang="pt-BR">
                    <a:noFill/>
                  </a:rPr>
                  <a:t> </a:t>
                </a:r>
              </a:p>
            </p:txBody>
          </p:sp>
        </mc:Fallback>
      </mc:AlternateContent>
      <p:sp>
        <p:nvSpPr>
          <p:cNvPr id="23" name="CaixaDeTexto 22">
            <a:extLst>
              <a:ext uri="{FF2B5EF4-FFF2-40B4-BE49-F238E27FC236}">
                <a16:creationId xmlns:a16="http://schemas.microsoft.com/office/drawing/2014/main" id="{7324598D-864A-7ED9-4F3C-8C4127ED8330}"/>
              </a:ext>
            </a:extLst>
          </p:cNvPr>
          <p:cNvSpPr txBox="1"/>
          <p:nvPr/>
        </p:nvSpPr>
        <p:spPr>
          <a:xfrm>
            <a:off x="4572000" y="1511139"/>
            <a:ext cx="1230629" cy="297517"/>
          </a:xfrm>
          <a:prstGeom prst="rect">
            <a:avLst/>
          </a:prstGeom>
          <a:noFill/>
        </p:spPr>
        <p:txBody>
          <a:bodyPr wrap="square">
            <a:spAutoFit/>
          </a:bodyPr>
          <a:lstStyle/>
          <a:p>
            <a:pPr>
              <a:lnSpc>
                <a:spcPts val="1600"/>
              </a:lnSpc>
            </a:pPr>
            <a:r>
              <a:rPr lang="en-US" sz="1400" b="1" dirty="0">
                <a:solidFill>
                  <a:srgbClr val="1A1A1A"/>
                </a:solidFill>
                <a:latin typeface="Montserrat" pitchFamily="2" charset="0"/>
              </a:rPr>
              <a:t>zero point:</a:t>
            </a:r>
          </a:p>
        </p:txBody>
      </p:sp>
      <mc:AlternateContent xmlns:mc="http://schemas.openxmlformats.org/markup-compatibility/2006">
        <mc:Choice xmlns:a14="http://schemas.microsoft.com/office/drawing/2010/main" Requires="a14">
          <p:sp>
            <p:nvSpPr>
              <p:cNvPr id="24" name="CaixaDeTexto 23">
                <a:extLst>
                  <a:ext uri="{FF2B5EF4-FFF2-40B4-BE49-F238E27FC236}">
                    <a16:creationId xmlns:a16="http://schemas.microsoft.com/office/drawing/2014/main" id="{7D93C5D9-361E-95BF-88C6-F2E001AAC3C0}"/>
                  </a:ext>
                </a:extLst>
              </p:cNvPr>
              <p:cNvSpPr txBox="1"/>
              <p:nvPr/>
            </p:nvSpPr>
            <p:spPr>
              <a:xfrm>
                <a:off x="4594604" y="1878836"/>
                <a:ext cx="173990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1600" i="1">
                              <a:latin typeface="Cambria Math" panose="02040503050406030204" pitchFamily="18" charset="0"/>
                            </a:rPr>
                          </m:ctrlPr>
                        </m:sSubPr>
                        <m:e>
                          <m:r>
                            <m:rPr>
                              <m:sty m:val="p"/>
                            </m:rPr>
                            <a:rPr lang="en-US" sz="1600" i="1">
                              <a:latin typeface="Cambria Math" panose="02040503050406030204" pitchFamily="18" charset="0"/>
                            </a:rPr>
                            <m:t>r</m:t>
                          </m:r>
                        </m:e>
                        <m:sub>
                          <m:r>
                            <m:rPr>
                              <m:sty m:val="p"/>
                            </m:rPr>
                            <a:rPr lang="en-US" sz="1600" i="1">
                              <a:latin typeface="Cambria Math" panose="02040503050406030204" pitchFamily="18" charset="0"/>
                            </a:rPr>
                            <m:t>min</m:t>
                          </m:r>
                        </m:sub>
                      </m:sSub>
                      <m:r>
                        <a:rPr lang="en-US" sz="1600" b="0" i="1" smtClean="0">
                          <a:latin typeface="Cambria Math" panose="02040503050406030204" pitchFamily="18" charset="0"/>
                        </a:rPr>
                        <m:t>= </m:t>
                      </m:r>
                      <m:r>
                        <m:rPr>
                          <m:sty m:val="p"/>
                        </m:rPr>
                        <a:rPr lang="en-US" sz="1600" b="0" i="1" smtClean="0">
                          <a:latin typeface="Cambria Math" panose="02040503050406030204" pitchFamily="18" charset="0"/>
                        </a:rPr>
                        <m:t>s</m:t>
                      </m:r>
                      <m:r>
                        <a:rPr lang="en-US" sz="1600" i="1">
                          <a:latin typeface="Cambria Math" panose="02040503050406030204" pitchFamily="18" charset="0"/>
                        </a:rPr>
                        <m:t>(</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q</m:t>
                          </m:r>
                        </m:e>
                        <m:sub>
                          <m:r>
                            <m:rPr>
                              <m:sty m:val="p"/>
                            </m:rPr>
                            <a:rPr lang="en-US" sz="1600" i="1">
                              <a:latin typeface="Cambria Math" panose="02040503050406030204" pitchFamily="18" charset="0"/>
                            </a:rPr>
                            <m:t>min</m:t>
                          </m:r>
                        </m:sub>
                      </m:sSub>
                      <m:r>
                        <a:rPr lang="en-US" sz="1600" i="1">
                          <a:latin typeface="Cambria Math" panose="02040503050406030204" pitchFamily="18" charset="0"/>
                          <a:ea typeface="Cambria Math" panose="02040503050406030204" pitchFamily="18" charset="0"/>
                        </a:rPr>
                        <m:t>−</m:t>
                      </m:r>
                      <m:r>
                        <m:rPr>
                          <m:sty m:val="p"/>
                        </m:rPr>
                        <a:rPr lang="en-US" sz="1600" i="1">
                          <a:latin typeface="Cambria Math" panose="02040503050406030204" pitchFamily="18" charset="0"/>
                          <a:ea typeface="Cambria Math" panose="02040503050406030204" pitchFamily="18" charset="0"/>
                        </a:rPr>
                        <m:t>z</m:t>
                      </m:r>
                      <m:r>
                        <a:rPr lang="en-US" sz="1600" i="1">
                          <a:latin typeface="Cambria Math" panose="02040503050406030204" pitchFamily="18" charset="0"/>
                          <a:ea typeface="Cambria Math" panose="02040503050406030204" pitchFamily="18" charset="0"/>
                        </a:rPr>
                        <m:t>)</m:t>
                      </m:r>
                    </m:oMath>
                  </m:oMathPara>
                </a14:m>
                <a:endParaRPr lang="pt-BR" sz="1600" i="1" dirty="0"/>
              </a:p>
            </p:txBody>
          </p:sp>
        </mc:Choice>
        <mc:Fallback>
          <p:sp>
            <p:nvSpPr>
              <p:cNvPr id="24" name="CaixaDeTexto 23">
                <a:extLst>
                  <a:ext uri="{FF2B5EF4-FFF2-40B4-BE49-F238E27FC236}">
                    <a16:creationId xmlns:a16="http://schemas.microsoft.com/office/drawing/2014/main" id="{7D93C5D9-361E-95BF-88C6-F2E001AAC3C0}"/>
                  </a:ext>
                </a:extLst>
              </p:cNvPr>
              <p:cNvSpPr txBox="1">
                <a:spLocks noRot="1" noChangeAspect="1" noMove="1" noResize="1" noEditPoints="1" noAdjustHandles="1" noChangeArrowheads="1" noChangeShapeType="1" noTextEdit="1"/>
              </p:cNvSpPr>
              <p:nvPr/>
            </p:nvSpPr>
            <p:spPr>
              <a:xfrm>
                <a:off x="4594604" y="1878836"/>
                <a:ext cx="1739900" cy="246221"/>
              </a:xfrm>
              <a:prstGeom prst="rect">
                <a:avLst/>
              </a:prstGeom>
              <a:blipFill>
                <a:blip r:embed="rId9"/>
                <a:stretch>
                  <a:fillRect l="-1404" r="-3509" b="-31707"/>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5" name="CaixaDeTexto 24">
                <a:extLst>
                  <a:ext uri="{FF2B5EF4-FFF2-40B4-BE49-F238E27FC236}">
                    <a16:creationId xmlns:a16="http://schemas.microsoft.com/office/drawing/2014/main" id="{19EDEFEF-D308-22E8-6ED1-FEF445BF0622}"/>
                  </a:ext>
                </a:extLst>
              </p:cNvPr>
              <p:cNvSpPr txBox="1"/>
              <p:nvPr/>
            </p:nvSpPr>
            <p:spPr>
              <a:xfrm>
                <a:off x="4594604" y="2200532"/>
                <a:ext cx="165814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1600" i="1">
                              <a:latin typeface="Cambria Math" panose="02040503050406030204" pitchFamily="18" charset="0"/>
                            </a:rPr>
                          </m:ctrlPr>
                        </m:sSubPr>
                        <m:e>
                          <m:r>
                            <m:rPr>
                              <m:sty m:val="p"/>
                            </m:rPr>
                            <a:rPr lang="en-US" sz="1600" i="1">
                              <a:latin typeface="Cambria Math" panose="02040503050406030204" pitchFamily="18" charset="0"/>
                            </a:rPr>
                            <m:t>r</m:t>
                          </m:r>
                        </m:e>
                        <m:sub>
                          <m:r>
                            <m:rPr>
                              <m:sty m:val="p"/>
                            </m:rPr>
                            <a:rPr lang="en-US" sz="1600" i="1">
                              <a:latin typeface="Cambria Math" panose="02040503050406030204" pitchFamily="18" charset="0"/>
                            </a:rPr>
                            <m:t>min</m:t>
                          </m:r>
                        </m:sub>
                      </m:sSub>
                      <m:r>
                        <a:rPr lang="en-US" sz="1600" b="0" i="1" smtClean="0">
                          <a:latin typeface="Cambria Math" panose="02040503050406030204" pitchFamily="18" charset="0"/>
                        </a:rPr>
                        <m:t>= </m:t>
                      </m:r>
                      <m:r>
                        <m:rPr>
                          <m:sty m:val="p"/>
                        </m:rPr>
                        <a:rPr lang="en-US" sz="1600" b="0" i="1" smtClean="0">
                          <a:latin typeface="Cambria Math" panose="02040503050406030204" pitchFamily="18" charset="0"/>
                        </a:rPr>
                        <m:t>s</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q</m:t>
                          </m:r>
                        </m:e>
                        <m:sub>
                          <m:r>
                            <m:rPr>
                              <m:sty m:val="p"/>
                            </m:rPr>
                            <a:rPr lang="en-US" sz="1600" i="1">
                              <a:latin typeface="Cambria Math" panose="02040503050406030204" pitchFamily="18" charset="0"/>
                            </a:rPr>
                            <m:t>min</m:t>
                          </m:r>
                        </m:sub>
                      </m:sSub>
                      <m:r>
                        <a:rPr lang="en-US" sz="1600" i="1">
                          <a:latin typeface="Cambria Math" panose="02040503050406030204" pitchFamily="18" charset="0"/>
                          <a:ea typeface="Cambria Math" panose="02040503050406030204" pitchFamily="18" charset="0"/>
                        </a:rPr>
                        <m:t>−</m:t>
                      </m:r>
                      <m:r>
                        <m:rPr>
                          <m:sty m:val="p"/>
                        </m:rPr>
                        <a:rPr lang="en-US" sz="1600" b="0" i="1" smtClean="0">
                          <a:latin typeface="Cambria Math" panose="02040503050406030204" pitchFamily="18" charset="0"/>
                          <a:ea typeface="Cambria Math" panose="02040503050406030204" pitchFamily="18" charset="0"/>
                        </a:rPr>
                        <m:t>s</m:t>
                      </m:r>
                      <m:r>
                        <m:rPr>
                          <m:sty m:val="p"/>
                        </m:rPr>
                        <a:rPr lang="en-US" sz="1600" i="1">
                          <a:latin typeface="Cambria Math" panose="02040503050406030204" pitchFamily="18" charset="0"/>
                          <a:ea typeface="Cambria Math" panose="02040503050406030204" pitchFamily="18" charset="0"/>
                        </a:rPr>
                        <m:t>z</m:t>
                      </m:r>
                    </m:oMath>
                  </m:oMathPara>
                </a14:m>
                <a:endParaRPr lang="pt-BR" sz="1600" i="1" dirty="0"/>
              </a:p>
            </p:txBody>
          </p:sp>
        </mc:Choice>
        <mc:Fallback>
          <p:sp>
            <p:nvSpPr>
              <p:cNvPr id="25" name="CaixaDeTexto 24">
                <a:extLst>
                  <a:ext uri="{FF2B5EF4-FFF2-40B4-BE49-F238E27FC236}">
                    <a16:creationId xmlns:a16="http://schemas.microsoft.com/office/drawing/2014/main" id="{19EDEFEF-D308-22E8-6ED1-FEF445BF0622}"/>
                  </a:ext>
                </a:extLst>
              </p:cNvPr>
              <p:cNvSpPr txBox="1">
                <a:spLocks noRot="1" noChangeAspect="1" noMove="1" noResize="1" noEditPoints="1" noAdjustHandles="1" noChangeArrowheads="1" noChangeShapeType="1" noTextEdit="1"/>
              </p:cNvSpPr>
              <p:nvPr/>
            </p:nvSpPr>
            <p:spPr>
              <a:xfrm>
                <a:off x="4594604" y="2200532"/>
                <a:ext cx="1658146" cy="246221"/>
              </a:xfrm>
              <a:prstGeom prst="rect">
                <a:avLst/>
              </a:prstGeom>
              <a:blipFill>
                <a:blip r:embed="rId10"/>
                <a:stretch>
                  <a:fillRect l="-1471" r="-735" b="-25000"/>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6" name="CaixaDeTexto 25">
                <a:extLst>
                  <a:ext uri="{FF2B5EF4-FFF2-40B4-BE49-F238E27FC236}">
                    <a16:creationId xmlns:a16="http://schemas.microsoft.com/office/drawing/2014/main" id="{1C3DF14E-F5ED-A23F-9F94-992341B9E868}"/>
                  </a:ext>
                </a:extLst>
              </p:cNvPr>
              <p:cNvSpPr txBox="1"/>
              <p:nvPr/>
            </p:nvSpPr>
            <p:spPr>
              <a:xfrm>
                <a:off x="4594604" y="2522228"/>
                <a:ext cx="165814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1600" b="0" i="1" smtClean="0">
                          <a:latin typeface="Cambria Math" panose="02040503050406030204" pitchFamily="18" charset="0"/>
                        </a:rPr>
                        <m:t>sz</m:t>
                      </m:r>
                      <m:r>
                        <a:rPr lang="en-US" sz="1600" b="0" i="1" smtClean="0">
                          <a:latin typeface="Cambria Math" panose="02040503050406030204" pitchFamily="18" charset="0"/>
                        </a:rPr>
                        <m:t>= </m:t>
                      </m:r>
                      <m:r>
                        <m:rPr>
                          <m:sty m:val="p"/>
                        </m:rPr>
                        <a:rPr lang="en-US" sz="1600" b="0" i="1" smtClean="0">
                          <a:latin typeface="Cambria Math" panose="02040503050406030204" pitchFamily="18" charset="0"/>
                        </a:rPr>
                        <m:t>s</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q</m:t>
                          </m:r>
                        </m:e>
                        <m:sub>
                          <m:r>
                            <m:rPr>
                              <m:sty m:val="p"/>
                            </m:rPr>
                            <a:rPr lang="en-US" sz="1600" i="1">
                              <a:latin typeface="Cambria Math" panose="02040503050406030204" pitchFamily="18" charset="0"/>
                            </a:rPr>
                            <m:t>min</m:t>
                          </m:r>
                        </m:sub>
                      </m:sSub>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rPr>
                          </m:ctrlPr>
                        </m:sSubPr>
                        <m:e>
                          <m:r>
                            <m:rPr>
                              <m:sty m:val="p"/>
                            </m:rPr>
                            <a:rPr lang="en-US" sz="1600" b="0" i="1" smtClean="0">
                              <a:latin typeface="Cambria Math" panose="02040503050406030204" pitchFamily="18" charset="0"/>
                            </a:rPr>
                            <m:t>r</m:t>
                          </m:r>
                        </m:e>
                        <m:sub>
                          <m:r>
                            <m:rPr>
                              <m:sty m:val="p"/>
                            </m:rPr>
                            <a:rPr lang="en-US" sz="1600" i="1">
                              <a:latin typeface="Cambria Math" panose="02040503050406030204" pitchFamily="18" charset="0"/>
                            </a:rPr>
                            <m:t>min</m:t>
                          </m:r>
                        </m:sub>
                      </m:sSub>
                    </m:oMath>
                  </m:oMathPara>
                </a14:m>
                <a:endParaRPr lang="pt-BR" sz="1600" i="1" dirty="0"/>
              </a:p>
            </p:txBody>
          </p:sp>
        </mc:Choice>
        <mc:Fallback>
          <p:sp>
            <p:nvSpPr>
              <p:cNvPr id="26" name="CaixaDeTexto 25">
                <a:extLst>
                  <a:ext uri="{FF2B5EF4-FFF2-40B4-BE49-F238E27FC236}">
                    <a16:creationId xmlns:a16="http://schemas.microsoft.com/office/drawing/2014/main" id="{1C3DF14E-F5ED-A23F-9F94-992341B9E868}"/>
                  </a:ext>
                </a:extLst>
              </p:cNvPr>
              <p:cNvSpPr txBox="1">
                <a:spLocks noRot="1" noChangeAspect="1" noMove="1" noResize="1" noEditPoints="1" noAdjustHandles="1" noChangeArrowheads="1" noChangeShapeType="1" noTextEdit="1"/>
              </p:cNvSpPr>
              <p:nvPr/>
            </p:nvSpPr>
            <p:spPr>
              <a:xfrm>
                <a:off x="4594604" y="2522228"/>
                <a:ext cx="1658146" cy="246221"/>
              </a:xfrm>
              <a:prstGeom prst="rect">
                <a:avLst/>
              </a:prstGeom>
              <a:blipFill>
                <a:blip r:embed="rId11"/>
                <a:stretch>
                  <a:fillRect l="-1471" r="-735" b="-25000"/>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7" name="CaixaDeTexto 26">
                <a:extLst>
                  <a:ext uri="{FF2B5EF4-FFF2-40B4-BE49-F238E27FC236}">
                    <a16:creationId xmlns:a16="http://schemas.microsoft.com/office/drawing/2014/main" id="{B199E60F-1328-2C90-DEFC-5B8BCE151E26}"/>
                  </a:ext>
                </a:extLst>
              </p:cNvPr>
              <p:cNvSpPr txBox="1"/>
              <p:nvPr/>
            </p:nvSpPr>
            <p:spPr>
              <a:xfrm>
                <a:off x="4619368" y="2843924"/>
                <a:ext cx="1569982" cy="4201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1600" b="0" i="1" smtClean="0">
                          <a:latin typeface="Cambria Math" panose="02040503050406030204" pitchFamily="18" charset="0"/>
                        </a:rPr>
                        <m:t>z</m:t>
                      </m:r>
                      <m:r>
                        <a:rPr lang="en-US" sz="1600" b="0" i="1" smtClean="0">
                          <a:latin typeface="Cambria Math" panose="02040503050406030204" pitchFamily="18" charset="0"/>
                        </a:rPr>
                        <m:t>= </m:t>
                      </m:r>
                      <m:f>
                        <m:fPr>
                          <m:ctrlPr>
                            <a:rPr lang="en-US" sz="1600" b="0" i="1" smtClean="0">
                              <a:latin typeface="Cambria Math" panose="02040503050406030204" pitchFamily="18" charset="0"/>
                            </a:rPr>
                          </m:ctrlPr>
                        </m:fPr>
                        <m:num>
                          <m:r>
                            <m:rPr>
                              <m:sty m:val="p"/>
                            </m:rPr>
                            <a:rPr lang="en-US" sz="1600" i="1">
                              <a:latin typeface="Cambria Math" panose="02040503050406030204" pitchFamily="18" charset="0"/>
                            </a:rPr>
                            <m:t>s</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q</m:t>
                              </m:r>
                            </m:e>
                            <m:sub>
                              <m:r>
                                <m:rPr>
                                  <m:sty m:val="p"/>
                                </m:rPr>
                                <a:rPr lang="en-US" sz="1600" i="1">
                                  <a:latin typeface="Cambria Math" panose="02040503050406030204" pitchFamily="18" charset="0"/>
                                </a:rPr>
                                <m:t>min</m:t>
                              </m:r>
                            </m:sub>
                          </m:sSub>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r</m:t>
                              </m:r>
                            </m:e>
                            <m:sub>
                              <m:r>
                                <m:rPr>
                                  <m:sty m:val="p"/>
                                </m:rPr>
                                <a:rPr lang="en-US" sz="1600" i="1">
                                  <a:latin typeface="Cambria Math" panose="02040503050406030204" pitchFamily="18" charset="0"/>
                                </a:rPr>
                                <m:t>min</m:t>
                              </m:r>
                            </m:sub>
                          </m:sSub>
                        </m:num>
                        <m:den>
                          <m:r>
                            <m:rPr>
                              <m:sty m:val="p"/>
                            </m:rPr>
                            <a:rPr lang="en-US" sz="1600" b="0" i="1" smtClean="0">
                              <a:latin typeface="Cambria Math" panose="02040503050406030204" pitchFamily="18" charset="0"/>
                            </a:rPr>
                            <m:t>s</m:t>
                          </m:r>
                        </m:den>
                      </m:f>
                    </m:oMath>
                  </m:oMathPara>
                </a14:m>
                <a:endParaRPr lang="pt-BR" sz="1600" i="1" dirty="0"/>
              </a:p>
            </p:txBody>
          </p:sp>
        </mc:Choice>
        <mc:Fallback>
          <p:sp>
            <p:nvSpPr>
              <p:cNvPr id="27" name="CaixaDeTexto 26">
                <a:extLst>
                  <a:ext uri="{FF2B5EF4-FFF2-40B4-BE49-F238E27FC236}">
                    <a16:creationId xmlns:a16="http://schemas.microsoft.com/office/drawing/2014/main" id="{B199E60F-1328-2C90-DEFC-5B8BCE151E26}"/>
                  </a:ext>
                </a:extLst>
              </p:cNvPr>
              <p:cNvSpPr txBox="1">
                <a:spLocks noRot="1" noChangeAspect="1" noMove="1" noResize="1" noEditPoints="1" noAdjustHandles="1" noChangeArrowheads="1" noChangeShapeType="1" noTextEdit="1"/>
              </p:cNvSpPr>
              <p:nvPr/>
            </p:nvSpPr>
            <p:spPr>
              <a:xfrm>
                <a:off x="4619368" y="2843924"/>
                <a:ext cx="1569982" cy="420115"/>
              </a:xfrm>
              <a:prstGeom prst="rect">
                <a:avLst/>
              </a:prstGeom>
              <a:blipFill>
                <a:blip r:embed="rId12"/>
                <a:stretch>
                  <a:fillRect l="-1556" t="-2941" r="-778" b="-11765"/>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8" name="CaixaDeTexto 27">
                <a:extLst>
                  <a:ext uri="{FF2B5EF4-FFF2-40B4-BE49-F238E27FC236}">
                    <a16:creationId xmlns:a16="http://schemas.microsoft.com/office/drawing/2014/main" id="{5B6FA6F1-A400-6859-C911-B2B21A3C4E02}"/>
                  </a:ext>
                </a:extLst>
              </p:cNvPr>
              <p:cNvSpPr txBox="1"/>
              <p:nvPr/>
            </p:nvSpPr>
            <p:spPr>
              <a:xfrm>
                <a:off x="4619368" y="3339514"/>
                <a:ext cx="1436932" cy="4217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1600" b="0" i="1" smtClean="0">
                          <a:latin typeface="Cambria Math" panose="02040503050406030204" pitchFamily="18" charset="0"/>
                        </a:rPr>
                        <m:t>z</m:t>
                      </m:r>
                      <m:r>
                        <a:rPr lang="en-US" sz="1600" b="0" i="1" smtClean="0">
                          <a:latin typeface="Cambria Math" panose="02040503050406030204" pitchFamily="18" charset="0"/>
                        </a:rPr>
                        <m:t>=</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q</m:t>
                          </m:r>
                        </m:e>
                        <m:sub>
                          <m:r>
                            <m:rPr>
                              <m:sty m:val="p"/>
                            </m:rPr>
                            <a:rPr lang="en-US" sz="1600" i="1">
                              <a:latin typeface="Cambria Math" panose="02040503050406030204" pitchFamily="18" charset="0"/>
                            </a:rPr>
                            <m:t>min</m:t>
                          </m:r>
                        </m:sub>
                      </m:sSub>
                      <m:r>
                        <a:rPr lang="en-US" sz="1600" i="1">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rPr>
                          </m:ctrlPr>
                        </m:fPr>
                        <m:num>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r</m:t>
                              </m:r>
                            </m:e>
                            <m:sub>
                              <m:r>
                                <m:rPr>
                                  <m:sty m:val="p"/>
                                </m:rPr>
                                <a:rPr lang="en-US" sz="1600" i="1">
                                  <a:latin typeface="Cambria Math" panose="02040503050406030204" pitchFamily="18" charset="0"/>
                                </a:rPr>
                                <m:t>min</m:t>
                              </m:r>
                            </m:sub>
                          </m:sSub>
                        </m:num>
                        <m:den>
                          <m:r>
                            <m:rPr>
                              <m:sty m:val="p"/>
                            </m:rPr>
                            <a:rPr lang="en-US" sz="1600" b="0" i="1" smtClean="0">
                              <a:latin typeface="Cambria Math" panose="02040503050406030204" pitchFamily="18" charset="0"/>
                            </a:rPr>
                            <m:t>s</m:t>
                          </m:r>
                        </m:den>
                      </m:f>
                    </m:oMath>
                  </m:oMathPara>
                </a14:m>
                <a:endParaRPr lang="pt-BR" sz="1600" i="1" dirty="0"/>
              </a:p>
            </p:txBody>
          </p:sp>
        </mc:Choice>
        <mc:Fallback>
          <p:sp>
            <p:nvSpPr>
              <p:cNvPr id="28" name="CaixaDeTexto 27">
                <a:extLst>
                  <a:ext uri="{FF2B5EF4-FFF2-40B4-BE49-F238E27FC236}">
                    <a16:creationId xmlns:a16="http://schemas.microsoft.com/office/drawing/2014/main" id="{5B6FA6F1-A400-6859-C911-B2B21A3C4E02}"/>
                  </a:ext>
                </a:extLst>
              </p:cNvPr>
              <p:cNvSpPr txBox="1">
                <a:spLocks noRot="1" noChangeAspect="1" noMove="1" noResize="1" noEditPoints="1" noAdjustHandles="1" noChangeArrowheads="1" noChangeShapeType="1" noTextEdit="1"/>
              </p:cNvSpPr>
              <p:nvPr/>
            </p:nvSpPr>
            <p:spPr>
              <a:xfrm>
                <a:off x="4619368" y="3339514"/>
                <a:ext cx="1436932" cy="421719"/>
              </a:xfrm>
              <a:prstGeom prst="rect">
                <a:avLst/>
              </a:prstGeom>
              <a:blipFill>
                <a:blip r:embed="rId13"/>
                <a:stretch>
                  <a:fillRect l="-1702" r="-1277" b="-10145"/>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9" name="CaixaDeTexto 28">
                <a:extLst>
                  <a:ext uri="{FF2B5EF4-FFF2-40B4-BE49-F238E27FC236}">
                    <a16:creationId xmlns:a16="http://schemas.microsoft.com/office/drawing/2014/main" id="{F681FFAF-3C7D-7E02-3A4D-B9A090F14255}"/>
                  </a:ext>
                </a:extLst>
              </p:cNvPr>
              <p:cNvSpPr txBox="1"/>
              <p:nvPr/>
            </p:nvSpPr>
            <p:spPr>
              <a:xfrm>
                <a:off x="4619368" y="3836707"/>
                <a:ext cx="2612254" cy="4217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1600" b="0" i="1" smtClean="0">
                          <a:latin typeface="Cambria Math" panose="02040503050406030204" pitchFamily="18" charset="0"/>
                        </a:rPr>
                        <m:t>z</m:t>
                      </m:r>
                      <m:r>
                        <a:rPr lang="en-US" sz="1600" b="0" i="1" smtClean="0">
                          <a:latin typeface="Cambria Math" panose="02040503050406030204" pitchFamily="18" charset="0"/>
                        </a:rPr>
                        <m:t>=</m:t>
                      </m:r>
                      <m:r>
                        <a:rPr lang="en-US" sz="1600" b="0" i="1" smtClean="0">
                          <a:latin typeface="Cambria Math" panose="02040503050406030204" pitchFamily="18" charset="0"/>
                        </a:rPr>
                        <m:t>𝑖𝑛𝑡</m:t>
                      </m:r>
                      <m:r>
                        <a:rPr lang="en-US" sz="1600" b="0" i="1" smtClean="0">
                          <a:latin typeface="Cambria Math" panose="02040503050406030204" pitchFamily="18" charset="0"/>
                        </a:rPr>
                        <m:t>(</m:t>
                      </m:r>
                      <m:r>
                        <a:rPr lang="en-US" sz="1600" b="0" i="1" smtClean="0">
                          <a:latin typeface="Cambria Math" panose="02040503050406030204" pitchFamily="18" charset="0"/>
                        </a:rPr>
                        <m:t>𝑟𝑜𝑢𝑛𝑑</m:t>
                      </m:r>
                      <m:r>
                        <a:rPr lang="en-US" sz="1600" b="0" i="1" smtClean="0">
                          <a:latin typeface="Cambria Math" panose="02040503050406030204" pitchFamily="18" charset="0"/>
                        </a:rPr>
                        <m:t>(</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q</m:t>
                          </m:r>
                        </m:e>
                        <m:sub>
                          <m:r>
                            <m:rPr>
                              <m:sty m:val="p"/>
                            </m:rPr>
                            <a:rPr lang="en-US" sz="1600" i="1">
                              <a:latin typeface="Cambria Math" panose="02040503050406030204" pitchFamily="18" charset="0"/>
                            </a:rPr>
                            <m:t>min</m:t>
                          </m:r>
                        </m:sub>
                      </m:sSub>
                      <m:r>
                        <a:rPr lang="en-US" sz="1600" i="1">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rPr>
                          </m:ctrlPr>
                        </m:fPr>
                        <m:num>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r</m:t>
                              </m:r>
                            </m:e>
                            <m:sub>
                              <m:r>
                                <m:rPr>
                                  <m:sty m:val="p"/>
                                </m:rPr>
                                <a:rPr lang="en-US" sz="1600" i="1">
                                  <a:latin typeface="Cambria Math" panose="02040503050406030204" pitchFamily="18" charset="0"/>
                                </a:rPr>
                                <m:t>min</m:t>
                              </m:r>
                            </m:sub>
                          </m:sSub>
                        </m:num>
                        <m:den>
                          <m:r>
                            <m:rPr>
                              <m:sty m:val="p"/>
                            </m:rPr>
                            <a:rPr lang="en-US" sz="1600" b="0" i="1" smtClean="0">
                              <a:latin typeface="Cambria Math" panose="02040503050406030204" pitchFamily="18" charset="0"/>
                            </a:rPr>
                            <m:t>s</m:t>
                          </m:r>
                        </m:den>
                      </m:f>
                      <m:r>
                        <a:rPr lang="en-US" sz="1600" b="0" i="1" smtClean="0">
                          <a:latin typeface="Cambria Math" panose="02040503050406030204" pitchFamily="18" charset="0"/>
                        </a:rPr>
                        <m:t>))</m:t>
                      </m:r>
                    </m:oMath>
                  </m:oMathPara>
                </a14:m>
                <a:endParaRPr lang="pt-BR" sz="1600" i="1" dirty="0"/>
              </a:p>
            </p:txBody>
          </p:sp>
        </mc:Choice>
        <mc:Fallback>
          <p:sp>
            <p:nvSpPr>
              <p:cNvPr id="29" name="CaixaDeTexto 28">
                <a:extLst>
                  <a:ext uri="{FF2B5EF4-FFF2-40B4-BE49-F238E27FC236}">
                    <a16:creationId xmlns:a16="http://schemas.microsoft.com/office/drawing/2014/main" id="{F681FFAF-3C7D-7E02-3A4D-B9A090F14255}"/>
                  </a:ext>
                </a:extLst>
              </p:cNvPr>
              <p:cNvSpPr txBox="1">
                <a:spLocks noRot="1" noChangeAspect="1" noMove="1" noResize="1" noEditPoints="1" noAdjustHandles="1" noChangeArrowheads="1" noChangeShapeType="1" noTextEdit="1"/>
              </p:cNvSpPr>
              <p:nvPr/>
            </p:nvSpPr>
            <p:spPr>
              <a:xfrm>
                <a:off x="4619368" y="3836707"/>
                <a:ext cx="2612254" cy="421719"/>
              </a:xfrm>
              <a:prstGeom prst="rect">
                <a:avLst/>
              </a:prstGeom>
              <a:blipFill>
                <a:blip r:embed="rId14"/>
                <a:stretch>
                  <a:fillRect l="-701" r="-2336" b="-10000"/>
                </a:stretch>
              </a:blipFill>
            </p:spPr>
            <p:txBody>
              <a:bodyPr/>
              <a:lstStyle/>
              <a:p>
                <a:r>
                  <a:rPr lang="pt-BR">
                    <a:noFill/>
                  </a:rPr>
                  <a:t> </a:t>
                </a:r>
              </a:p>
            </p:txBody>
          </p:sp>
        </mc:Fallback>
      </mc:AlternateContent>
    </p:spTree>
    <p:extLst>
      <p:ext uri="{BB962C8B-B14F-4D97-AF65-F5344CB8AC3E}">
        <p14:creationId xmlns:p14="http://schemas.microsoft.com/office/powerpoint/2010/main" val="1916725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BF12E-F49F-B33D-4E44-3EA8546B6769}"/>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1CFC02AC-C394-CFE4-191C-AFCDAB9DD148}"/>
              </a:ext>
            </a:extLst>
          </p:cNvPr>
          <p:cNvSpPr/>
          <p:nvPr/>
        </p:nvSpPr>
        <p:spPr>
          <a:xfrm>
            <a:off x="285751" y="324744"/>
            <a:ext cx="2077492"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8-BIT EXAMPLE</a:t>
            </a:r>
          </a:p>
        </p:txBody>
      </p:sp>
      <p:pic>
        <p:nvPicPr>
          <p:cNvPr id="6" name="Imagem 5" descr="Uma imagem contendo Interface gráfica do usuário&#10;&#10;O conteúdo gerado por IA pode estar incorreto.">
            <a:extLst>
              <a:ext uri="{FF2B5EF4-FFF2-40B4-BE49-F238E27FC236}">
                <a16:creationId xmlns:a16="http://schemas.microsoft.com/office/drawing/2014/main" id="{82A4A487-9C40-16C9-A8A3-0BB2277AB2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pic>
        <p:nvPicPr>
          <p:cNvPr id="7" name="Imagem 6" descr="Tabela, Calendário&#10;&#10;O conteúdo gerado por IA pode estar incorreto.">
            <a:extLst>
              <a:ext uri="{FF2B5EF4-FFF2-40B4-BE49-F238E27FC236}">
                <a16:creationId xmlns:a16="http://schemas.microsoft.com/office/drawing/2014/main" id="{3061D2A6-D6F4-0199-03CF-C55F14CF88BA}"/>
              </a:ext>
            </a:extLst>
          </p:cNvPr>
          <p:cNvPicPr>
            <a:picLocks noChangeAspect="1"/>
          </p:cNvPicPr>
          <p:nvPr/>
        </p:nvPicPr>
        <p:blipFill>
          <a:blip r:embed="rId3"/>
          <a:stretch>
            <a:fillRect/>
          </a:stretch>
        </p:blipFill>
        <p:spPr>
          <a:xfrm>
            <a:off x="3363961" y="1089660"/>
            <a:ext cx="1964357" cy="1769866"/>
          </a:xfrm>
          <a:prstGeom prst="rect">
            <a:avLst/>
          </a:prstGeom>
        </p:spPr>
      </p:pic>
      <mc:AlternateContent xmlns:mc="http://schemas.openxmlformats.org/markup-compatibility/2006">
        <mc:Choice xmlns:a14="http://schemas.microsoft.com/office/drawing/2010/main" Requires="a14">
          <p:sp>
            <p:nvSpPr>
              <p:cNvPr id="9" name="CaixaDeTexto 8">
                <a:extLst>
                  <a:ext uri="{FF2B5EF4-FFF2-40B4-BE49-F238E27FC236}">
                    <a16:creationId xmlns:a16="http://schemas.microsoft.com/office/drawing/2014/main" id="{AAEBBDD0-9133-AE97-10A3-C9C2B2FC8632}"/>
                  </a:ext>
                </a:extLst>
              </p:cNvPr>
              <p:cNvSpPr txBox="1"/>
              <p:nvPr/>
            </p:nvSpPr>
            <p:spPr>
              <a:xfrm>
                <a:off x="2335992" y="4087503"/>
                <a:ext cx="4296561"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1600" b="0" i="1" smtClean="0">
                          <a:latin typeface="Cambria Math" panose="02040503050406030204" pitchFamily="18" charset="0"/>
                        </a:rPr>
                        <m:t>z</m:t>
                      </m:r>
                      <m:r>
                        <a:rPr lang="en-US" sz="1600" b="0" i="1" smtClean="0">
                          <a:latin typeface="Cambria Math" panose="02040503050406030204" pitchFamily="18" charset="0"/>
                        </a:rPr>
                        <m:t>=</m:t>
                      </m:r>
                      <m:r>
                        <a:rPr lang="en-US" sz="1600" b="0" i="1" smtClean="0">
                          <a:latin typeface="Cambria Math" panose="02040503050406030204" pitchFamily="18" charset="0"/>
                        </a:rPr>
                        <m:t>𝑖𝑛𝑡</m:t>
                      </m:r>
                      <m:r>
                        <a:rPr lang="en-US" sz="1600" b="0" i="1" smtClean="0">
                          <a:latin typeface="Cambria Math" panose="02040503050406030204" pitchFamily="18" charset="0"/>
                        </a:rPr>
                        <m:t>(</m:t>
                      </m:r>
                      <m:r>
                        <a:rPr lang="en-US" sz="1600" b="0" i="1" smtClean="0">
                          <a:latin typeface="Cambria Math" panose="02040503050406030204" pitchFamily="18" charset="0"/>
                        </a:rPr>
                        <m:t>𝑟𝑜𝑢𝑛𝑑</m:t>
                      </m:r>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128</m:t>
                      </m:r>
                      <m:r>
                        <a:rPr lang="en-US" sz="1600" b="0" i="1" smtClean="0">
                          <a:latin typeface="Cambria Math" panose="02040503050406030204" pitchFamily="18" charset="0"/>
                        </a:rPr>
                        <m:t>)</m:t>
                      </m:r>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184</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3</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58</m:t>
                      </m:r>
                      <m:r>
                        <a:rPr lang="en-US" sz="1600" b="0" i="1" smtClean="0">
                          <a:latin typeface="Cambria Math" panose="02040503050406030204" pitchFamily="18" charset="0"/>
                          <a:ea typeface="Cambria Math" panose="02040503050406030204" pitchFamily="18" charset="0"/>
                        </a:rPr>
                        <m:t>)) = -</m:t>
                      </m:r>
                      <m:r>
                        <a:rPr lang="en-US" sz="1600" b="0" i="1" smtClean="0">
                          <a:latin typeface="Cambria Math" panose="02040503050406030204" pitchFamily="18" charset="0"/>
                        </a:rPr>
                        <m:t>77</m:t>
                      </m:r>
                    </m:oMath>
                  </m:oMathPara>
                </a14:m>
                <a:endParaRPr lang="pt-BR" sz="1600" i="1" dirty="0"/>
              </a:p>
            </p:txBody>
          </p:sp>
        </mc:Choice>
        <mc:Fallback>
          <p:sp>
            <p:nvSpPr>
              <p:cNvPr id="9" name="CaixaDeTexto 8">
                <a:extLst>
                  <a:ext uri="{FF2B5EF4-FFF2-40B4-BE49-F238E27FC236}">
                    <a16:creationId xmlns:a16="http://schemas.microsoft.com/office/drawing/2014/main" id="{AAEBBDD0-9133-AE97-10A3-C9C2B2FC8632}"/>
                  </a:ext>
                </a:extLst>
              </p:cNvPr>
              <p:cNvSpPr txBox="1">
                <a:spLocks noRot="1" noChangeAspect="1" noMove="1" noResize="1" noEditPoints="1" noAdjustHandles="1" noChangeArrowheads="1" noChangeShapeType="1" noTextEdit="1"/>
              </p:cNvSpPr>
              <p:nvPr/>
            </p:nvSpPr>
            <p:spPr>
              <a:xfrm>
                <a:off x="2335992" y="4087503"/>
                <a:ext cx="4296561" cy="246221"/>
              </a:xfrm>
              <a:prstGeom prst="rect">
                <a:avLst/>
              </a:prstGeom>
              <a:blipFill>
                <a:blip r:embed="rId4"/>
                <a:stretch>
                  <a:fillRect l="-142" r="-567" b="-32500"/>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0" name="CaixaDeTexto 9">
                <a:extLst>
                  <a:ext uri="{FF2B5EF4-FFF2-40B4-BE49-F238E27FC236}">
                    <a16:creationId xmlns:a16="http://schemas.microsoft.com/office/drawing/2014/main" id="{4FB883DD-4475-60CE-E854-636266864C10}"/>
                  </a:ext>
                </a:extLst>
              </p:cNvPr>
              <p:cNvSpPr txBox="1"/>
              <p:nvPr/>
            </p:nvSpPr>
            <p:spPr>
              <a:xfrm>
                <a:off x="2291703" y="3713048"/>
                <a:ext cx="4332917"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1600" b="0" i="1" smtClean="0">
                          <a:latin typeface="Cambria Math" panose="02040503050406030204" pitchFamily="18" charset="0"/>
                        </a:rPr>
                        <m:t>s</m:t>
                      </m:r>
                      <m:r>
                        <a:rPr lang="en-US" sz="1600" b="0" i="1" smtClean="0">
                          <a:latin typeface="Cambria Math" panose="02040503050406030204" pitchFamily="18" charset="0"/>
                        </a:rPr>
                        <m:t> = (</m:t>
                      </m:r>
                      <m:r>
                        <a:rPr lang="en-US" sz="1600" b="0" i="1" smtClean="0">
                          <a:latin typeface="Cambria Math" panose="02040503050406030204" pitchFamily="18" charset="0"/>
                        </a:rPr>
                        <m:t>728</m:t>
                      </m:r>
                      <m:r>
                        <a:rPr lang="en-US" sz="1600" b="0" i="1" smtClean="0">
                          <a:latin typeface="Cambria Math" panose="02040503050406030204" pitchFamily="18" charset="0"/>
                        </a:rPr>
                        <m:t>.</m:t>
                      </m:r>
                      <m:r>
                        <a:rPr lang="en-US" sz="1600" b="0" i="1" smtClean="0">
                          <a:latin typeface="Cambria Math" panose="02040503050406030204" pitchFamily="18" charset="0"/>
                        </a:rPr>
                        <m:t>6</m:t>
                      </m:r>
                      <m:r>
                        <a:rPr lang="pt-BR" sz="1600" i="1" dirty="0">
                          <a:latin typeface="Cambria Math" panose="02040503050406030204" pitchFamily="18" charset="0"/>
                          <a:ea typeface="Cambria Math" panose="02040503050406030204" pitchFamily="18" charset="0"/>
                        </a:rPr>
                        <m:t>−</m:t>
                      </m:r>
                      <m:r>
                        <a:rPr lang="en-US" sz="1600" b="0" i="1" dirty="0" smtClean="0">
                          <a:latin typeface="Cambria Math" panose="02040503050406030204" pitchFamily="18" charset="0"/>
                          <a:ea typeface="Cambria Math" panose="02040503050406030204" pitchFamily="18" charset="0"/>
                        </a:rPr>
                        <m:t>(−</m:t>
                      </m:r>
                      <m:r>
                        <a:rPr lang="en-US" sz="1600" b="0" i="1" dirty="0" smtClean="0">
                          <a:latin typeface="Cambria Math" panose="02040503050406030204" pitchFamily="18" charset="0"/>
                          <a:ea typeface="Cambria Math" panose="02040503050406030204" pitchFamily="18" charset="0"/>
                        </a:rPr>
                        <m:t>184</m:t>
                      </m:r>
                      <m:r>
                        <a:rPr lang="en-US" sz="1600" b="0" i="1" dirty="0"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rPr>
                        <m:t>127</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128</m:t>
                      </m:r>
                      <m:r>
                        <a:rPr lang="en-US" sz="1600" b="0" i="1" smtClean="0">
                          <a:latin typeface="Cambria Math" panose="02040503050406030204" pitchFamily="18" charset="0"/>
                          <a:ea typeface="Cambria Math" panose="02040503050406030204" pitchFamily="18" charset="0"/>
                        </a:rPr>
                        <m:t>)) = </m:t>
                      </m:r>
                      <m:r>
                        <a:rPr lang="en-US" sz="1600" b="0" i="1" smtClean="0">
                          <a:latin typeface="Cambria Math" panose="02040503050406030204" pitchFamily="18" charset="0"/>
                          <a:ea typeface="Cambria Math" panose="02040503050406030204" pitchFamily="18" charset="0"/>
                        </a:rPr>
                        <m:t>3</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58</m:t>
                      </m:r>
                    </m:oMath>
                  </m:oMathPara>
                </a14:m>
                <a:endParaRPr lang="pt-BR" sz="1600" i="1" dirty="0"/>
              </a:p>
            </p:txBody>
          </p:sp>
        </mc:Choice>
        <mc:Fallback>
          <p:sp>
            <p:nvSpPr>
              <p:cNvPr id="10" name="CaixaDeTexto 9">
                <a:extLst>
                  <a:ext uri="{FF2B5EF4-FFF2-40B4-BE49-F238E27FC236}">
                    <a16:creationId xmlns:a16="http://schemas.microsoft.com/office/drawing/2014/main" id="{4FB883DD-4475-60CE-E854-636266864C10}"/>
                  </a:ext>
                </a:extLst>
              </p:cNvPr>
              <p:cNvSpPr txBox="1">
                <a:spLocks noRot="1" noChangeAspect="1" noMove="1" noResize="1" noEditPoints="1" noAdjustHandles="1" noChangeArrowheads="1" noChangeShapeType="1" noTextEdit="1"/>
              </p:cNvSpPr>
              <p:nvPr/>
            </p:nvSpPr>
            <p:spPr>
              <a:xfrm>
                <a:off x="2291703" y="3713048"/>
                <a:ext cx="4332917" cy="246221"/>
              </a:xfrm>
              <a:prstGeom prst="rect">
                <a:avLst/>
              </a:prstGeom>
              <a:blipFill>
                <a:blip r:embed="rId5"/>
                <a:stretch>
                  <a:fillRect l="-281" r="-563" b="-35000"/>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3" name="CaixaDeTexto 12">
                <a:extLst>
                  <a:ext uri="{FF2B5EF4-FFF2-40B4-BE49-F238E27FC236}">
                    <a16:creationId xmlns:a16="http://schemas.microsoft.com/office/drawing/2014/main" id="{C85AAA2B-2E72-A34A-B484-DDC315CE80AA}"/>
                  </a:ext>
                </a:extLst>
              </p:cNvPr>
              <p:cNvSpPr txBox="1"/>
              <p:nvPr/>
            </p:nvSpPr>
            <p:spPr>
              <a:xfrm>
                <a:off x="3158491" y="3035561"/>
                <a:ext cx="2622769" cy="54925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d>
                        <m:dPr>
                          <m:begChr m:val="{"/>
                          <m:endChr m:val=""/>
                          <m:ctrlPr>
                            <a:rPr lang="pt-BR" sz="1600" i="1" smtClean="0">
                              <a:latin typeface="Cambria Math" panose="02040503050406030204" pitchFamily="18" charset="0"/>
                            </a:rPr>
                          </m:ctrlPr>
                        </m:dPr>
                        <m:e>
                          <m:eqArr>
                            <m:eqArrPr>
                              <m:ctrlPr>
                                <a:rPr lang="pt-BR" sz="1600" i="1" smtClean="0">
                                  <a:latin typeface="Cambria Math" panose="02040503050406030204" pitchFamily="18" charset="0"/>
                                </a:rPr>
                              </m:ctrlPr>
                            </m:eqArrPr>
                            <m:e>
                              <m:r>
                                <a:rPr lang="en-US" sz="1600" i="1">
                                  <a:latin typeface="Cambria Math" panose="02040503050406030204" pitchFamily="18" charset="0"/>
                                </a:rPr>
                                <m:t>[</m:t>
                              </m:r>
                              <m:sSub>
                                <m:sSubPr>
                                  <m:ctrlPr>
                                    <a:rPr lang="pt-BR" sz="1600" i="1">
                                      <a:latin typeface="Cambria Math" panose="02040503050406030204" pitchFamily="18" charset="0"/>
                                    </a:rPr>
                                  </m:ctrlPr>
                                </m:sSubPr>
                                <m:e>
                                  <m:r>
                                    <m:rPr>
                                      <m:sty m:val="p"/>
                                    </m:rPr>
                                    <a:rPr lang="en-US" sz="1600" i="1">
                                      <a:latin typeface="Cambria Math" panose="02040503050406030204" pitchFamily="18" charset="0"/>
                                    </a:rPr>
                                    <m:t>r</m:t>
                                  </m:r>
                                </m:e>
                                <m:sub>
                                  <m:r>
                                    <m:rPr>
                                      <m:sty m:val="p"/>
                                    </m:rPr>
                                    <a:rPr lang="en-US" sz="1600" i="1">
                                      <a:latin typeface="Cambria Math" panose="02040503050406030204" pitchFamily="18" charset="0"/>
                                    </a:rPr>
                                    <m:t>min</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r</m:t>
                                  </m:r>
                                </m:e>
                                <m:sub>
                                  <m:r>
                                    <m:rPr>
                                      <m:sty m:val="p"/>
                                    </m:rPr>
                                    <a:rPr lang="en-US" sz="1600" i="1">
                                      <a:latin typeface="Cambria Math" panose="02040503050406030204" pitchFamily="18" charset="0"/>
                                    </a:rPr>
                                    <m:t>max</m:t>
                                  </m:r>
                                </m:sub>
                              </m:sSub>
                              <m:r>
                                <a:rPr lang="en-US" sz="1600" i="1">
                                  <a:latin typeface="Cambria Math" panose="02040503050406030204" pitchFamily="18" charset="0"/>
                                </a:rPr>
                                <m:t>]</m:t>
                              </m:r>
                              <m:r>
                                <a:rPr lang="en-US" sz="1600" b="0" i="1" smtClean="0">
                                  <a:latin typeface="Cambria Math" panose="02040503050406030204" pitchFamily="18" charset="0"/>
                                </a:rPr>
                                <m:t>=</m:t>
                              </m:r>
                              <m:r>
                                <a:rPr lang="en-US" sz="1600" i="1">
                                  <a:latin typeface="Cambria Math" panose="02040503050406030204" pitchFamily="18" charset="0"/>
                                </a:rPr>
                                <m:t>[</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184</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728</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6</m:t>
                              </m:r>
                              <m:r>
                                <a:rPr lang="en-US" sz="1600" i="1">
                                  <a:latin typeface="Cambria Math" panose="02040503050406030204" pitchFamily="18" charset="0"/>
                                  <a:ea typeface="Cambria Math" panose="02040503050406030204" pitchFamily="18" charset="0"/>
                                </a:rPr>
                                <m:t>]</m:t>
                              </m:r>
                            </m:e>
                            <m:e>
                              <m:r>
                                <a:rPr lang="en-US" sz="1600" i="1">
                                  <a:latin typeface="Cambria Math" panose="02040503050406030204" pitchFamily="18" charset="0"/>
                                </a:rPr>
                                <m:t>[</m:t>
                              </m:r>
                              <m:sSub>
                                <m:sSubPr>
                                  <m:ctrlPr>
                                    <a:rPr lang="pt-BR" sz="1600" i="1">
                                      <a:latin typeface="Cambria Math" panose="02040503050406030204" pitchFamily="18" charset="0"/>
                                    </a:rPr>
                                  </m:ctrlPr>
                                </m:sSubPr>
                                <m:e>
                                  <m:r>
                                    <m:rPr>
                                      <m:sty m:val="p"/>
                                    </m:rPr>
                                    <a:rPr lang="en-US" sz="1600" i="1">
                                      <a:latin typeface="Cambria Math" panose="02040503050406030204" pitchFamily="18" charset="0"/>
                                    </a:rPr>
                                    <m:t>q</m:t>
                                  </m:r>
                                </m:e>
                                <m:sub>
                                  <m:r>
                                    <m:rPr>
                                      <m:sty m:val="p"/>
                                    </m:rPr>
                                    <a:rPr lang="en-US" sz="1600" i="1">
                                      <a:latin typeface="Cambria Math" panose="02040503050406030204" pitchFamily="18" charset="0"/>
                                    </a:rPr>
                                    <m:t>min</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q</m:t>
                                  </m:r>
                                </m:e>
                                <m:sub>
                                  <m:r>
                                    <m:rPr>
                                      <m:sty m:val="p"/>
                                    </m:rPr>
                                    <a:rPr lang="en-US" sz="1600" i="1">
                                      <a:latin typeface="Cambria Math" panose="02040503050406030204" pitchFamily="18" charset="0"/>
                                    </a:rPr>
                                    <m:t>max</m:t>
                                  </m:r>
                                </m:sub>
                              </m:sSub>
                              <m:r>
                                <a:rPr lang="en-US" sz="1600" i="1">
                                  <a:latin typeface="Cambria Math" panose="02040503050406030204" pitchFamily="18" charset="0"/>
                                </a:rPr>
                                <m:t>]=[</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128</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127</m:t>
                              </m:r>
                              <m:r>
                                <a:rPr lang="en-US" sz="1600" b="0" i="1" smtClean="0">
                                  <a:latin typeface="Cambria Math" panose="02040503050406030204" pitchFamily="18" charset="0"/>
                                  <a:ea typeface="Cambria Math" panose="02040503050406030204" pitchFamily="18" charset="0"/>
                                </a:rPr>
                                <m:t>]</m:t>
                              </m:r>
                            </m:e>
                          </m:eqArr>
                        </m:e>
                      </m:d>
                    </m:oMath>
                  </m:oMathPara>
                </a14:m>
                <a:endParaRPr lang="pt-BR" sz="1600" dirty="0"/>
              </a:p>
            </p:txBody>
          </p:sp>
        </mc:Choice>
        <mc:Fallback>
          <p:sp>
            <p:nvSpPr>
              <p:cNvPr id="13" name="CaixaDeTexto 12">
                <a:extLst>
                  <a:ext uri="{FF2B5EF4-FFF2-40B4-BE49-F238E27FC236}">
                    <a16:creationId xmlns:a16="http://schemas.microsoft.com/office/drawing/2014/main" id="{C85AAA2B-2E72-A34A-B484-DDC315CE80AA}"/>
                  </a:ext>
                </a:extLst>
              </p:cNvPr>
              <p:cNvSpPr txBox="1">
                <a:spLocks noRot="1" noChangeAspect="1" noMove="1" noResize="1" noEditPoints="1" noAdjustHandles="1" noChangeArrowheads="1" noChangeShapeType="1" noTextEdit="1"/>
              </p:cNvSpPr>
              <p:nvPr/>
            </p:nvSpPr>
            <p:spPr>
              <a:xfrm>
                <a:off x="3158491" y="3035561"/>
                <a:ext cx="2622769" cy="549253"/>
              </a:xfrm>
              <a:prstGeom prst="rect">
                <a:avLst/>
              </a:prstGeom>
              <a:blipFill>
                <a:blip r:embed="rId6"/>
                <a:stretch>
                  <a:fillRect b="-1111"/>
                </a:stretch>
              </a:blipFill>
            </p:spPr>
            <p:txBody>
              <a:bodyPr/>
              <a:lstStyle/>
              <a:p>
                <a:r>
                  <a:rPr lang="pt-BR">
                    <a:noFill/>
                  </a:rPr>
                  <a:t> </a:t>
                </a:r>
              </a:p>
            </p:txBody>
          </p:sp>
        </mc:Fallback>
      </mc:AlternateContent>
    </p:spTree>
    <p:extLst>
      <p:ext uri="{BB962C8B-B14F-4D97-AF65-F5344CB8AC3E}">
        <p14:creationId xmlns:p14="http://schemas.microsoft.com/office/powerpoint/2010/main" val="670171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D2014-A14A-6703-DC10-FE7A1CCE02F8}"/>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D607D30A-21AC-8BCC-A33D-5D55A0DDDA55}"/>
              </a:ext>
            </a:extLst>
          </p:cNvPr>
          <p:cNvSpPr/>
          <p:nvPr/>
        </p:nvSpPr>
        <p:spPr>
          <a:xfrm>
            <a:off x="285751" y="324744"/>
            <a:ext cx="3805529"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ZERO POINT OUT OF RANGE</a:t>
            </a:r>
          </a:p>
        </p:txBody>
      </p:sp>
      <p:pic>
        <p:nvPicPr>
          <p:cNvPr id="6" name="Imagem 5" descr="Uma imagem contendo Interface gráfica do usuário&#10;&#10;O conteúdo gerado por IA pode estar incorreto.">
            <a:extLst>
              <a:ext uri="{FF2B5EF4-FFF2-40B4-BE49-F238E27FC236}">
                <a16:creationId xmlns:a16="http://schemas.microsoft.com/office/drawing/2014/main" id="{EE974584-696B-6263-503B-F3624ACA1D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mc:AlternateContent xmlns:mc="http://schemas.openxmlformats.org/markup-compatibility/2006">
        <mc:Choice xmlns:a14="http://schemas.microsoft.com/office/drawing/2010/main" Requires="a14">
          <p:sp>
            <p:nvSpPr>
              <p:cNvPr id="7" name="Text 1">
                <a:extLst>
                  <a:ext uri="{FF2B5EF4-FFF2-40B4-BE49-F238E27FC236}">
                    <a16:creationId xmlns:a16="http://schemas.microsoft.com/office/drawing/2014/main" id="{572FD32A-EB58-334E-1855-7B6763F8F76B}"/>
                  </a:ext>
                </a:extLst>
              </p:cNvPr>
              <p:cNvSpPr/>
              <p:nvPr/>
            </p:nvSpPr>
            <p:spPr>
              <a:xfrm>
                <a:off x="316232" y="972992"/>
                <a:ext cx="3021328" cy="205184"/>
              </a:xfrm>
              <a:prstGeom prst="rect">
                <a:avLst/>
              </a:prstGeom>
              <a:noFill/>
              <a:ln/>
            </p:spPr>
            <p:txBody>
              <a:bodyPr wrap="square" lIns="0" tIns="0" rIns="0" bIns="0" rtlCol="0" anchor="t">
                <a:spAutoFit/>
              </a:bodyPr>
              <a:lstStyle/>
              <a:p>
                <a:pPr>
                  <a:lnSpc>
                    <a:spcPts val="1600"/>
                  </a:lnSpc>
                </a:pPr>
                <a:r>
                  <a:rPr lang="en-US" sz="1400" dirty="0">
                    <a:solidFill>
                      <a:srgbClr val="1A1A1A"/>
                    </a:solidFill>
                    <a:latin typeface="Montserrat" pitchFamily="2" charset="0"/>
                  </a:rPr>
                  <a:t>Case 1 </a:t>
                </a:r>
                <a14:m>
                  <m:oMath xmlns:m="http://schemas.openxmlformats.org/officeDocument/2006/math">
                    <m:r>
                      <a:rPr lang="en-US" sz="1400" b="0" i="1" smtClean="0">
                        <a:solidFill>
                          <a:srgbClr val="1A1A1A"/>
                        </a:solidFill>
                        <a:latin typeface="Cambria Math" panose="02040503050406030204" pitchFamily="18" charset="0"/>
                      </a:rPr>
                      <m:t>(</m:t>
                    </m:r>
                    <m:r>
                      <m:rPr>
                        <m:sty m:val="p"/>
                      </m:rPr>
                      <a:rPr lang="en-US" sz="1400" b="0" i="1" smtClean="0">
                        <a:solidFill>
                          <a:srgbClr val="1A1A1A"/>
                        </a:solidFill>
                        <a:latin typeface="Cambria Math" panose="02040503050406030204" pitchFamily="18" charset="0"/>
                      </a:rPr>
                      <m:t>z</m:t>
                    </m:r>
                    <m:r>
                      <a:rPr lang="en-US" sz="1400" b="0" i="1" smtClean="0">
                        <a:solidFill>
                          <a:srgbClr val="1A1A1A"/>
                        </a:solidFill>
                        <a:latin typeface="Cambria Math" panose="02040503050406030204" pitchFamily="18" charset="0"/>
                      </a:rPr>
                      <m:t> &lt; </m:t>
                    </m:r>
                    <m:sSub>
                      <m:sSubPr>
                        <m:ctrlPr>
                          <a:rPr lang="en-US" sz="1400" b="0" i="1" smtClean="0">
                            <a:solidFill>
                              <a:srgbClr val="1A1A1A"/>
                            </a:solidFill>
                            <a:latin typeface="Cambria Math" panose="02040503050406030204" pitchFamily="18" charset="0"/>
                          </a:rPr>
                        </m:ctrlPr>
                      </m:sSubPr>
                      <m:e>
                        <m:r>
                          <m:rPr>
                            <m:sty m:val="p"/>
                          </m:rPr>
                          <a:rPr lang="en-US" sz="1400" b="0" i="1" smtClean="0">
                            <a:solidFill>
                              <a:srgbClr val="1A1A1A"/>
                            </a:solidFill>
                            <a:latin typeface="Cambria Math" panose="02040503050406030204" pitchFamily="18" charset="0"/>
                          </a:rPr>
                          <m:t>q</m:t>
                        </m:r>
                      </m:e>
                      <m:sub>
                        <m:r>
                          <m:rPr>
                            <m:sty m:val="p"/>
                          </m:rPr>
                          <a:rPr lang="en-US" sz="1400" b="0" i="1" smtClean="0">
                            <a:solidFill>
                              <a:srgbClr val="1A1A1A"/>
                            </a:solidFill>
                            <a:latin typeface="Cambria Math" panose="02040503050406030204" pitchFamily="18" charset="0"/>
                          </a:rPr>
                          <m:t>min</m:t>
                        </m:r>
                      </m:sub>
                    </m:sSub>
                    <m:r>
                      <a:rPr lang="en-US" sz="1400" b="0" i="1" smtClean="0">
                        <a:solidFill>
                          <a:srgbClr val="1A1A1A"/>
                        </a:solidFill>
                        <a:latin typeface="Cambria Math" panose="02040503050406030204" pitchFamily="18" charset="0"/>
                      </a:rPr>
                      <m:t>)</m:t>
                    </m:r>
                  </m:oMath>
                </a14:m>
                <a:r>
                  <a:rPr lang="en-US" sz="1400" dirty="0">
                    <a:solidFill>
                      <a:srgbClr val="1A1A1A"/>
                    </a:solidFill>
                    <a:latin typeface="Montserrat" pitchFamily="2" charset="0"/>
                  </a:rPr>
                  <a:t>: We set </a:t>
                </a:r>
                <a14:m>
                  <m:oMath xmlns:m="http://schemas.openxmlformats.org/officeDocument/2006/math">
                    <m:r>
                      <m:rPr>
                        <m:sty m:val="p"/>
                      </m:rPr>
                      <a:rPr lang="en-US" sz="1400" i="1">
                        <a:solidFill>
                          <a:srgbClr val="1A1A1A"/>
                        </a:solidFill>
                        <a:latin typeface="Cambria Math" panose="02040503050406030204" pitchFamily="18" charset="0"/>
                      </a:rPr>
                      <m:t>z</m:t>
                    </m:r>
                    <m:r>
                      <a:rPr lang="en-US" sz="1400" i="1">
                        <a:solidFill>
                          <a:srgbClr val="1A1A1A"/>
                        </a:solidFill>
                        <a:latin typeface="Cambria Math" panose="02040503050406030204" pitchFamily="18" charset="0"/>
                      </a:rPr>
                      <m:t> = </m:t>
                    </m:r>
                    <m:sSub>
                      <m:sSubPr>
                        <m:ctrlPr>
                          <a:rPr lang="en-US" sz="1400" i="1">
                            <a:solidFill>
                              <a:srgbClr val="1A1A1A"/>
                            </a:solidFill>
                            <a:latin typeface="Cambria Math" panose="02040503050406030204" pitchFamily="18" charset="0"/>
                          </a:rPr>
                        </m:ctrlPr>
                      </m:sSubPr>
                      <m:e>
                        <m:r>
                          <m:rPr>
                            <m:sty m:val="p"/>
                          </m:rPr>
                          <a:rPr lang="en-US" sz="1400" i="1">
                            <a:solidFill>
                              <a:srgbClr val="1A1A1A"/>
                            </a:solidFill>
                            <a:latin typeface="Cambria Math" panose="02040503050406030204" pitchFamily="18" charset="0"/>
                          </a:rPr>
                          <m:t>q</m:t>
                        </m:r>
                      </m:e>
                      <m:sub>
                        <m:r>
                          <m:rPr>
                            <m:sty m:val="p"/>
                          </m:rPr>
                          <a:rPr lang="en-US" sz="1400" i="1">
                            <a:solidFill>
                              <a:srgbClr val="1A1A1A"/>
                            </a:solidFill>
                            <a:latin typeface="Cambria Math" panose="02040503050406030204" pitchFamily="18" charset="0"/>
                          </a:rPr>
                          <m:t>min</m:t>
                        </m:r>
                      </m:sub>
                    </m:sSub>
                  </m:oMath>
                </a14:m>
                <a:endParaRPr lang="en-US" sz="1400" dirty="0">
                  <a:solidFill>
                    <a:srgbClr val="1A1A1A"/>
                  </a:solidFill>
                  <a:latin typeface="Montserrat" pitchFamily="2" charset="0"/>
                </a:endParaRPr>
              </a:p>
            </p:txBody>
          </p:sp>
        </mc:Choice>
        <mc:Fallback>
          <p:sp>
            <p:nvSpPr>
              <p:cNvPr id="7" name="Text 1">
                <a:extLst>
                  <a:ext uri="{FF2B5EF4-FFF2-40B4-BE49-F238E27FC236}">
                    <a16:creationId xmlns:a16="http://schemas.microsoft.com/office/drawing/2014/main" id="{572FD32A-EB58-334E-1855-7B6763F8F76B}"/>
                  </a:ext>
                </a:extLst>
              </p:cNvPr>
              <p:cNvSpPr>
                <a:spLocks noRot="1" noChangeAspect="1" noMove="1" noResize="1" noEditPoints="1" noAdjustHandles="1" noChangeArrowheads="1" noChangeShapeType="1" noTextEdit="1"/>
              </p:cNvSpPr>
              <p:nvPr/>
            </p:nvSpPr>
            <p:spPr>
              <a:xfrm>
                <a:off x="316232" y="972992"/>
                <a:ext cx="3021328" cy="205184"/>
              </a:xfrm>
              <a:prstGeom prst="rect">
                <a:avLst/>
              </a:prstGeom>
              <a:blipFill>
                <a:blip r:embed="rId3"/>
                <a:stretch>
                  <a:fillRect l="-3629" t="-36364" r="-2823" b="-54545"/>
                </a:stretch>
              </a:blipFill>
              <a:ln/>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8" name="Text 1">
                <a:extLst>
                  <a:ext uri="{FF2B5EF4-FFF2-40B4-BE49-F238E27FC236}">
                    <a16:creationId xmlns:a16="http://schemas.microsoft.com/office/drawing/2014/main" id="{BE5D0B09-2C00-111E-7968-A1CCA69F7DF1}"/>
                  </a:ext>
                </a:extLst>
              </p:cNvPr>
              <p:cNvSpPr/>
              <p:nvPr/>
            </p:nvSpPr>
            <p:spPr>
              <a:xfrm>
                <a:off x="381307" y="2632710"/>
                <a:ext cx="3152165" cy="205184"/>
              </a:xfrm>
              <a:prstGeom prst="rect">
                <a:avLst/>
              </a:prstGeom>
              <a:noFill/>
              <a:ln/>
            </p:spPr>
            <p:txBody>
              <a:bodyPr wrap="square" lIns="0" tIns="0" rIns="0" bIns="0" rtlCol="0" anchor="t">
                <a:spAutoFit/>
              </a:bodyPr>
              <a:lstStyle/>
              <a:p>
                <a:pPr>
                  <a:lnSpc>
                    <a:spcPts val="1600"/>
                  </a:lnSpc>
                </a:pPr>
                <a:r>
                  <a:rPr lang="en-US" sz="1400" dirty="0">
                    <a:solidFill>
                      <a:srgbClr val="1A1A1A"/>
                    </a:solidFill>
                    <a:latin typeface="Montserrat" pitchFamily="2" charset="0"/>
                  </a:rPr>
                  <a:t>Case 2 </a:t>
                </a:r>
                <a14:m>
                  <m:oMath xmlns:m="http://schemas.openxmlformats.org/officeDocument/2006/math">
                    <m:r>
                      <a:rPr lang="en-US" sz="1400" b="0" i="1" smtClean="0">
                        <a:solidFill>
                          <a:srgbClr val="1A1A1A"/>
                        </a:solidFill>
                        <a:latin typeface="Cambria Math" panose="02040503050406030204" pitchFamily="18" charset="0"/>
                      </a:rPr>
                      <m:t>(</m:t>
                    </m:r>
                    <m:r>
                      <m:rPr>
                        <m:sty m:val="p"/>
                      </m:rPr>
                      <a:rPr lang="en-US" sz="1400" b="0" i="1" smtClean="0">
                        <a:solidFill>
                          <a:srgbClr val="1A1A1A"/>
                        </a:solidFill>
                        <a:latin typeface="Cambria Math" panose="02040503050406030204" pitchFamily="18" charset="0"/>
                      </a:rPr>
                      <m:t>z</m:t>
                    </m:r>
                    <m:r>
                      <a:rPr lang="en-US" sz="1400" b="0" i="1" smtClean="0">
                        <a:solidFill>
                          <a:srgbClr val="1A1A1A"/>
                        </a:solidFill>
                        <a:latin typeface="Cambria Math" panose="02040503050406030204" pitchFamily="18" charset="0"/>
                      </a:rPr>
                      <m:t> &gt; </m:t>
                    </m:r>
                    <m:sSub>
                      <m:sSubPr>
                        <m:ctrlPr>
                          <a:rPr lang="en-US" sz="1400" b="0" i="1" smtClean="0">
                            <a:solidFill>
                              <a:srgbClr val="1A1A1A"/>
                            </a:solidFill>
                            <a:latin typeface="Cambria Math" panose="02040503050406030204" pitchFamily="18" charset="0"/>
                          </a:rPr>
                        </m:ctrlPr>
                      </m:sSubPr>
                      <m:e>
                        <m:r>
                          <m:rPr>
                            <m:sty m:val="p"/>
                          </m:rPr>
                          <a:rPr lang="en-US" sz="1400" b="0" i="1" smtClean="0">
                            <a:solidFill>
                              <a:srgbClr val="1A1A1A"/>
                            </a:solidFill>
                            <a:latin typeface="Cambria Math" panose="02040503050406030204" pitchFamily="18" charset="0"/>
                          </a:rPr>
                          <m:t>q</m:t>
                        </m:r>
                      </m:e>
                      <m:sub>
                        <m:r>
                          <m:rPr>
                            <m:sty m:val="p"/>
                          </m:rPr>
                          <a:rPr lang="en-US" sz="1400" b="0" i="1" smtClean="0">
                            <a:solidFill>
                              <a:srgbClr val="1A1A1A"/>
                            </a:solidFill>
                            <a:latin typeface="Cambria Math" panose="02040503050406030204" pitchFamily="18" charset="0"/>
                          </a:rPr>
                          <m:t>max</m:t>
                        </m:r>
                      </m:sub>
                    </m:sSub>
                    <m:r>
                      <a:rPr lang="en-US" sz="1400" b="0" i="1" smtClean="0">
                        <a:solidFill>
                          <a:srgbClr val="1A1A1A"/>
                        </a:solidFill>
                        <a:latin typeface="Cambria Math" panose="02040503050406030204" pitchFamily="18" charset="0"/>
                      </a:rPr>
                      <m:t>)</m:t>
                    </m:r>
                  </m:oMath>
                </a14:m>
                <a:r>
                  <a:rPr lang="en-US" sz="1400" dirty="0">
                    <a:solidFill>
                      <a:srgbClr val="1A1A1A"/>
                    </a:solidFill>
                    <a:latin typeface="Montserrat" pitchFamily="2" charset="0"/>
                  </a:rPr>
                  <a:t>: We set </a:t>
                </a:r>
                <a14:m>
                  <m:oMath xmlns:m="http://schemas.openxmlformats.org/officeDocument/2006/math">
                    <m:r>
                      <m:rPr>
                        <m:sty m:val="p"/>
                      </m:rPr>
                      <a:rPr lang="en-US" sz="1400" i="1">
                        <a:solidFill>
                          <a:srgbClr val="1A1A1A"/>
                        </a:solidFill>
                        <a:latin typeface="Cambria Math" panose="02040503050406030204" pitchFamily="18" charset="0"/>
                      </a:rPr>
                      <m:t>z</m:t>
                    </m:r>
                    <m:r>
                      <a:rPr lang="en-US" sz="1400" i="1">
                        <a:solidFill>
                          <a:srgbClr val="1A1A1A"/>
                        </a:solidFill>
                        <a:latin typeface="Cambria Math" panose="02040503050406030204" pitchFamily="18" charset="0"/>
                      </a:rPr>
                      <m:t> = </m:t>
                    </m:r>
                    <m:sSub>
                      <m:sSubPr>
                        <m:ctrlPr>
                          <a:rPr lang="en-US" sz="1400" i="1">
                            <a:solidFill>
                              <a:srgbClr val="1A1A1A"/>
                            </a:solidFill>
                            <a:latin typeface="Cambria Math" panose="02040503050406030204" pitchFamily="18" charset="0"/>
                          </a:rPr>
                        </m:ctrlPr>
                      </m:sSubPr>
                      <m:e>
                        <m:r>
                          <m:rPr>
                            <m:sty m:val="p"/>
                          </m:rPr>
                          <a:rPr lang="en-US" sz="1400" i="1">
                            <a:solidFill>
                              <a:srgbClr val="1A1A1A"/>
                            </a:solidFill>
                            <a:latin typeface="Cambria Math" panose="02040503050406030204" pitchFamily="18" charset="0"/>
                          </a:rPr>
                          <m:t>q</m:t>
                        </m:r>
                      </m:e>
                      <m:sub>
                        <m:r>
                          <m:rPr>
                            <m:sty m:val="p"/>
                          </m:rPr>
                          <a:rPr lang="en-US" sz="1400" b="0" i="1" smtClean="0">
                            <a:solidFill>
                              <a:srgbClr val="1A1A1A"/>
                            </a:solidFill>
                            <a:latin typeface="Cambria Math" panose="02040503050406030204" pitchFamily="18" charset="0"/>
                          </a:rPr>
                          <m:t>max</m:t>
                        </m:r>
                      </m:sub>
                    </m:sSub>
                  </m:oMath>
                </a14:m>
                <a:endParaRPr lang="en-US" sz="1400" dirty="0">
                  <a:solidFill>
                    <a:srgbClr val="1A1A1A"/>
                  </a:solidFill>
                  <a:latin typeface="Montserrat" pitchFamily="2" charset="0"/>
                </a:endParaRPr>
              </a:p>
            </p:txBody>
          </p:sp>
        </mc:Choice>
        <mc:Fallback>
          <p:sp>
            <p:nvSpPr>
              <p:cNvPr id="8" name="Text 1">
                <a:extLst>
                  <a:ext uri="{FF2B5EF4-FFF2-40B4-BE49-F238E27FC236}">
                    <a16:creationId xmlns:a16="http://schemas.microsoft.com/office/drawing/2014/main" id="{BE5D0B09-2C00-111E-7968-A1CCA69F7DF1}"/>
                  </a:ext>
                </a:extLst>
              </p:cNvPr>
              <p:cNvSpPr>
                <a:spLocks noRot="1" noChangeAspect="1" noMove="1" noResize="1" noEditPoints="1" noAdjustHandles="1" noChangeArrowheads="1" noChangeShapeType="1" noTextEdit="1"/>
              </p:cNvSpPr>
              <p:nvPr/>
            </p:nvSpPr>
            <p:spPr>
              <a:xfrm>
                <a:off x="381307" y="2632710"/>
                <a:ext cx="3152165" cy="205184"/>
              </a:xfrm>
              <a:prstGeom prst="rect">
                <a:avLst/>
              </a:prstGeom>
              <a:blipFill>
                <a:blip r:embed="rId4"/>
                <a:stretch>
                  <a:fillRect l="-3482" t="-32353" r="-1547" b="-50000"/>
                </a:stretch>
              </a:blipFill>
              <a:ln/>
            </p:spPr>
            <p:txBody>
              <a:bodyPr/>
              <a:lstStyle/>
              <a:p>
                <a:r>
                  <a:rPr lang="pt-BR">
                    <a:noFill/>
                  </a:rPr>
                  <a:t> </a:t>
                </a:r>
              </a:p>
            </p:txBody>
          </p:sp>
        </mc:Fallback>
      </mc:AlternateContent>
      <p:pic>
        <p:nvPicPr>
          <p:cNvPr id="12" name="Imagem 11" descr="Diagrama&#10;&#10;O conteúdo gerado por IA pode estar incorreto.">
            <a:extLst>
              <a:ext uri="{FF2B5EF4-FFF2-40B4-BE49-F238E27FC236}">
                <a16:creationId xmlns:a16="http://schemas.microsoft.com/office/drawing/2014/main" id="{59B7DD88-76D0-0988-201D-998EC6921D11}"/>
              </a:ext>
            </a:extLst>
          </p:cNvPr>
          <p:cNvPicPr>
            <a:picLocks noChangeAspect="1"/>
          </p:cNvPicPr>
          <p:nvPr/>
        </p:nvPicPr>
        <p:blipFill>
          <a:blip r:embed="rId5"/>
          <a:stretch>
            <a:fillRect/>
          </a:stretch>
        </p:blipFill>
        <p:spPr>
          <a:xfrm>
            <a:off x="698943" y="1457687"/>
            <a:ext cx="2265237" cy="1020516"/>
          </a:xfrm>
          <a:prstGeom prst="rect">
            <a:avLst/>
          </a:prstGeom>
        </p:spPr>
      </p:pic>
      <p:pic>
        <p:nvPicPr>
          <p:cNvPr id="16" name="Imagem 15" descr="Tela de computador com texto preto sobre fundo escuro&#10;&#10;O conteúdo gerado por IA pode estar incorreto.">
            <a:extLst>
              <a:ext uri="{FF2B5EF4-FFF2-40B4-BE49-F238E27FC236}">
                <a16:creationId xmlns:a16="http://schemas.microsoft.com/office/drawing/2014/main" id="{81CC2824-3522-DDFE-13E8-E15D1377D88E}"/>
              </a:ext>
            </a:extLst>
          </p:cNvPr>
          <p:cNvPicPr>
            <a:picLocks noChangeAspect="1"/>
          </p:cNvPicPr>
          <p:nvPr/>
        </p:nvPicPr>
        <p:blipFill>
          <a:blip r:embed="rId6"/>
          <a:stretch>
            <a:fillRect/>
          </a:stretch>
        </p:blipFill>
        <p:spPr>
          <a:xfrm>
            <a:off x="874654" y="3091557"/>
            <a:ext cx="2089526" cy="891531"/>
          </a:xfrm>
          <a:prstGeom prst="rect">
            <a:avLst/>
          </a:prstGeom>
        </p:spPr>
      </p:pic>
    </p:spTree>
    <p:extLst>
      <p:ext uri="{BB962C8B-B14F-4D97-AF65-F5344CB8AC3E}">
        <p14:creationId xmlns:p14="http://schemas.microsoft.com/office/powerpoint/2010/main" val="40202935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6DA52-0CD5-7967-E0A1-D98CCAFCFAC4}"/>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ECE0FAD8-3CAA-7BFE-1866-A8E9C83F0F42}"/>
              </a:ext>
            </a:extLst>
          </p:cNvPr>
          <p:cNvSpPr/>
          <p:nvPr/>
        </p:nvSpPr>
        <p:spPr>
          <a:xfrm>
            <a:off x="285751" y="324744"/>
            <a:ext cx="4078039"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LINEAR QUANTIZATION MODE</a:t>
            </a:r>
          </a:p>
        </p:txBody>
      </p:sp>
      <p:pic>
        <p:nvPicPr>
          <p:cNvPr id="6" name="Imagem 5" descr="Uma imagem contendo Interface gráfica do usuário&#10;&#10;O conteúdo gerado por IA pode estar incorreto.">
            <a:extLst>
              <a:ext uri="{FF2B5EF4-FFF2-40B4-BE49-F238E27FC236}">
                <a16:creationId xmlns:a16="http://schemas.microsoft.com/office/drawing/2014/main" id="{5EA3228B-53E9-B05D-CDBE-944650F68C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mc:AlternateContent xmlns:mc="http://schemas.openxmlformats.org/markup-compatibility/2006">
        <mc:Choice xmlns:a14="http://schemas.microsoft.com/office/drawing/2010/main" Requires="a14">
          <p:sp>
            <p:nvSpPr>
              <p:cNvPr id="7" name="Text 1">
                <a:extLst>
                  <a:ext uri="{FF2B5EF4-FFF2-40B4-BE49-F238E27FC236}">
                    <a16:creationId xmlns:a16="http://schemas.microsoft.com/office/drawing/2014/main" id="{D32732AE-3293-936A-95CC-1852ED2318B7}"/>
                  </a:ext>
                </a:extLst>
              </p:cNvPr>
              <p:cNvSpPr/>
              <p:nvPr/>
            </p:nvSpPr>
            <p:spPr>
              <a:xfrm>
                <a:off x="285752" y="852424"/>
                <a:ext cx="8457782" cy="2257028"/>
              </a:xfrm>
              <a:prstGeom prst="rect">
                <a:avLst/>
              </a:prstGeom>
              <a:noFill/>
              <a:ln/>
            </p:spPr>
            <p:txBody>
              <a:bodyPr wrap="square" lIns="0" tIns="0" rIns="0" bIns="0" rtlCol="0" anchor="t">
                <a:spAutoFit/>
              </a:bodyPr>
              <a:lstStyle/>
              <a:p>
                <a:pPr>
                  <a:lnSpc>
                    <a:spcPts val="1600"/>
                  </a:lnSpc>
                </a:pPr>
                <a:r>
                  <a:rPr lang="en-US" sz="1400" dirty="0">
                    <a:solidFill>
                      <a:srgbClr val="1A1A1A"/>
                    </a:solidFill>
                    <a:latin typeface="Montserrat" pitchFamily="2" charset="0"/>
                  </a:rPr>
                  <a:t>There are </a:t>
                </a:r>
                <a:r>
                  <a:rPr lang="en-US" sz="1400" b="1" dirty="0">
                    <a:solidFill>
                      <a:srgbClr val="1A1A1A"/>
                    </a:solidFill>
                    <a:latin typeface="Montserrat" pitchFamily="2" charset="0"/>
                  </a:rPr>
                  <a:t>two modes </a:t>
                </a:r>
                <a:r>
                  <a:rPr lang="en-US" sz="1400" dirty="0">
                    <a:solidFill>
                      <a:srgbClr val="1A1A1A"/>
                    </a:solidFill>
                    <a:latin typeface="Montserrat" pitchFamily="2" charset="0"/>
                  </a:rPr>
                  <a:t>in linear quantization:</a:t>
                </a:r>
              </a:p>
              <a:p>
                <a:pPr>
                  <a:lnSpc>
                    <a:spcPts val="1600"/>
                  </a:lnSpc>
                </a:pPr>
                <a:endParaRPr lang="en-US" sz="1400" dirty="0">
                  <a:solidFill>
                    <a:srgbClr val="1A1A1A"/>
                  </a:solidFill>
                  <a:latin typeface="Montserrat" pitchFamily="2" charset="0"/>
                </a:endParaRPr>
              </a:p>
              <a:p>
                <a:pPr marL="285750" indent="-285750">
                  <a:lnSpc>
                    <a:spcPts val="1600"/>
                  </a:lnSpc>
                  <a:buFont typeface="Arial" panose="020B0604020202020204" pitchFamily="34" charset="0"/>
                  <a:buChar char="•"/>
                </a:pPr>
                <a:r>
                  <a:rPr lang="en-US" sz="1400" b="1" dirty="0">
                    <a:solidFill>
                      <a:srgbClr val="1A1A1A"/>
                    </a:solidFill>
                    <a:latin typeface="Montserrat" pitchFamily="2" charset="0"/>
                  </a:rPr>
                  <a:t>Asymmetric</a:t>
                </a:r>
                <a:r>
                  <a:rPr lang="en-US" sz="1400" dirty="0">
                    <a:solidFill>
                      <a:srgbClr val="1A1A1A"/>
                    </a:solidFill>
                    <a:latin typeface="Montserrat" pitchFamily="2" charset="0"/>
                  </a:rPr>
                  <a:t>: We map </a:t>
                </a:r>
                <a14:m>
                  <m:oMath xmlns:m="http://schemas.openxmlformats.org/officeDocument/2006/math">
                    <m:sSub>
                      <m:sSubPr>
                        <m:ctrlPr>
                          <a:rPr lang="pt-BR" sz="1400" i="1" smtClean="0">
                            <a:latin typeface="Cambria Math" panose="02040503050406030204" pitchFamily="18" charset="0"/>
                          </a:rPr>
                        </m:ctrlPr>
                      </m:sSubPr>
                      <m:e>
                        <m:r>
                          <a:rPr lang="en-US" sz="1400" b="0" i="1" smtClean="0">
                            <a:latin typeface="Cambria Math" panose="02040503050406030204" pitchFamily="18" charset="0"/>
                          </a:rPr>
                          <m:t>[</m:t>
                        </m:r>
                        <m:r>
                          <m:rPr>
                            <m:sty m:val="p"/>
                          </m:rPr>
                          <a:rPr lang="en-US" sz="1400" i="1">
                            <a:latin typeface="Cambria Math" panose="02040503050406030204" pitchFamily="18" charset="0"/>
                          </a:rPr>
                          <m:t>r</m:t>
                        </m:r>
                      </m:e>
                      <m:sub>
                        <m:r>
                          <m:rPr>
                            <m:sty m:val="p"/>
                          </m:rPr>
                          <a:rPr lang="en-US" sz="1400" i="1">
                            <a:latin typeface="Cambria Math" panose="02040503050406030204" pitchFamily="18" charset="0"/>
                          </a:rPr>
                          <m:t>min</m:t>
                        </m:r>
                      </m:sub>
                    </m:sSub>
                    <m:r>
                      <a:rPr lang="en-US" sz="1400" b="0" i="1" smtClean="0">
                        <a:latin typeface="Cambria Math" panose="02040503050406030204" pitchFamily="18" charset="0"/>
                      </a:rPr>
                      <m:t>,</m:t>
                    </m:r>
                    <m:sSub>
                      <m:sSubPr>
                        <m:ctrlPr>
                          <a:rPr lang="pt-BR" sz="1400" i="1">
                            <a:latin typeface="Cambria Math" panose="02040503050406030204" pitchFamily="18" charset="0"/>
                          </a:rPr>
                        </m:ctrlPr>
                      </m:sSubPr>
                      <m:e>
                        <m:r>
                          <m:rPr>
                            <m:sty m:val="p"/>
                          </m:rPr>
                          <a:rPr lang="en-US" sz="1400" i="1">
                            <a:latin typeface="Cambria Math" panose="02040503050406030204" pitchFamily="18" charset="0"/>
                          </a:rPr>
                          <m:t>r</m:t>
                        </m:r>
                      </m:e>
                      <m:sub>
                        <m:r>
                          <m:rPr>
                            <m:sty m:val="p"/>
                          </m:rPr>
                          <a:rPr lang="en-US" sz="1400" i="1">
                            <a:latin typeface="Cambria Math" panose="02040503050406030204" pitchFamily="18" charset="0"/>
                          </a:rPr>
                          <m:t>m</m:t>
                        </m:r>
                        <m:r>
                          <m:rPr>
                            <m:sty m:val="p"/>
                          </m:rPr>
                          <a:rPr lang="en-US" sz="1400" b="0" i="1" smtClean="0">
                            <a:latin typeface="Cambria Math" panose="02040503050406030204" pitchFamily="18" charset="0"/>
                          </a:rPr>
                          <m:t>ax</m:t>
                        </m:r>
                      </m:sub>
                    </m:sSub>
                    <m:r>
                      <a:rPr lang="en-US" sz="1400" b="0" i="1" smtClean="0">
                        <a:latin typeface="Cambria Math" panose="02040503050406030204" pitchFamily="18" charset="0"/>
                      </a:rPr>
                      <m:t>]</m:t>
                    </m:r>
                  </m:oMath>
                </a14:m>
                <a:r>
                  <a:rPr lang="en-US" sz="1400" dirty="0">
                    <a:solidFill>
                      <a:srgbClr val="1A1A1A"/>
                    </a:solidFill>
                    <a:latin typeface="Montserrat" pitchFamily="2" charset="0"/>
                  </a:rPr>
                  <a:t> to</a:t>
                </a:r>
                <a14:m>
                  <m:oMath xmlns:m="http://schemas.openxmlformats.org/officeDocument/2006/math">
                    <m:r>
                      <a:rPr lang="en-US" sz="1400" b="0" i="0" smtClean="0">
                        <a:latin typeface="Cambria Math" panose="02040503050406030204" pitchFamily="18" charset="0"/>
                      </a:rPr>
                      <m:t> </m:t>
                    </m:r>
                    <m:sSub>
                      <m:sSubPr>
                        <m:ctrlPr>
                          <a:rPr lang="pt-BR" sz="1400" i="1">
                            <a:latin typeface="Cambria Math" panose="02040503050406030204" pitchFamily="18" charset="0"/>
                          </a:rPr>
                        </m:ctrlPr>
                      </m:sSubPr>
                      <m:e>
                        <m:r>
                          <a:rPr lang="en-US" sz="1400" i="1">
                            <a:latin typeface="Cambria Math" panose="02040503050406030204" pitchFamily="18" charset="0"/>
                          </a:rPr>
                          <m:t>[</m:t>
                        </m:r>
                        <m:r>
                          <m:rPr>
                            <m:sty m:val="p"/>
                          </m:rPr>
                          <a:rPr lang="en-US" sz="1400" b="0" i="1" smtClean="0">
                            <a:latin typeface="Cambria Math" panose="02040503050406030204" pitchFamily="18" charset="0"/>
                          </a:rPr>
                          <m:t>q</m:t>
                        </m:r>
                      </m:e>
                      <m:sub>
                        <m:r>
                          <m:rPr>
                            <m:sty m:val="p"/>
                          </m:rPr>
                          <a:rPr lang="en-US" sz="1400" i="1">
                            <a:latin typeface="Cambria Math" panose="02040503050406030204" pitchFamily="18" charset="0"/>
                          </a:rPr>
                          <m:t>min</m:t>
                        </m:r>
                      </m:sub>
                    </m:sSub>
                    <m:r>
                      <a:rPr lang="en-US" sz="1400" i="1">
                        <a:latin typeface="Cambria Math" panose="02040503050406030204" pitchFamily="18" charset="0"/>
                      </a:rPr>
                      <m:t>,</m:t>
                    </m:r>
                    <m:sSub>
                      <m:sSubPr>
                        <m:ctrlPr>
                          <a:rPr lang="pt-BR" sz="1400" i="1">
                            <a:latin typeface="Cambria Math" panose="02040503050406030204" pitchFamily="18" charset="0"/>
                          </a:rPr>
                        </m:ctrlPr>
                      </m:sSubPr>
                      <m:e>
                        <m:r>
                          <m:rPr>
                            <m:sty m:val="p"/>
                          </m:rPr>
                          <a:rPr lang="en-US" sz="1400" b="0" i="1" smtClean="0">
                            <a:latin typeface="Cambria Math" panose="02040503050406030204" pitchFamily="18" charset="0"/>
                          </a:rPr>
                          <m:t>q</m:t>
                        </m:r>
                      </m:e>
                      <m:sub>
                        <m:r>
                          <m:rPr>
                            <m:sty m:val="p"/>
                          </m:rPr>
                          <a:rPr lang="en-US" sz="1400" i="1">
                            <a:latin typeface="Cambria Math" panose="02040503050406030204" pitchFamily="18" charset="0"/>
                          </a:rPr>
                          <m:t>m</m:t>
                        </m:r>
                        <m:r>
                          <m:rPr>
                            <m:sty m:val="p"/>
                          </m:rPr>
                          <a:rPr lang="en-US" sz="1400" i="1">
                            <a:latin typeface="Cambria Math" panose="02040503050406030204" pitchFamily="18" charset="0"/>
                          </a:rPr>
                          <m:t>ax</m:t>
                        </m:r>
                      </m:sub>
                    </m:sSub>
                    <m:r>
                      <a:rPr lang="en-US" sz="1400" i="1">
                        <a:latin typeface="Cambria Math" panose="02040503050406030204" pitchFamily="18" charset="0"/>
                      </a:rPr>
                      <m:t>]</m:t>
                    </m:r>
                  </m:oMath>
                </a14:m>
                <a:endParaRPr lang="en-US" sz="1400" dirty="0">
                  <a:solidFill>
                    <a:srgbClr val="1A1A1A"/>
                  </a:solidFill>
                  <a:latin typeface="Montserrat" pitchFamily="2" charset="0"/>
                </a:endParaRPr>
              </a:p>
              <a:p>
                <a:pPr marL="285750" indent="-285750">
                  <a:lnSpc>
                    <a:spcPts val="1600"/>
                  </a:lnSpc>
                  <a:buFont typeface="Arial" panose="020B0604020202020204" pitchFamily="34" charset="0"/>
                  <a:buChar char="•"/>
                </a:pPr>
                <a:endParaRPr lang="en-US" sz="1400" dirty="0">
                  <a:solidFill>
                    <a:srgbClr val="1A1A1A"/>
                  </a:solidFill>
                  <a:latin typeface="Montserrat" pitchFamily="2" charset="0"/>
                </a:endParaRPr>
              </a:p>
              <a:p>
                <a:pPr marL="285750" indent="-285750">
                  <a:lnSpc>
                    <a:spcPts val="1600"/>
                  </a:lnSpc>
                  <a:buFont typeface="Arial" panose="020B0604020202020204" pitchFamily="34" charset="0"/>
                  <a:buChar char="•"/>
                </a:pPr>
                <a:r>
                  <a:rPr lang="en-US" sz="1400" b="1" dirty="0">
                    <a:solidFill>
                      <a:srgbClr val="1A1A1A"/>
                    </a:solidFill>
                    <a:latin typeface="Montserrat" pitchFamily="2" charset="0"/>
                  </a:rPr>
                  <a:t>Symmetric</a:t>
                </a:r>
                <a:r>
                  <a:rPr lang="en-US" sz="1400" dirty="0">
                    <a:solidFill>
                      <a:srgbClr val="1A1A1A"/>
                    </a:solidFill>
                    <a:latin typeface="Montserrat" pitchFamily="2" charset="0"/>
                  </a:rPr>
                  <a:t>: We map</a:t>
                </a:r>
                <a:r>
                  <a:rPr lang="pt-BR" sz="1400" dirty="0"/>
                  <a:t> </a:t>
                </a:r>
                <a14:m>
                  <m:oMath xmlns:m="http://schemas.openxmlformats.org/officeDocument/2006/math">
                    <m:sSub>
                      <m:sSubPr>
                        <m:ctrlPr>
                          <a:rPr lang="pt-BR" sz="1400" i="1">
                            <a:latin typeface="Cambria Math" panose="02040503050406030204" pitchFamily="18" charset="0"/>
                          </a:rPr>
                        </m:ctrlPr>
                      </m:sSubPr>
                      <m:e>
                        <m:r>
                          <a:rPr lang="en-US" sz="1400" i="1">
                            <a:latin typeface="Cambria Math" panose="02040503050406030204" pitchFamily="18" charset="0"/>
                          </a:rPr>
                          <m:t>[</m:t>
                        </m:r>
                        <m:r>
                          <a:rPr lang="en-US" sz="1400" i="1" smtClean="0">
                            <a:latin typeface="Cambria Math" panose="02040503050406030204" pitchFamily="18" charset="0"/>
                            <a:ea typeface="Cambria Math" panose="02040503050406030204" pitchFamily="18" charset="0"/>
                          </a:rPr>
                          <m:t>−</m:t>
                        </m:r>
                        <m:r>
                          <m:rPr>
                            <m:sty m:val="p"/>
                          </m:rPr>
                          <a:rPr lang="en-US" sz="1400" i="1">
                            <a:latin typeface="Cambria Math" panose="02040503050406030204" pitchFamily="18" charset="0"/>
                          </a:rPr>
                          <m:t>r</m:t>
                        </m:r>
                      </m:e>
                      <m:sub>
                        <m:r>
                          <m:rPr>
                            <m:sty m:val="p"/>
                          </m:rPr>
                          <a:rPr lang="en-US" sz="1400" i="1">
                            <a:latin typeface="Cambria Math" panose="02040503050406030204" pitchFamily="18" charset="0"/>
                          </a:rPr>
                          <m:t>m</m:t>
                        </m:r>
                        <m:r>
                          <m:rPr>
                            <m:sty m:val="p"/>
                          </m:rPr>
                          <a:rPr lang="en-US" sz="1400" b="0" i="1" smtClean="0">
                            <a:latin typeface="Cambria Math" panose="02040503050406030204" pitchFamily="18" charset="0"/>
                          </a:rPr>
                          <m:t>ax</m:t>
                        </m:r>
                      </m:sub>
                    </m:sSub>
                    <m:r>
                      <a:rPr lang="en-US" sz="1400" i="1">
                        <a:latin typeface="Cambria Math" panose="02040503050406030204" pitchFamily="18" charset="0"/>
                      </a:rPr>
                      <m:t>,</m:t>
                    </m:r>
                    <m:sSub>
                      <m:sSubPr>
                        <m:ctrlPr>
                          <a:rPr lang="pt-BR" sz="1400" i="1">
                            <a:latin typeface="Cambria Math" panose="02040503050406030204" pitchFamily="18" charset="0"/>
                          </a:rPr>
                        </m:ctrlPr>
                      </m:sSubPr>
                      <m:e>
                        <m:r>
                          <m:rPr>
                            <m:sty m:val="p"/>
                          </m:rPr>
                          <a:rPr lang="en-US" sz="1400" i="1">
                            <a:latin typeface="Cambria Math" panose="02040503050406030204" pitchFamily="18" charset="0"/>
                          </a:rPr>
                          <m:t>r</m:t>
                        </m:r>
                      </m:e>
                      <m:sub>
                        <m:r>
                          <m:rPr>
                            <m:sty m:val="p"/>
                          </m:rPr>
                          <a:rPr lang="en-US" sz="1400" i="1">
                            <a:latin typeface="Cambria Math" panose="02040503050406030204" pitchFamily="18" charset="0"/>
                          </a:rPr>
                          <m:t>m</m:t>
                        </m:r>
                        <m:r>
                          <m:rPr>
                            <m:sty m:val="p"/>
                          </m:rPr>
                          <a:rPr lang="en-US" sz="1400" i="1">
                            <a:latin typeface="Cambria Math" panose="02040503050406030204" pitchFamily="18" charset="0"/>
                          </a:rPr>
                          <m:t>ax</m:t>
                        </m:r>
                      </m:sub>
                    </m:sSub>
                    <m:r>
                      <a:rPr lang="en-US" sz="1400" i="1">
                        <a:latin typeface="Cambria Math" panose="02040503050406030204" pitchFamily="18" charset="0"/>
                      </a:rPr>
                      <m:t>]</m:t>
                    </m:r>
                  </m:oMath>
                </a14:m>
                <a:r>
                  <a:rPr lang="en-US" sz="1400" dirty="0">
                    <a:solidFill>
                      <a:srgbClr val="1A1A1A"/>
                    </a:solidFill>
                    <a:latin typeface="Montserrat" pitchFamily="2" charset="0"/>
                  </a:rPr>
                  <a:t> to</a:t>
                </a:r>
                <a14:m>
                  <m:oMath xmlns:m="http://schemas.openxmlformats.org/officeDocument/2006/math">
                    <m:r>
                      <a:rPr lang="en-US" sz="1400">
                        <a:latin typeface="Cambria Math" panose="02040503050406030204" pitchFamily="18" charset="0"/>
                      </a:rPr>
                      <m:t> </m:t>
                    </m:r>
                    <m:sSub>
                      <m:sSubPr>
                        <m:ctrlPr>
                          <a:rPr lang="pt-BR" sz="1400" i="1">
                            <a:latin typeface="Cambria Math" panose="02040503050406030204" pitchFamily="18" charset="0"/>
                          </a:rPr>
                        </m:ctrlPr>
                      </m:sSubPr>
                      <m:e>
                        <m:r>
                          <a:rPr lang="en-US" sz="1400" i="1">
                            <a:latin typeface="Cambria Math" panose="02040503050406030204" pitchFamily="18" charset="0"/>
                          </a:rPr>
                          <m:t>[</m:t>
                        </m:r>
                        <m:r>
                          <a:rPr lang="en-US" sz="1400" i="1">
                            <a:latin typeface="Cambria Math" panose="02040503050406030204" pitchFamily="18" charset="0"/>
                            <a:ea typeface="Cambria Math" panose="02040503050406030204" pitchFamily="18" charset="0"/>
                          </a:rPr>
                          <m:t>−</m:t>
                        </m:r>
                        <m:r>
                          <m:rPr>
                            <m:sty m:val="p"/>
                          </m:rPr>
                          <a:rPr lang="en-US" sz="1400" i="1">
                            <a:latin typeface="Cambria Math" panose="02040503050406030204" pitchFamily="18" charset="0"/>
                          </a:rPr>
                          <m:t>q</m:t>
                        </m:r>
                      </m:e>
                      <m:sub>
                        <m:r>
                          <m:rPr>
                            <m:sty m:val="p"/>
                          </m:rPr>
                          <a:rPr lang="en-US" sz="1400" i="1">
                            <a:latin typeface="Cambria Math" panose="02040503050406030204" pitchFamily="18" charset="0"/>
                          </a:rPr>
                          <m:t>m</m:t>
                        </m:r>
                        <m:r>
                          <m:rPr>
                            <m:sty m:val="p"/>
                          </m:rPr>
                          <a:rPr lang="en-US" sz="1400" b="0" i="1" smtClean="0">
                            <a:latin typeface="Cambria Math" panose="02040503050406030204" pitchFamily="18" charset="0"/>
                          </a:rPr>
                          <m:t>ax</m:t>
                        </m:r>
                      </m:sub>
                    </m:sSub>
                    <m:r>
                      <a:rPr lang="en-US" sz="1400" i="1">
                        <a:latin typeface="Cambria Math" panose="02040503050406030204" pitchFamily="18" charset="0"/>
                      </a:rPr>
                      <m:t>,</m:t>
                    </m:r>
                    <m:sSub>
                      <m:sSubPr>
                        <m:ctrlPr>
                          <a:rPr lang="pt-BR" sz="1400" i="1">
                            <a:latin typeface="Cambria Math" panose="02040503050406030204" pitchFamily="18" charset="0"/>
                          </a:rPr>
                        </m:ctrlPr>
                      </m:sSubPr>
                      <m:e>
                        <m:r>
                          <m:rPr>
                            <m:sty m:val="p"/>
                          </m:rPr>
                          <a:rPr lang="en-US" sz="1400" i="1">
                            <a:latin typeface="Cambria Math" panose="02040503050406030204" pitchFamily="18" charset="0"/>
                          </a:rPr>
                          <m:t>q</m:t>
                        </m:r>
                      </m:e>
                      <m:sub>
                        <m:r>
                          <m:rPr>
                            <m:sty m:val="p"/>
                          </m:rPr>
                          <a:rPr lang="en-US" sz="1400" i="1">
                            <a:latin typeface="Cambria Math" panose="02040503050406030204" pitchFamily="18" charset="0"/>
                          </a:rPr>
                          <m:t>max</m:t>
                        </m:r>
                      </m:sub>
                    </m:sSub>
                    <m:r>
                      <a:rPr lang="en-US" sz="1400" i="1">
                        <a:latin typeface="Cambria Math" panose="02040503050406030204" pitchFamily="18" charset="0"/>
                      </a:rPr>
                      <m:t>]</m:t>
                    </m:r>
                  </m:oMath>
                </a14:m>
                <a:r>
                  <a:rPr lang="en-US" sz="1400" dirty="0">
                    <a:solidFill>
                      <a:srgbClr val="1A1A1A"/>
                    </a:solidFill>
                    <a:latin typeface="Montserrat" pitchFamily="2" charset="0"/>
                  </a:rPr>
                  <a:t> where we can set </a:t>
                </a:r>
                <a14:m>
                  <m:oMath xmlns:m="http://schemas.openxmlformats.org/officeDocument/2006/math">
                    <m:sSub>
                      <m:sSubPr>
                        <m:ctrlPr>
                          <a:rPr lang="pt-BR" sz="1400" i="1">
                            <a:latin typeface="Cambria Math" panose="02040503050406030204" pitchFamily="18" charset="0"/>
                          </a:rPr>
                        </m:ctrlPr>
                      </m:sSubPr>
                      <m:e>
                        <m:r>
                          <m:rPr>
                            <m:sty m:val="p"/>
                          </m:rPr>
                          <a:rPr lang="en-US" sz="1400" i="1">
                            <a:latin typeface="Cambria Math" panose="02040503050406030204" pitchFamily="18" charset="0"/>
                          </a:rPr>
                          <m:t>r</m:t>
                        </m:r>
                      </m:e>
                      <m:sub>
                        <m:r>
                          <m:rPr>
                            <m:sty m:val="p"/>
                          </m:rPr>
                          <a:rPr lang="en-US" sz="1400" i="1">
                            <a:latin typeface="Cambria Math" panose="02040503050406030204" pitchFamily="18" charset="0"/>
                          </a:rPr>
                          <m:t>m</m:t>
                        </m:r>
                        <m:r>
                          <m:rPr>
                            <m:sty m:val="p"/>
                          </m:rPr>
                          <a:rPr lang="en-US" sz="1400" i="1">
                            <a:latin typeface="Cambria Math" panose="02040503050406030204" pitchFamily="18" charset="0"/>
                          </a:rPr>
                          <m:t>ax</m:t>
                        </m:r>
                      </m:sub>
                    </m:sSub>
                    <m:r>
                      <a:rPr lang="en-US" sz="1400" b="0" i="1" smtClean="0">
                        <a:latin typeface="Cambria Math" panose="02040503050406030204" pitchFamily="18" charset="0"/>
                      </a:rPr>
                      <m:t>= </m:t>
                    </m:r>
                    <m:r>
                      <a:rPr lang="en-US" sz="1400" b="0" i="1" smtClean="0">
                        <a:latin typeface="Cambria Math" panose="02040503050406030204" pitchFamily="18" charset="0"/>
                      </a:rPr>
                      <m:t>𝑚𝑎𝑥</m:t>
                    </m:r>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m:rPr>
                            <m:sty m:val="p"/>
                          </m:rPr>
                          <a:rPr lang="en-US" sz="1400" b="0" i="1" smtClean="0">
                            <a:latin typeface="Cambria Math" panose="02040503050406030204" pitchFamily="18" charset="0"/>
                          </a:rPr>
                          <m:t>r</m:t>
                        </m:r>
                      </m:e>
                      <m:sub>
                        <m:r>
                          <m:rPr>
                            <m:sty m:val="p"/>
                          </m:rPr>
                          <a:rPr lang="en-US" sz="1400" b="0" i="1" smtClean="0">
                            <a:latin typeface="Cambria Math" panose="02040503050406030204" pitchFamily="18" charset="0"/>
                          </a:rPr>
                          <m:t>tensor</m:t>
                        </m:r>
                      </m:sub>
                    </m:sSub>
                    <m:r>
                      <a:rPr lang="en-US" sz="1400" b="0" i="1" smtClean="0">
                        <a:latin typeface="Cambria Math" panose="02040503050406030204" pitchFamily="18" charset="0"/>
                      </a:rPr>
                      <m:t>|)</m:t>
                    </m:r>
                  </m:oMath>
                </a14:m>
                <a:endParaRPr lang="en-US" sz="1400" dirty="0">
                  <a:solidFill>
                    <a:srgbClr val="1A1A1A"/>
                  </a:solidFill>
                  <a:latin typeface="Montserrat" pitchFamily="2" charset="0"/>
                </a:endParaRPr>
              </a:p>
              <a:p>
                <a:pPr marL="285750" indent="-285750">
                  <a:lnSpc>
                    <a:spcPts val="1600"/>
                  </a:lnSpc>
                  <a:buFont typeface="Arial" panose="020B0604020202020204" pitchFamily="34" charset="0"/>
                  <a:buChar char="•"/>
                </a:pPr>
                <a:endParaRPr lang="en-US" sz="1400" dirty="0">
                  <a:solidFill>
                    <a:srgbClr val="1A1A1A"/>
                  </a:solidFill>
                  <a:latin typeface="Montserrat" pitchFamily="2" charset="0"/>
                </a:endParaRPr>
              </a:p>
              <a:p>
                <a:pPr>
                  <a:lnSpc>
                    <a:spcPts val="1600"/>
                  </a:lnSpc>
                </a:pPr>
                <a:r>
                  <a:rPr lang="en-US" sz="1400" dirty="0">
                    <a:solidFill>
                      <a:srgbClr val="1A1A1A"/>
                    </a:solidFill>
                    <a:latin typeface="Montserrat" pitchFamily="2" charset="0"/>
                  </a:rPr>
                  <a:t>What we have implemented so far is the asymmetric mode</a:t>
                </a:r>
              </a:p>
              <a:p>
                <a:pPr>
                  <a:lnSpc>
                    <a:spcPts val="1600"/>
                  </a:lnSpc>
                </a:pPr>
                <a:endParaRPr lang="en-US" sz="1400" dirty="0">
                  <a:solidFill>
                    <a:srgbClr val="1A1A1A"/>
                  </a:solidFill>
                  <a:latin typeface="Montserrat" pitchFamily="2" charset="0"/>
                </a:endParaRPr>
              </a:p>
              <a:p>
                <a:pPr>
                  <a:lnSpc>
                    <a:spcPts val="1600"/>
                  </a:lnSpc>
                </a:pPr>
                <a:r>
                  <a:rPr lang="en-US" sz="1400" dirty="0">
                    <a:solidFill>
                      <a:srgbClr val="1A1A1A"/>
                    </a:solidFill>
                    <a:latin typeface="Montserrat" pitchFamily="2" charset="0"/>
                  </a:rPr>
                  <a:t>In Symmetric mode, we don’t need to use the zero point (z=0). This happens because the floating-point range and the quantized range are symmetric with respect to zero. Hence, we can simplify the equations to:</a:t>
                </a:r>
              </a:p>
            </p:txBody>
          </p:sp>
        </mc:Choice>
        <mc:Fallback>
          <p:sp>
            <p:nvSpPr>
              <p:cNvPr id="7" name="Text 1">
                <a:extLst>
                  <a:ext uri="{FF2B5EF4-FFF2-40B4-BE49-F238E27FC236}">
                    <a16:creationId xmlns:a16="http://schemas.microsoft.com/office/drawing/2014/main" id="{D32732AE-3293-936A-95CC-1852ED2318B7}"/>
                  </a:ext>
                </a:extLst>
              </p:cNvPr>
              <p:cNvSpPr>
                <a:spLocks noRot="1" noChangeAspect="1" noMove="1" noResize="1" noEditPoints="1" noAdjustHandles="1" noChangeArrowheads="1" noChangeShapeType="1" noTextEdit="1"/>
              </p:cNvSpPr>
              <p:nvPr/>
            </p:nvSpPr>
            <p:spPr>
              <a:xfrm>
                <a:off x="285752" y="852424"/>
                <a:ext cx="8457782" cy="2257028"/>
              </a:xfrm>
              <a:prstGeom prst="rect">
                <a:avLst/>
              </a:prstGeom>
              <a:blipFill>
                <a:blip r:embed="rId3"/>
                <a:stretch>
                  <a:fillRect l="-1298" t="-2973" b="-3784"/>
                </a:stretch>
              </a:blipFill>
              <a:ln/>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9" name="CaixaDeTexto 8">
                <a:extLst>
                  <a:ext uri="{FF2B5EF4-FFF2-40B4-BE49-F238E27FC236}">
                    <a16:creationId xmlns:a16="http://schemas.microsoft.com/office/drawing/2014/main" id="{671B9A8D-1C47-8C61-03F4-A5140785D45F}"/>
                  </a:ext>
                </a:extLst>
              </p:cNvPr>
              <p:cNvSpPr txBox="1"/>
              <p:nvPr/>
            </p:nvSpPr>
            <p:spPr>
              <a:xfrm>
                <a:off x="285751" y="3560546"/>
                <a:ext cx="1978234" cy="54925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d>
                        <m:dPr>
                          <m:begChr m:val="{"/>
                          <m:endChr m:val=""/>
                          <m:ctrlPr>
                            <a:rPr lang="pt-BR" sz="1600" i="1" smtClean="0">
                              <a:latin typeface="Cambria Math" panose="02040503050406030204" pitchFamily="18" charset="0"/>
                            </a:rPr>
                          </m:ctrlPr>
                        </m:dPr>
                        <m:e>
                          <m:eqArr>
                            <m:eqArrPr>
                              <m:ctrlPr>
                                <a:rPr lang="pt-BR" sz="1600" i="1" smtClean="0">
                                  <a:latin typeface="Cambria Math" panose="02040503050406030204" pitchFamily="18" charset="0"/>
                                </a:rPr>
                              </m:ctrlPr>
                            </m:eqArrPr>
                            <m:e>
                              <m:r>
                                <m:rPr>
                                  <m:sty m:val="p"/>
                                </m:rPr>
                                <a:rPr lang="en-US" sz="1600" i="1" smtClean="0">
                                  <a:latin typeface="Cambria Math" panose="02040503050406030204" pitchFamily="18" charset="0"/>
                                </a:rPr>
                                <m:t>q</m:t>
                              </m:r>
                              <m:r>
                                <a:rPr lang="en-US" sz="1600" b="0" i="1" smtClean="0">
                                  <a:latin typeface="Cambria Math" panose="02040503050406030204" pitchFamily="18" charset="0"/>
                                </a:rPr>
                                <m:t>=</m:t>
                              </m:r>
                              <m:r>
                                <a:rPr lang="en-US" sz="1600" b="0" i="1" smtClean="0">
                                  <a:latin typeface="Cambria Math" panose="02040503050406030204" pitchFamily="18" charset="0"/>
                                </a:rPr>
                                <m:t>𝑖𝑛𝑡</m:t>
                              </m:r>
                              <m:r>
                                <a:rPr lang="en-US" sz="1600" b="0" i="1" smtClean="0">
                                  <a:latin typeface="Cambria Math" panose="02040503050406030204" pitchFamily="18" charset="0"/>
                                </a:rPr>
                                <m:t>(</m:t>
                              </m:r>
                              <m:r>
                                <a:rPr lang="en-US" sz="1600" b="0" i="1" smtClean="0">
                                  <a:latin typeface="Cambria Math" panose="02040503050406030204" pitchFamily="18" charset="0"/>
                                </a:rPr>
                                <m:t>𝑟𝑜𝑢𝑛𝑑</m:t>
                              </m:r>
                              <m:r>
                                <a:rPr lang="en-US" sz="1600" b="0" i="1" smtClean="0">
                                  <a:latin typeface="Cambria Math" panose="02040503050406030204" pitchFamily="18" charset="0"/>
                                </a:rPr>
                                <m:t>(</m:t>
                              </m:r>
                              <m:r>
                                <m:rPr>
                                  <m:sty m:val="p"/>
                                </m:rPr>
                                <a:rPr lang="en-US" sz="1600" b="0" i="1" smtClean="0">
                                  <a:latin typeface="Cambria Math" panose="02040503050406030204" pitchFamily="18" charset="0"/>
                                </a:rPr>
                                <m:t>r</m:t>
                              </m:r>
                              <m:r>
                                <a:rPr lang="en-US" sz="1600" b="0" i="1" smtClean="0">
                                  <a:latin typeface="Cambria Math" panose="02040503050406030204" pitchFamily="18" charset="0"/>
                                </a:rPr>
                                <m:t>/</m:t>
                              </m:r>
                              <m:r>
                                <m:rPr>
                                  <m:sty m:val="p"/>
                                </m:rPr>
                                <a:rPr lang="en-US" sz="1600" b="0" i="1" smtClean="0">
                                  <a:latin typeface="Cambria Math" panose="02040503050406030204" pitchFamily="18" charset="0"/>
                                </a:rPr>
                                <m:t>s</m:t>
                              </m:r>
                              <m:r>
                                <a:rPr lang="en-US" sz="1600" b="0" i="1" smtClean="0">
                                  <a:latin typeface="Cambria Math" panose="02040503050406030204" pitchFamily="18" charset="0"/>
                                </a:rPr>
                                <m:t>))</m:t>
                              </m:r>
                            </m:e>
                            <m:e>
                              <m:r>
                                <m:rPr>
                                  <m:sty m:val="p"/>
                                </m:rPr>
                                <a:rPr lang="en-US" sz="1600" i="1" smtClean="0">
                                  <a:latin typeface="Cambria Math" panose="02040503050406030204" pitchFamily="18" charset="0"/>
                                </a:rPr>
                                <m:t>s</m:t>
                              </m:r>
                              <m:r>
                                <a:rPr lang="en-US" sz="1600" b="0" i="1" smtClean="0">
                                  <a:latin typeface="Cambria Math" panose="02040503050406030204" pitchFamily="18" charset="0"/>
                                </a:rPr>
                                <m:t>=</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r</m:t>
                                  </m:r>
                                </m:e>
                                <m:sub>
                                  <m:r>
                                    <m:rPr>
                                      <m:sty m:val="p"/>
                                    </m:rPr>
                                    <a:rPr lang="en-US" sz="1600" i="1">
                                      <a:latin typeface="Cambria Math" panose="02040503050406030204" pitchFamily="18" charset="0"/>
                                    </a:rPr>
                                    <m:t>max</m:t>
                                  </m:r>
                                </m:sub>
                              </m:sSub>
                              <m:r>
                                <a:rPr lang="en-US" sz="1600" b="0" i="1" smtClean="0">
                                  <a:latin typeface="Cambria Math" panose="02040503050406030204" pitchFamily="18" charset="0"/>
                                </a:rPr>
                                <m:t>/</m:t>
                              </m:r>
                              <m:sSub>
                                <m:sSubPr>
                                  <m:ctrlPr>
                                    <a:rPr lang="en-US" sz="1600" i="1">
                                      <a:latin typeface="Cambria Math" panose="02040503050406030204" pitchFamily="18" charset="0"/>
                                    </a:rPr>
                                  </m:ctrlPr>
                                </m:sSubPr>
                                <m:e>
                                  <m:r>
                                    <m:rPr>
                                      <m:sty m:val="p"/>
                                    </m:rPr>
                                    <a:rPr lang="en-US" sz="1600" b="0" i="1" smtClean="0">
                                      <a:latin typeface="Cambria Math" panose="02040503050406030204" pitchFamily="18" charset="0"/>
                                    </a:rPr>
                                    <m:t>q</m:t>
                                  </m:r>
                                </m:e>
                                <m:sub>
                                  <m:r>
                                    <m:rPr>
                                      <m:sty m:val="p"/>
                                    </m:rPr>
                                    <a:rPr lang="en-US" sz="1600" i="1">
                                      <a:latin typeface="Cambria Math" panose="02040503050406030204" pitchFamily="18" charset="0"/>
                                    </a:rPr>
                                    <m:t>max</m:t>
                                  </m:r>
                                </m:sub>
                              </m:sSub>
                            </m:e>
                          </m:eqArr>
                        </m:e>
                      </m:d>
                    </m:oMath>
                  </m:oMathPara>
                </a14:m>
                <a:endParaRPr lang="pt-BR" sz="1600" dirty="0"/>
              </a:p>
            </p:txBody>
          </p:sp>
        </mc:Choice>
        <mc:Fallback>
          <p:sp>
            <p:nvSpPr>
              <p:cNvPr id="9" name="CaixaDeTexto 8">
                <a:extLst>
                  <a:ext uri="{FF2B5EF4-FFF2-40B4-BE49-F238E27FC236}">
                    <a16:creationId xmlns:a16="http://schemas.microsoft.com/office/drawing/2014/main" id="{671B9A8D-1C47-8C61-03F4-A5140785D45F}"/>
                  </a:ext>
                </a:extLst>
              </p:cNvPr>
              <p:cNvSpPr txBox="1">
                <a:spLocks noRot="1" noChangeAspect="1" noMove="1" noResize="1" noEditPoints="1" noAdjustHandles="1" noChangeArrowheads="1" noChangeShapeType="1" noTextEdit="1"/>
              </p:cNvSpPr>
              <p:nvPr/>
            </p:nvSpPr>
            <p:spPr>
              <a:xfrm>
                <a:off x="285751" y="3560546"/>
                <a:ext cx="1978234" cy="549253"/>
              </a:xfrm>
              <a:prstGeom prst="rect">
                <a:avLst/>
              </a:prstGeom>
              <a:blipFill>
                <a:blip r:embed="rId4"/>
                <a:stretch>
                  <a:fillRect b="-1111"/>
                </a:stretch>
              </a:blipFill>
            </p:spPr>
            <p:txBody>
              <a:bodyPr/>
              <a:lstStyle/>
              <a:p>
                <a:r>
                  <a:rPr lang="pt-BR">
                    <a:noFill/>
                  </a:rPr>
                  <a:t> </a:t>
                </a:r>
              </a:p>
            </p:txBody>
          </p:sp>
        </mc:Fallback>
      </mc:AlternateContent>
      <p:pic>
        <p:nvPicPr>
          <p:cNvPr id="11" name="Imagem 10" descr="Linha do tempo&#10;&#10;O conteúdo gerado por IA pode estar incorreto.">
            <a:extLst>
              <a:ext uri="{FF2B5EF4-FFF2-40B4-BE49-F238E27FC236}">
                <a16:creationId xmlns:a16="http://schemas.microsoft.com/office/drawing/2014/main" id="{E9B991AF-0B90-AE72-9845-3CB713DDD9ED}"/>
              </a:ext>
            </a:extLst>
          </p:cNvPr>
          <p:cNvPicPr>
            <a:picLocks noChangeAspect="1"/>
          </p:cNvPicPr>
          <p:nvPr/>
        </p:nvPicPr>
        <p:blipFill>
          <a:blip r:embed="rId5"/>
          <a:stretch>
            <a:fillRect/>
          </a:stretch>
        </p:blipFill>
        <p:spPr>
          <a:xfrm>
            <a:off x="3070264" y="3255439"/>
            <a:ext cx="2587051" cy="1103301"/>
          </a:xfrm>
          <a:prstGeom prst="rect">
            <a:avLst/>
          </a:prstGeom>
        </p:spPr>
      </p:pic>
    </p:spTree>
    <p:extLst>
      <p:ext uri="{BB962C8B-B14F-4D97-AF65-F5344CB8AC3E}">
        <p14:creationId xmlns:p14="http://schemas.microsoft.com/office/powerpoint/2010/main" val="24941439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B1706-D07A-32C2-BE5B-4863EB8C9EF7}"/>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CF4909E2-D1BF-B4E1-8EE4-5B3BE4F553A9}"/>
              </a:ext>
            </a:extLst>
          </p:cNvPr>
          <p:cNvSpPr/>
          <p:nvPr/>
        </p:nvSpPr>
        <p:spPr>
          <a:xfrm>
            <a:off x="285751" y="324744"/>
            <a:ext cx="5406929"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TRADE-OFFS IN QUANTIZATION MODES </a:t>
            </a:r>
          </a:p>
        </p:txBody>
      </p:sp>
      <p:pic>
        <p:nvPicPr>
          <p:cNvPr id="6" name="Imagem 5" descr="Uma imagem contendo Interface gráfica do usuário&#10;&#10;O conteúdo gerado por IA pode estar incorreto.">
            <a:extLst>
              <a:ext uri="{FF2B5EF4-FFF2-40B4-BE49-F238E27FC236}">
                <a16:creationId xmlns:a16="http://schemas.microsoft.com/office/drawing/2014/main" id="{6A292632-E149-5D62-E3F1-9A4C944406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sp>
        <p:nvSpPr>
          <p:cNvPr id="11" name="Text 1">
            <a:extLst>
              <a:ext uri="{FF2B5EF4-FFF2-40B4-BE49-F238E27FC236}">
                <a16:creationId xmlns:a16="http://schemas.microsoft.com/office/drawing/2014/main" id="{44606D26-FE63-682C-7444-BD8A5AB3FC9C}"/>
              </a:ext>
            </a:extLst>
          </p:cNvPr>
          <p:cNvSpPr/>
          <p:nvPr/>
        </p:nvSpPr>
        <p:spPr>
          <a:xfrm>
            <a:off x="285752" y="966724"/>
            <a:ext cx="8457782" cy="2051844"/>
          </a:xfrm>
          <a:prstGeom prst="rect">
            <a:avLst/>
          </a:prstGeom>
          <a:noFill/>
          <a:ln/>
        </p:spPr>
        <p:txBody>
          <a:bodyPr wrap="square" lIns="0" tIns="0" rIns="0" bIns="0" rtlCol="0" anchor="t">
            <a:spAutoFit/>
          </a:bodyPr>
          <a:lstStyle/>
          <a:p>
            <a:pPr>
              <a:lnSpc>
                <a:spcPts val="1600"/>
              </a:lnSpc>
            </a:pPr>
            <a:r>
              <a:rPr lang="en-US" sz="1400" b="1" dirty="0">
                <a:solidFill>
                  <a:srgbClr val="1A1A1A"/>
                </a:solidFill>
                <a:latin typeface="Montserrat" pitchFamily="2" charset="0"/>
              </a:rPr>
              <a:t>Utilization of quantized range</a:t>
            </a:r>
            <a:r>
              <a:rPr lang="en-US" sz="1400" dirty="0">
                <a:solidFill>
                  <a:srgbClr val="1A1A1A"/>
                </a:solidFill>
                <a:latin typeface="Montserrat" pitchFamily="2" charset="0"/>
              </a:rPr>
              <a:t>:</a:t>
            </a:r>
          </a:p>
          <a:p>
            <a:pPr>
              <a:lnSpc>
                <a:spcPts val="1600"/>
              </a:lnSpc>
            </a:pPr>
            <a:endParaRPr lang="en-US" sz="1400" dirty="0">
              <a:solidFill>
                <a:srgbClr val="1A1A1A"/>
              </a:solidFill>
              <a:latin typeface="Montserrat" pitchFamily="2" charset="0"/>
            </a:endParaRPr>
          </a:p>
          <a:p>
            <a:pPr marL="285750" indent="-285750">
              <a:lnSpc>
                <a:spcPts val="1600"/>
              </a:lnSpc>
              <a:buFont typeface="Arial" panose="020B0604020202020204" pitchFamily="34" charset="0"/>
              <a:buChar char="•"/>
            </a:pPr>
            <a:r>
              <a:rPr lang="en-US" sz="1400" dirty="0">
                <a:solidFill>
                  <a:srgbClr val="1A1A1A"/>
                </a:solidFill>
                <a:latin typeface="Montserrat" pitchFamily="2" charset="0"/>
              </a:rPr>
              <a:t>When using asymmetric quantization, the quantized range is fully utilized</a:t>
            </a:r>
          </a:p>
          <a:p>
            <a:pPr marL="285750" indent="-285750">
              <a:lnSpc>
                <a:spcPts val="1600"/>
              </a:lnSpc>
              <a:buFont typeface="Arial" panose="020B0604020202020204" pitchFamily="34" charset="0"/>
              <a:buChar char="•"/>
            </a:pPr>
            <a:r>
              <a:rPr lang="en-US" sz="1400" dirty="0">
                <a:solidFill>
                  <a:srgbClr val="1A1A1A"/>
                </a:solidFill>
                <a:latin typeface="Montserrat" pitchFamily="2" charset="0"/>
              </a:rPr>
              <a:t>When symmetric mode, if the float range is biased towards one side, this will result in a quantized range where a part of the range is dedicated to values that we’ll never see (</a:t>
            </a:r>
            <a:r>
              <a:rPr lang="en-US" sz="1400" dirty="0" err="1">
                <a:solidFill>
                  <a:srgbClr val="1A1A1A"/>
                </a:solidFill>
                <a:latin typeface="Montserrat" pitchFamily="2" charset="0"/>
              </a:rPr>
              <a:t>e.g</a:t>
            </a:r>
            <a:r>
              <a:rPr lang="en-US" sz="1400" dirty="0">
                <a:solidFill>
                  <a:srgbClr val="1A1A1A"/>
                </a:solidFill>
                <a:latin typeface="Montserrat" pitchFamily="2" charset="0"/>
              </a:rPr>
              <a:t> RELU where the output is positive)</a:t>
            </a:r>
          </a:p>
          <a:p>
            <a:pPr marL="285750" indent="-285750">
              <a:lnSpc>
                <a:spcPts val="1600"/>
              </a:lnSpc>
              <a:buFont typeface="Arial" panose="020B0604020202020204" pitchFamily="34" charset="0"/>
              <a:buChar char="•"/>
            </a:pPr>
            <a:endParaRPr lang="en-US" sz="1400" dirty="0">
              <a:solidFill>
                <a:srgbClr val="1A1A1A"/>
              </a:solidFill>
              <a:latin typeface="Montserrat" pitchFamily="2" charset="0"/>
            </a:endParaRPr>
          </a:p>
          <a:p>
            <a:pPr>
              <a:lnSpc>
                <a:spcPts val="1600"/>
              </a:lnSpc>
            </a:pPr>
            <a:r>
              <a:rPr lang="en-US" sz="1400" b="1" dirty="0">
                <a:solidFill>
                  <a:srgbClr val="1A1A1A"/>
                </a:solidFill>
                <a:latin typeface="Montserrat" pitchFamily="2" charset="0"/>
              </a:rPr>
              <a:t>Simplicity</a:t>
            </a:r>
            <a:r>
              <a:rPr lang="en-US" sz="1400" dirty="0">
                <a:solidFill>
                  <a:srgbClr val="1A1A1A"/>
                </a:solidFill>
                <a:latin typeface="Montserrat" pitchFamily="2" charset="0"/>
              </a:rPr>
              <a:t>: Symmetric mode is much simpler compared to asymmetric mode</a:t>
            </a:r>
          </a:p>
          <a:p>
            <a:pPr marL="285750" indent="-285750">
              <a:lnSpc>
                <a:spcPts val="1600"/>
              </a:lnSpc>
              <a:buFont typeface="Arial" panose="020B0604020202020204" pitchFamily="34" charset="0"/>
              <a:buChar char="•"/>
            </a:pPr>
            <a:endParaRPr lang="en-US" sz="1400" dirty="0">
              <a:solidFill>
                <a:srgbClr val="1A1A1A"/>
              </a:solidFill>
              <a:latin typeface="Montserrat" pitchFamily="2" charset="0"/>
            </a:endParaRPr>
          </a:p>
          <a:p>
            <a:pPr>
              <a:lnSpc>
                <a:spcPts val="1600"/>
              </a:lnSpc>
            </a:pPr>
            <a:r>
              <a:rPr lang="en-US" sz="1400" b="1" dirty="0">
                <a:solidFill>
                  <a:srgbClr val="1A1A1A"/>
                </a:solidFill>
                <a:latin typeface="Montserrat" pitchFamily="2" charset="0"/>
              </a:rPr>
              <a:t>Memory</a:t>
            </a:r>
            <a:r>
              <a:rPr lang="en-US" sz="1400" dirty="0">
                <a:solidFill>
                  <a:srgbClr val="1A1A1A"/>
                </a:solidFill>
                <a:latin typeface="Montserrat" pitchFamily="2" charset="0"/>
              </a:rPr>
              <a:t>: We don’t store the zero-point for symmetric quantization</a:t>
            </a:r>
          </a:p>
        </p:txBody>
      </p:sp>
    </p:spTree>
    <p:extLst>
      <p:ext uri="{BB962C8B-B14F-4D97-AF65-F5344CB8AC3E}">
        <p14:creationId xmlns:p14="http://schemas.microsoft.com/office/powerpoint/2010/main" val="590829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B4AFB-1FB0-CF84-DBA2-1E55E7EE5FC6}"/>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B1A7FDA5-A339-7F44-BB34-A046FE6CC1F5}"/>
              </a:ext>
            </a:extLst>
          </p:cNvPr>
          <p:cNvSpPr/>
          <p:nvPr/>
        </p:nvSpPr>
        <p:spPr>
          <a:xfrm>
            <a:off x="285751" y="324744"/>
            <a:ext cx="4352153"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QUANTIZATION GRANULARITIES</a:t>
            </a:r>
          </a:p>
        </p:txBody>
      </p:sp>
      <p:pic>
        <p:nvPicPr>
          <p:cNvPr id="6" name="Imagem 5" descr="Uma imagem contendo Interface gráfica do usuário&#10;&#10;O conteúdo gerado por IA pode estar incorreto.">
            <a:extLst>
              <a:ext uri="{FF2B5EF4-FFF2-40B4-BE49-F238E27FC236}">
                <a16:creationId xmlns:a16="http://schemas.microsoft.com/office/drawing/2014/main" id="{7D6FFB79-4C67-E7A9-E182-D16CCEEC5D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spTree>
    <p:extLst>
      <p:ext uri="{BB962C8B-B14F-4D97-AF65-F5344CB8AC3E}">
        <p14:creationId xmlns:p14="http://schemas.microsoft.com/office/powerpoint/2010/main" val="23171134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255F2-27E0-C614-B88D-414C9BDC67A4}"/>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EF3A86D1-69A7-B5A9-11EB-FC33EF56A670}"/>
              </a:ext>
            </a:extLst>
          </p:cNvPr>
          <p:cNvSpPr/>
          <p:nvPr/>
        </p:nvSpPr>
        <p:spPr>
          <a:xfrm>
            <a:off x="285751" y="324744"/>
            <a:ext cx="3882473"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QUANTIZATION PER TENSOR</a:t>
            </a:r>
          </a:p>
        </p:txBody>
      </p:sp>
      <p:pic>
        <p:nvPicPr>
          <p:cNvPr id="6" name="Imagem 5" descr="Uma imagem contendo Interface gráfica do usuário&#10;&#10;O conteúdo gerado por IA pode estar incorreto.">
            <a:extLst>
              <a:ext uri="{FF2B5EF4-FFF2-40B4-BE49-F238E27FC236}">
                <a16:creationId xmlns:a16="http://schemas.microsoft.com/office/drawing/2014/main" id="{1B5776D2-ED12-168B-13C8-9AD0D29D85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spTree>
    <p:extLst>
      <p:ext uri="{BB962C8B-B14F-4D97-AF65-F5344CB8AC3E}">
        <p14:creationId xmlns:p14="http://schemas.microsoft.com/office/powerpoint/2010/main" val="34160415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32EA8-572F-9022-23DA-EB35C600B5BC}"/>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F7B25EFA-B3F8-2011-219D-A4854DF48A97}"/>
              </a:ext>
            </a:extLst>
          </p:cNvPr>
          <p:cNvSpPr/>
          <p:nvPr/>
        </p:nvSpPr>
        <p:spPr>
          <a:xfrm>
            <a:off x="285751" y="324744"/>
            <a:ext cx="4106894"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QUANTIZATION PER CHANNEL</a:t>
            </a:r>
          </a:p>
        </p:txBody>
      </p:sp>
      <p:pic>
        <p:nvPicPr>
          <p:cNvPr id="6" name="Imagem 5" descr="Uma imagem contendo Interface gráfica do usuário&#10;&#10;O conteúdo gerado por IA pode estar incorreto.">
            <a:extLst>
              <a:ext uri="{FF2B5EF4-FFF2-40B4-BE49-F238E27FC236}">
                <a16:creationId xmlns:a16="http://schemas.microsoft.com/office/drawing/2014/main" id="{586E3A76-7784-C975-03E3-7F2A3C66BE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spTree>
    <p:extLst>
      <p:ext uri="{BB962C8B-B14F-4D97-AF65-F5344CB8AC3E}">
        <p14:creationId xmlns:p14="http://schemas.microsoft.com/office/powerpoint/2010/main" val="24840162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1ACC1-DE93-04B8-7337-79016D6421BB}"/>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253DC38D-64E8-A156-D1E7-1E5F68BBDA90}"/>
              </a:ext>
            </a:extLst>
          </p:cNvPr>
          <p:cNvSpPr/>
          <p:nvPr/>
        </p:nvSpPr>
        <p:spPr>
          <a:xfrm>
            <a:off x="285751" y="324744"/>
            <a:ext cx="3768660"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QUANTIZATION PER GROUP</a:t>
            </a:r>
          </a:p>
        </p:txBody>
      </p:sp>
      <p:pic>
        <p:nvPicPr>
          <p:cNvPr id="6" name="Imagem 5" descr="Uma imagem contendo Interface gráfica do usuário&#10;&#10;O conteúdo gerado por IA pode estar incorreto.">
            <a:extLst>
              <a:ext uri="{FF2B5EF4-FFF2-40B4-BE49-F238E27FC236}">
                <a16:creationId xmlns:a16="http://schemas.microsoft.com/office/drawing/2014/main" id="{C55EBE3F-ED86-6525-E412-B8D248ED6C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spTree>
    <p:extLst>
      <p:ext uri="{BB962C8B-B14F-4D97-AF65-F5344CB8AC3E}">
        <p14:creationId xmlns:p14="http://schemas.microsoft.com/office/powerpoint/2010/main" val="32064394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AC5ED-8AC1-0E7D-C441-2C5140EDBC2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2CDBA6F-5F05-2B25-1D28-7A26353E001F}"/>
              </a:ext>
            </a:extLst>
          </p:cNvPr>
          <p:cNvSpPr/>
          <p:nvPr/>
        </p:nvSpPr>
        <p:spPr>
          <a:xfrm>
            <a:off x="285751" y="324744"/>
            <a:ext cx="4316887"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TRADE-OFFS OF QUANTIZATION</a:t>
            </a:r>
          </a:p>
        </p:txBody>
      </p:sp>
      <p:pic>
        <p:nvPicPr>
          <p:cNvPr id="3" name="Imagem 2" descr="Uma imagem contendo Interface gráfica do usuário&#10;&#10;O conteúdo gerado por IA pode estar incorreto.">
            <a:extLst>
              <a:ext uri="{FF2B5EF4-FFF2-40B4-BE49-F238E27FC236}">
                <a16:creationId xmlns:a16="http://schemas.microsoft.com/office/drawing/2014/main" id="{5650729D-CC4F-537A-EE0C-777605EB97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sp>
        <p:nvSpPr>
          <p:cNvPr id="4" name="Text 1">
            <a:extLst>
              <a:ext uri="{FF2B5EF4-FFF2-40B4-BE49-F238E27FC236}">
                <a16:creationId xmlns:a16="http://schemas.microsoft.com/office/drawing/2014/main" id="{C6B35A92-F43B-991E-284E-69B66141B347}"/>
              </a:ext>
            </a:extLst>
          </p:cNvPr>
          <p:cNvSpPr/>
          <p:nvPr/>
        </p:nvSpPr>
        <p:spPr>
          <a:xfrm>
            <a:off x="316231" y="1129710"/>
            <a:ext cx="7961531" cy="1436291"/>
          </a:xfrm>
          <a:prstGeom prst="rect">
            <a:avLst/>
          </a:prstGeom>
          <a:noFill/>
          <a:ln/>
        </p:spPr>
        <p:txBody>
          <a:bodyPr wrap="square" lIns="0" tIns="0" rIns="0" bIns="0" rtlCol="0" anchor="t">
            <a:spAutoFit/>
          </a:bodyPr>
          <a:lstStyle/>
          <a:p>
            <a:pPr marL="285750" indent="-285750">
              <a:lnSpc>
                <a:spcPts val="1600"/>
              </a:lnSpc>
              <a:buFont typeface="Arial" panose="020B0604020202020204" pitchFamily="34" charset="0"/>
              <a:buChar char="•"/>
            </a:pPr>
            <a:r>
              <a:rPr lang="en-US" sz="1400" dirty="0">
                <a:solidFill>
                  <a:srgbClr val="1A1A1A"/>
                </a:solidFill>
                <a:latin typeface="Montserrat" pitchFamily="2" charset="0"/>
              </a:rPr>
              <a:t>Smaller model</a:t>
            </a:r>
          </a:p>
          <a:p>
            <a:pPr marL="285750" indent="-285750">
              <a:lnSpc>
                <a:spcPts val="1600"/>
              </a:lnSpc>
              <a:buFont typeface="Arial" panose="020B0604020202020204" pitchFamily="34" charset="0"/>
              <a:buChar char="•"/>
            </a:pPr>
            <a:r>
              <a:rPr lang="en-US" sz="1400" dirty="0">
                <a:solidFill>
                  <a:srgbClr val="1A1A1A"/>
                </a:solidFill>
                <a:latin typeface="Montserrat" pitchFamily="2" charset="0"/>
              </a:rPr>
              <a:t>Speed gains</a:t>
            </a:r>
          </a:p>
          <a:p>
            <a:pPr marL="742950" lvl="1" indent="-285750">
              <a:lnSpc>
                <a:spcPts val="1600"/>
              </a:lnSpc>
              <a:buFont typeface="Arial" panose="020B0604020202020204" pitchFamily="34" charset="0"/>
              <a:buChar char="•"/>
            </a:pPr>
            <a:r>
              <a:rPr lang="en-US" sz="1400" dirty="0">
                <a:solidFill>
                  <a:srgbClr val="1A1A1A"/>
                </a:solidFill>
                <a:latin typeface="Montserrat" pitchFamily="2" charset="0"/>
              </a:rPr>
              <a:t>Memory bandwidth</a:t>
            </a:r>
          </a:p>
          <a:p>
            <a:pPr marL="742950" lvl="1" indent="-285750">
              <a:lnSpc>
                <a:spcPts val="1600"/>
              </a:lnSpc>
              <a:buFont typeface="Arial" panose="020B0604020202020204" pitchFamily="34" charset="0"/>
              <a:buChar char="•"/>
            </a:pPr>
            <a:r>
              <a:rPr lang="en-US" sz="1400" dirty="0">
                <a:solidFill>
                  <a:srgbClr val="1A1A1A"/>
                </a:solidFill>
                <a:latin typeface="Montserrat" pitchFamily="2" charset="0"/>
              </a:rPr>
              <a:t>Faster operations</a:t>
            </a:r>
          </a:p>
          <a:p>
            <a:pPr marL="1200150" lvl="2" indent="-285750">
              <a:lnSpc>
                <a:spcPts val="1600"/>
              </a:lnSpc>
              <a:buFont typeface="Arial" panose="020B0604020202020204" pitchFamily="34" charset="0"/>
              <a:buChar char="•"/>
            </a:pPr>
            <a:r>
              <a:rPr lang="en-US" sz="1400" dirty="0">
                <a:solidFill>
                  <a:srgbClr val="1A1A1A"/>
                </a:solidFill>
                <a:latin typeface="Montserrat" pitchFamily="2" charset="0"/>
              </a:rPr>
              <a:t>GEMM: General Matrix Multiply (matrix to matrix multiplication)</a:t>
            </a:r>
          </a:p>
          <a:p>
            <a:pPr marL="1200150" lvl="2" indent="-285750">
              <a:lnSpc>
                <a:spcPts val="1600"/>
              </a:lnSpc>
              <a:buFont typeface="Arial" panose="020B0604020202020204" pitchFamily="34" charset="0"/>
              <a:buChar char="•"/>
            </a:pPr>
            <a:r>
              <a:rPr lang="en-US" sz="1400" dirty="0">
                <a:solidFill>
                  <a:srgbClr val="1A1A1A"/>
                </a:solidFill>
                <a:latin typeface="Montserrat" pitchFamily="2" charset="0"/>
              </a:rPr>
              <a:t>GEMV: General Matrix Vector Multiplication (matrix to vector multiplication)</a:t>
            </a:r>
          </a:p>
          <a:p>
            <a:pPr marL="285750" indent="-285750">
              <a:lnSpc>
                <a:spcPts val="1600"/>
              </a:lnSpc>
              <a:buFont typeface="Arial" panose="020B0604020202020204" pitchFamily="34" charset="0"/>
              <a:buChar char="•"/>
            </a:pPr>
            <a:endParaRPr lang="en-US" sz="1400" dirty="0">
              <a:solidFill>
                <a:srgbClr val="1A1A1A"/>
              </a:solidFill>
              <a:latin typeface="Montserrat" pitchFamily="2" charset="0"/>
            </a:endParaRPr>
          </a:p>
        </p:txBody>
      </p:sp>
      <p:sp>
        <p:nvSpPr>
          <p:cNvPr id="8" name="CaixaDeTexto 7">
            <a:extLst>
              <a:ext uri="{FF2B5EF4-FFF2-40B4-BE49-F238E27FC236}">
                <a16:creationId xmlns:a16="http://schemas.microsoft.com/office/drawing/2014/main" id="{0B8BF09A-A36D-41B3-9BB6-2BB1D603CE10}"/>
              </a:ext>
            </a:extLst>
          </p:cNvPr>
          <p:cNvSpPr txBox="1"/>
          <p:nvPr/>
        </p:nvSpPr>
        <p:spPr>
          <a:xfrm>
            <a:off x="238510" y="832193"/>
            <a:ext cx="1339919" cy="297517"/>
          </a:xfrm>
          <a:prstGeom prst="rect">
            <a:avLst/>
          </a:prstGeom>
          <a:noFill/>
        </p:spPr>
        <p:txBody>
          <a:bodyPr wrap="square">
            <a:spAutoFit/>
          </a:bodyPr>
          <a:lstStyle/>
          <a:p>
            <a:pPr>
              <a:lnSpc>
                <a:spcPts val="1600"/>
              </a:lnSpc>
            </a:pPr>
            <a:r>
              <a:rPr lang="en-US" sz="1400" b="1" dirty="0">
                <a:solidFill>
                  <a:srgbClr val="1A1A1A"/>
                </a:solidFill>
                <a:latin typeface="Montserrat" pitchFamily="2" charset="0"/>
              </a:rPr>
              <a:t>Advantages:</a:t>
            </a:r>
          </a:p>
        </p:txBody>
      </p:sp>
      <p:sp>
        <p:nvSpPr>
          <p:cNvPr id="11" name="CaixaDeTexto 10">
            <a:extLst>
              <a:ext uri="{FF2B5EF4-FFF2-40B4-BE49-F238E27FC236}">
                <a16:creationId xmlns:a16="http://schemas.microsoft.com/office/drawing/2014/main" id="{CC5C8C16-FDC9-5268-1852-AC36994761AF}"/>
              </a:ext>
            </a:extLst>
          </p:cNvPr>
          <p:cNvSpPr txBox="1"/>
          <p:nvPr/>
        </p:nvSpPr>
        <p:spPr>
          <a:xfrm>
            <a:off x="238510" y="2490482"/>
            <a:ext cx="1268073" cy="297517"/>
          </a:xfrm>
          <a:prstGeom prst="rect">
            <a:avLst/>
          </a:prstGeom>
          <a:noFill/>
        </p:spPr>
        <p:txBody>
          <a:bodyPr wrap="square">
            <a:spAutoFit/>
          </a:bodyPr>
          <a:lstStyle/>
          <a:p>
            <a:pPr>
              <a:lnSpc>
                <a:spcPts val="1600"/>
              </a:lnSpc>
            </a:pPr>
            <a:r>
              <a:rPr lang="en-US" sz="1400" b="1" dirty="0">
                <a:solidFill>
                  <a:srgbClr val="1A1A1A"/>
                </a:solidFill>
                <a:latin typeface="Montserrat" pitchFamily="2" charset="0"/>
              </a:rPr>
              <a:t>Challenges:</a:t>
            </a:r>
          </a:p>
        </p:txBody>
      </p:sp>
      <p:sp>
        <p:nvSpPr>
          <p:cNvPr id="13" name="Text 1">
            <a:extLst>
              <a:ext uri="{FF2B5EF4-FFF2-40B4-BE49-F238E27FC236}">
                <a16:creationId xmlns:a16="http://schemas.microsoft.com/office/drawing/2014/main" id="{52F5DD21-899E-44F7-B7AC-77F9101968AE}"/>
              </a:ext>
            </a:extLst>
          </p:cNvPr>
          <p:cNvSpPr/>
          <p:nvPr/>
        </p:nvSpPr>
        <p:spPr>
          <a:xfrm>
            <a:off x="316230" y="2784901"/>
            <a:ext cx="7961531" cy="1025922"/>
          </a:xfrm>
          <a:prstGeom prst="rect">
            <a:avLst/>
          </a:prstGeom>
          <a:noFill/>
          <a:ln/>
        </p:spPr>
        <p:txBody>
          <a:bodyPr wrap="square" lIns="0" tIns="0" rIns="0" bIns="0" rtlCol="0" anchor="t">
            <a:spAutoFit/>
          </a:bodyPr>
          <a:lstStyle/>
          <a:p>
            <a:pPr marL="285750" indent="-285750">
              <a:lnSpc>
                <a:spcPts val="1600"/>
              </a:lnSpc>
              <a:buFont typeface="Arial" panose="020B0604020202020204" pitchFamily="34" charset="0"/>
              <a:buChar char="•"/>
            </a:pPr>
            <a:r>
              <a:rPr lang="en-US" sz="1400" dirty="0">
                <a:solidFill>
                  <a:srgbClr val="1A1A1A"/>
                </a:solidFill>
                <a:latin typeface="Montserrat" pitchFamily="2" charset="0"/>
              </a:rPr>
              <a:t>Quantization error</a:t>
            </a:r>
          </a:p>
          <a:p>
            <a:pPr marL="285750" indent="-285750">
              <a:lnSpc>
                <a:spcPts val="1600"/>
              </a:lnSpc>
              <a:buFont typeface="Arial" panose="020B0604020202020204" pitchFamily="34" charset="0"/>
              <a:buChar char="•"/>
            </a:pPr>
            <a:r>
              <a:rPr lang="en-US" sz="1400" dirty="0">
                <a:solidFill>
                  <a:srgbClr val="1A1A1A"/>
                </a:solidFill>
                <a:latin typeface="Montserrat" pitchFamily="2" charset="0"/>
              </a:rPr>
              <a:t>Retraining (Quantization Aware Training)</a:t>
            </a:r>
          </a:p>
          <a:p>
            <a:pPr marL="285750" indent="-285750">
              <a:lnSpc>
                <a:spcPts val="1600"/>
              </a:lnSpc>
              <a:buFont typeface="Arial" panose="020B0604020202020204" pitchFamily="34" charset="0"/>
              <a:buChar char="•"/>
            </a:pPr>
            <a:r>
              <a:rPr lang="en-US" sz="1400" dirty="0">
                <a:solidFill>
                  <a:srgbClr val="1A1A1A"/>
                </a:solidFill>
                <a:latin typeface="Montserrat" pitchFamily="2" charset="0"/>
              </a:rPr>
              <a:t>Limited Hardware support</a:t>
            </a:r>
          </a:p>
          <a:p>
            <a:pPr marL="285750" indent="-285750">
              <a:lnSpc>
                <a:spcPts val="1600"/>
              </a:lnSpc>
              <a:buFont typeface="Arial" panose="020B0604020202020204" pitchFamily="34" charset="0"/>
              <a:buChar char="•"/>
            </a:pPr>
            <a:r>
              <a:rPr lang="en-US" sz="1400" dirty="0" err="1">
                <a:solidFill>
                  <a:srgbClr val="1A1A1A"/>
                </a:solidFill>
                <a:latin typeface="Montserrat" pitchFamily="2" charset="0"/>
              </a:rPr>
              <a:t>Callibration</a:t>
            </a:r>
            <a:r>
              <a:rPr lang="en-US" sz="1400" dirty="0">
                <a:solidFill>
                  <a:srgbClr val="1A1A1A"/>
                </a:solidFill>
                <a:latin typeface="Montserrat" pitchFamily="2" charset="0"/>
              </a:rPr>
              <a:t> dataset needed</a:t>
            </a:r>
          </a:p>
          <a:p>
            <a:pPr marL="285750" indent="-285750">
              <a:lnSpc>
                <a:spcPts val="1600"/>
              </a:lnSpc>
              <a:buFont typeface="Arial" panose="020B0604020202020204" pitchFamily="34" charset="0"/>
              <a:buChar char="•"/>
            </a:pPr>
            <a:r>
              <a:rPr lang="en-US" sz="1400" dirty="0">
                <a:solidFill>
                  <a:srgbClr val="1A1A1A"/>
                </a:solidFill>
                <a:latin typeface="Montserrat" pitchFamily="2" charset="0"/>
              </a:rPr>
              <a:t>Packing/unpacking</a:t>
            </a:r>
          </a:p>
        </p:txBody>
      </p:sp>
    </p:spTree>
    <p:extLst>
      <p:ext uri="{BB962C8B-B14F-4D97-AF65-F5344CB8AC3E}">
        <p14:creationId xmlns:p14="http://schemas.microsoft.com/office/powerpoint/2010/main" val="1479134954"/>
      </p:ext>
    </p:extLst>
  </p:cSld>
  <p:clrMapOvr>
    <a:masterClrMapping/>
  </p:clrMapOvr>
  <p:transition spd="slow">
    <p:push/>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5EEDAEC-6908-2DD4-50A7-161796145DDC}"/>
              </a:ext>
            </a:extLst>
          </p:cNvPr>
          <p:cNvSpPr/>
          <p:nvPr/>
        </p:nvSpPr>
        <p:spPr>
          <a:xfrm>
            <a:off x="285751" y="324744"/>
            <a:ext cx="3799117"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QUANTIZATION STRATEGIES</a:t>
            </a:r>
            <a:endParaRPr lang="en-US" sz="2000" dirty="0">
              <a:solidFill>
                <a:srgbClr val="B22232"/>
              </a:solidFill>
              <a:latin typeface="Montserrat" pitchFamily="2" charset="0"/>
            </a:endParaRPr>
          </a:p>
        </p:txBody>
      </p:sp>
      <p:pic>
        <p:nvPicPr>
          <p:cNvPr id="3" name="Imagem 2" descr="Uma imagem contendo Interface gráfica do usuário&#10;&#10;O conteúdo gerado por IA pode estar incorreto.">
            <a:extLst>
              <a:ext uri="{FF2B5EF4-FFF2-40B4-BE49-F238E27FC236}">
                <a16:creationId xmlns:a16="http://schemas.microsoft.com/office/drawing/2014/main" id="{8A347D9B-4847-45AF-F2D9-E6D3474EF9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sp>
        <p:nvSpPr>
          <p:cNvPr id="7" name="Text 1"/>
          <p:cNvSpPr/>
          <p:nvPr/>
        </p:nvSpPr>
        <p:spPr>
          <a:xfrm>
            <a:off x="300744" y="1010304"/>
            <a:ext cx="3103414" cy="227113"/>
          </a:xfrm>
          <a:prstGeom prst="rect">
            <a:avLst/>
          </a:prstGeom>
          <a:noFill/>
          <a:ln/>
        </p:spPr>
        <p:txBody>
          <a:bodyPr wrap="none" lIns="0" tIns="0" rIns="0" bIns="0" rtlCol="0" anchor="t">
            <a:spAutoFit/>
          </a:bodyPr>
          <a:lstStyle/>
          <a:p>
            <a:pPr marL="0" indent="0" algn="l">
              <a:lnSpc>
                <a:spcPts val="1900"/>
              </a:lnSpc>
              <a:buNone/>
            </a:pPr>
            <a:r>
              <a:rPr lang="en-US" sz="1400" b="1" dirty="0">
                <a:latin typeface="Montserrat" pitchFamily="2" charset="0"/>
              </a:rPr>
              <a:t>Post-Training Quantization (PTQ)</a:t>
            </a:r>
          </a:p>
        </p:txBody>
      </p:sp>
      <p:sp>
        <p:nvSpPr>
          <p:cNvPr id="8" name="Text 3"/>
          <p:cNvSpPr/>
          <p:nvPr/>
        </p:nvSpPr>
        <p:spPr>
          <a:xfrm>
            <a:off x="300744" y="1324210"/>
            <a:ext cx="8045472" cy="538609"/>
          </a:xfrm>
          <a:prstGeom prst="rect">
            <a:avLst/>
          </a:prstGeom>
          <a:noFill/>
          <a:ln/>
        </p:spPr>
        <p:txBody>
          <a:bodyPr wrap="none" lIns="0" tIns="0" rIns="0" bIns="0" rtlCol="0" anchor="t">
            <a:spAutoFit/>
          </a:bodyPr>
          <a:lstStyle/>
          <a:p>
            <a:pPr>
              <a:lnSpc>
                <a:spcPts val="1400"/>
              </a:lnSpc>
            </a:pPr>
            <a:r>
              <a:rPr lang="en-US" sz="1400" dirty="0">
                <a:solidFill>
                  <a:srgbClr val="333333"/>
                </a:solidFill>
                <a:latin typeface="Montserrat" pitchFamily="2" charset="0"/>
              </a:rPr>
              <a:t>Pre-trained model; weight conversion in the final phase</a:t>
            </a:r>
          </a:p>
          <a:p>
            <a:pPr marL="171450" indent="-171450">
              <a:lnSpc>
                <a:spcPts val="1400"/>
              </a:lnSpc>
              <a:buFont typeface="Arial" panose="020B0604020202020204" pitchFamily="34" charset="0"/>
              <a:buChar char="•"/>
            </a:pPr>
            <a:r>
              <a:rPr lang="en-US" sz="1400" b="1" dirty="0">
                <a:solidFill>
                  <a:srgbClr val="333333"/>
                </a:solidFill>
                <a:latin typeface="Montserrat" pitchFamily="2" charset="0"/>
              </a:rPr>
              <a:t>Advantages: </a:t>
            </a:r>
            <a:r>
              <a:rPr lang="en-US" sz="1400" dirty="0">
                <a:solidFill>
                  <a:srgbClr val="333333"/>
                </a:solidFill>
                <a:latin typeface="Montserrat" pitchFamily="2" charset="0"/>
              </a:rPr>
              <a:t>Quick implementation, without requiring the entire training set</a:t>
            </a:r>
          </a:p>
          <a:p>
            <a:pPr marL="171450" indent="-171450">
              <a:lnSpc>
                <a:spcPts val="1400"/>
              </a:lnSpc>
              <a:buFont typeface="Arial" panose="020B0604020202020204" pitchFamily="34" charset="0"/>
              <a:buChar char="•"/>
            </a:pPr>
            <a:r>
              <a:rPr lang="en-US" sz="1400" b="1" dirty="0">
                <a:solidFill>
                  <a:srgbClr val="333333"/>
                </a:solidFill>
                <a:latin typeface="Montserrat" pitchFamily="2" charset="0"/>
              </a:rPr>
              <a:t>Ideal Scenario: </a:t>
            </a:r>
            <a:r>
              <a:rPr lang="en-US" sz="1400" dirty="0">
                <a:solidFill>
                  <a:srgbClr val="333333"/>
                </a:solidFill>
                <a:latin typeface="Montserrat" pitchFamily="2" charset="0"/>
              </a:rPr>
              <a:t>Projects with short deadlines where some loss of precision is acceptable</a:t>
            </a:r>
            <a:endParaRPr lang="en-US" sz="1400" dirty="0">
              <a:latin typeface="Montserrat" pitchFamily="2" charset="0"/>
            </a:endParaRPr>
          </a:p>
        </p:txBody>
      </p:sp>
      <p:sp>
        <p:nvSpPr>
          <p:cNvPr id="9" name="Text 4"/>
          <p:cNvSpPr/>
          <p:nvPr/>
        </p:nvSpPr>
        <p:spPr>
          <a:xfrm>
            <a:off x="470782" y="2027293"/>
            <a:ext cx="65" cy="188770"/>
          </a:xfrm>
          <a:prstGeom prst="rect">
            <a:avLst/>
          </a:prstGeom>
          <a:noFill/>
          <a:ln/>
        </p:spPr>
        <p:txBody>
          <a:bodyPr wrap="none" lIns="0" tIns="0" rIns="0" bIns="0" rtlCol="0" anchor="t">
            <a:spAutoFit/>
          </a:bodyPr>
          <a:lstStyle/>
          <a:p>
            <a:pPr marL="0" indent="0" algn="l">
              <a:lnSpc>
                <a:spcPts val="1400"/>
              </a:lnSpc>
              <a:buNone/>
            </a:pPr>
            <a:endParaRPr lang="en-US" sz="1400" dirty="0"/>
          </a:p>
        </p:txBody>
      </p:sp>
      <p:sp>
        <p:nvSpPr>
          <p:cNvPr id="15" name="Text 8"/>
          <p:cNvSpPr/>
          <p:nvPr/>
        </p:nvSpPr>
        <p:spPr>
          <a:xfrm>
            <a:off x="285751" y="1975023"/>
            <a:ext cx="3276600" cy="227113"/>
          </a:xfrm>
          <a:prstGeom prst="rect">
            <a:avLst/>
          </a:prstGeom>
          <a:noFill/>
          <a:ln/>
        </p:spPr>
        <p:txBody>
          <a:bodyPr wrap="square" lIns="0" tIns="0" rIns="0" bIns="0" rtlCol="0" anchor="t">
            <a:spAutoFit/>
          </a:bodyPr>
          <a:lstStyle/>
          <a:p>
            <a:pPr marL="0" indent="0" algn="l">
              <a:lnSpc>
                <a:spcPts val="1900"/>
              </a:lnSpc>
              <a:buNone/>
            </a:pPr>
            <a:r>
              <a:rPr lang="en-US" sz="1400" b="1" dirty="0">
                <a:latin typeface="Montserrat" pitchFamily="2" charset="0"/>
              </a:rPr>
              <a:t>Quantization Aware Training (QAT)</a:t>
            </a:r>
            <a:endParaRPr lang="en-US" sz="1400" dirty="0">
              <a:latin typeface="Montserrat" pitchFamily="2" charset="0"/>
            </a:endParaRPr>
          </a:p>
        </p:txBody>
      </p:sp>
      <p:sp>
        <p:nvSpPr>
          <p:cNvPr id="16" name="Text 10"/>
          <p:cNvSpPr/>
          <p:nvPr/>
        </p:nvSpPr>
        <p:spPr>
          <a:xfrm>
            <a:off x="285751" y="2268333"/>
            <a:ext cx="8271756" cy="538609"/>
          </a:xfrm>
          <a:prstGeom prst="rect">
            <a:avLst/>
          </a:prstGeom>
          <a:noFill/>
          <a:ln/>
        </p:spPr>
        <p:txBody>
          <a:bodyPr wrap="square" lIns="0" tIns="0" rIns="0" bIns="0" rtlCol="0" anchor="t">
            <a:spAutoFit/>
          </a:bodyPr>
          <a:lstStyle/>
          <a:p>
            <a:pPr>
              <a:lnSpc>
                <a:spcPts val="1400"/>
              </a:lnSpc>
            </a:pPr>
            <a:r>
              <a:rPr lang="en-US" sz="1400" dirty="0">
                <a:solidFill>
                  <a:srgbClr val="333333"/>
                </a:solidFill>
                <a:latin typeface="Montserrat" pitchFamily="2" charset="0"/>
              </a:rPr>
              <a:t>Quantization is simulated during training for model adaptation</a:t>
            </a:r>
          </a:p>
          <a:p>
            <a:pPr marL="171450" indent="-171450">
              <a:lnSpc>
                <a:spcPts val="1400"/>
              </a:lnSpc>
              <a:buFont typeface="Arial" panose="020B0604020202020204" pitchFamily="34" charset="0"/>
              <a:buChar char="•"/>
            </a:pPr>
            <a:r>
              <a:rPr lang="en-US" sz="1400" b="1" dirty="0">
                <a:solidFill>
                  <a:srgbClr val="333333"/>
                </a:solidFill>
                <a:latin typeface="Montserrat" pitchFamily="2" charset="0"/>
              </a:rPr>
              <a:t>Advantages:</a:t>
            </a:r>
            <a:r>
              <a:rPr lang="en-US" sz="1400" dirty="0">
                <a:solidFill>
                  <a:srgbClr val="333333"/>
                </a:solidFill>
                <a:latin typeface="Montserrat" pitchFamily="2" charset="0"/>
              </a:rPr>
              <a:t> Lower accuracy loss; INT8 performance close to FP32</a:t>
            </a:r>
          </a:p>
          <a:p>
            <a:pPr marL="171450" indent="-171450">
              <a:lnSpc>
                <a:spcPts val="1400"/>
              </a:lnSpc>
              <a:buFont typeface="Arial" panose="020B0604020202020204" pitchFamily="34" charset="0"/>
              <a:buChar char="•"/>
            </a:pPr>
            <a:r>
              <a:rPr lang="en-US" sz="1400" b="1" dirty="0">
                <a:solidFill>
                  <a:srgbClr val="333333"/>
                </a:solidFill>
                <a:latin typeface="Montserrat" pitchFamily="2" charset="0"/>
              </a:rPr>
              <a:t>Ideal Scenario:</a:t>
            </a:r>
            <a:r>
              <a:rPr lang="en-US" sz="1400" dirty="0">
                <a:solidFill>
                  <a:srgbClr val="333333"/>
                </a:solidFill>
                <a:latin typeface="Montserrat" pitchFamily="2" charset="0"/>
              </a:rPr>
              <a:t> Critical applications requiring high precision and sensitivity to quantization</a:t>
            </a:r>
            <a:endParaRPr lang="en-US" sz="1400" dirty="0">
              <a:latin typeface="Montserrat" pitchFamily="2" charset="0"/>
            </a:endParaRPr>
          </a:p>
        </p:txBody>
      </p:sp>
    </p:spTree>
    <p:extLst>
      <p:ext uri="{BB962C8B-B14F-4D97-AF65-F5344CB8AC3E}">
        <p14:creationId xmlns:p14="http://schemas.microsoft.com/office/powerpoint/2010/main" val="22122375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Text 1"/>
          <p:cNvSpPr/>
          <p:nvPr/>
        </p:nvSpPr>
        <p:spPr>
          <a:xfrm>
            <a:off x="285751" y="1083288"/>
            <a:ext cx="7369005" cy="595932"/>
          </a:xfrm>
          <a:prstGeom prst="rect">
            <a:avLst/>
          </a:prstGeom>
          <a:noFill/>
          <a:ln/>
        </p:spPr>
        <p:txBody>
          <a:bodyPr wrap="none" lIns="0" tIns="0" rIns="0" bIns="0" rtlCol="0" anchor="t">
            <a:spAutoFit/>
          </a:bodyPr>
          <a:lstStyle/>
          <a:p>
            <a:pPr marL="171450" indent="-171450">
              <a:lnSpc>
                <a:spcPts val="1600"/>
              </a:lnSpc>
              <a:buFont typeface="Arial" panose="020B0604020202020204" pitchFamily="34" charset="0"/>
              <a:buChar char="•"/>
            </a:pPr>
            <a:r>
              <a:rPr lang="en-US" sz="1000" b="1" dirty="0">
                <a:solidFill>
                  <a:srgbClr val="1A1A1A"/>
                </a:solidFill>
                <a:latin typeface="Montserrat" pitchFamily="2" charset="0"/>
              </a:rPr>
              <a:t>Data Density: </a:t>
            </a:r>
            <a:r>
              <a:rPr lang="en-US" sz="1000" dirty="0">
                <a:solidFill>
                  <a:srgbClr val="1A1A1A"/>
                </a:solidFill>
                <a:latin typeface="Montserrat" pitchFamily="2" charset="0"/>
              </a:rPr>
              <a:t>FP32 occupies 4 bytes per parameter, while INT8 occupies only 1 byte</a:t>
            </a:r>
          </a:p>
          <a:p>
            <a:pPr marL="171450" indent="-171450">
              <a:lnSpc>
                <a:spcPts val="1600"/>
              </a:lnSpc>
              <a:buFont typeface="Arial" panose="020B0604020202020204" pitchFamily="34" charset="0"/>
              <a:buChar char="•"/>
            </a:pPr>
            <a:r>
              <a:rPr lang="en-US" sz="1000" b="1" dirty="0">
                <a:solidFill>
                  <a:srgbClr val="1A1A1A"/>
                </a:solidFill>
                <a:latin typeface="Montserrat" pitchFamily="2" charset="0"/>
              </a:rPr>
              <a:t>Storage Efficiency: </a:t>
            </a:r>
            <a:r>
              <a:rPr lang="en-US" sz="1000" dirty="0">
                <a:solidFill>
                  <a:srgbClr val="1A1A1A"/>
                </a:solidFill>
                <a:latin typeface="Montserrat" pitchFamily="2" charset="0"/>
              </a:rPr>
              <a:t>A model with 1 million parameters reduces its size from 4 MB to 1 MB</a:t>
            </a:r>
          </a:p>
          <a:p>
            <a:pPr marL="171450" indent="-171450">
              <a:lnSpc>
                <a:spcPts val="1600"/>
              </a:lnSpc>
              <a:buFont typeface="Arial" panose="020B0604020202020204" pitchFamily="34" charset="0"/>
              <a:buChar char="•"/>
            </a:pPr>
            <a:r>
              <a:rPr lang="en-US" sz="1000" b="1" dirty="0">
                <a:solidFill>
                  <a:srgbClr val="1A1A1A"/>
                </a:solidFill>
                <a:latin typeface="Montserrat" pitchFamily="2" charset="0"/>
              </a:rPr>
              <a:t>Bottleneck Reduction: </a:t>
            </a:r>
            <a:r>
              <a:rPr lang="en-US" sz="1000" dirty="0">
                <a:solidFill>
                  <a:srgbClr val="1A1A1A"/>
                </a:solidFill>
                <a:latin typeface="Montserrat" pitchFamily="2" charset="0"/>
              </a:rPr>
              <a:t>The processor fetches 4 INT8 numbers in the same time it would take for 1 FP32 number</a:t>
            </a:r>
            <a:endParaRPr lang="en-US" sz="1000" dirty="0">
              <a:latin typeface="Montserrat" pitchFamily="2" charset="0"/>
            </a:endParaRPr>
          </a:p>
        </p:txBody>
      </p:sp>
      <p:sp>
        <p:nvSpPr>
          <p:cNvPr id="5" name="Text 2"/>
          <p:cNvSpPr/>
          <p:nvPr/>
        </p:nvSpPr>
        <p:spPr>
          <a:xfrm>
            <a:off x="428624" y="1214856"/>
            <a:ext cx="3971925" cy="189411"/>
          </a:xfrm>
          <a:prstGeom prst="rect">
            <a:avLst/>
          </a:prstGeom>
          <a:noFill/>
          <a:ln/>
        </p:spPr>
        <p:txBody>
          <a:bodyPr wrap="square" lIns="0" tIns="0" rIns="0" bIns="0" rtlCol="0" anchor="t">
            <a:spAutoFit/>
          </a:bodyPr>
          <a:lstStyle/>
          <a:p>
            <a:pPr marL="0" indent="0" algn="l">
              <a:lnSpc>
                <a:spcPts val="1600"/>
              </a:lnSpc>
              <a:buNone/>
            </a:pPr>
            <a:endParaRPr lang="en-US" sz="1050" dirty="0">
              <a:latin typeface="Montserrat" pitchFamily="2" charset="0"/>
            </a:endParaRPr>
          </a:p>
        </p:txBody>
      </p:sp>
      <p:sp>
        <p:nvSpPr>
          <p:cNvPr id="6" name="Text 3"/>
          <p:cNvSpPr/>
          <p:nvPr/>
        </p:nvSpPr>
        <p:spPr>
          <a:xfrm>
            <a:off x="428623" y="1448814"/>
            <a:ext cx="65" cy="194284"/>
          </a:xfrm>
          <a:prstGeom prst="rect">
            <a:avLst/>
          </a:prstGeom>
          <a:noFill/>
          <a:ln/>
        </p:spPr>
        <p:txBody>
          <a:bodyPr wrap="none" lIns="0" tIns="0" rIns="0" bIns="0" rtlCol="0" anchor="t">
            <a:spAutoFit/>
          </a:bodyPr>
          <a:lstStyle/>
          <a:p>
            <a:pPr marL="0" indent="0" algn="l">
              <a:lnSpc>
                <a:spcPts val="1600"/>
              </a:lnSpc>
              <a:buNone/>
            </a:pPr>
            <a:endParaRPr lang="en-US" sz="1193" dirty="0">
              <a:latin typeface="Montserrat" pitchFamily="2" charset="0"/>
            </a:endParaRPr>
          </a:p>
        </p:txBody>
      </p:sp>
      <p:sp>
        <p:nvSpPr>
          <p:cNvPr id="8" name="Text 5"/>
          <p:cNvSpPr/>
          <p:nvPr/>
        </p:nvSpPr>
        <p:spPr>
          <a:xfrm>
            <a:off x="428625" y="2104671"/>
            <a:ext cx="65" cy="194284"/>
          </a:xfrm>
          <a:prstGeom prst="rect">
            <a:avLst/>
          </a:prstGeom>
          <a:noFill/>
          <a:ln/>
        </p:spPr>
        <p:txBody>
          <a:bodyPr wrap="none" lIns="0" tIns="0" rIns="0" bIns="0" rtlCol="0" anchor="t">
            <a:spAutoFit/>
          </a:bodyPr>
          <a:lstStyle/>
          <a:p>
            <a:pPr marL="0" indent="0" algn="l">
              <a:lnSpc>
                <a:spcPts val="1600"/>
              </a:lnSpc>
              <a:buNone/>
            </a:pPr>
            <a:endParaRPr lang="en-US" sz="1193" dirty="0">
              <a:latin typeface="Montserrat" pitchFamily="2" charset="0"/>
            </a:endParaRPr>
          </a:p>
        </p:txBody>
      </p:sp>
      <p:sp>
        <p:nvSpPr>
          <p:cNvPr id="12" name="Text 0">
            <a:extLst>
              <a:ext uri="{FF2B5EF4-FFF2-40B4-BE49-F238E27FC236}">
                <a16:creationId xmlns:a16="http://schemas.microsoft.com/office/drawing/2014/main" id="{181C5CCC-8371-B9CC-2BF5-C55D36E64BAF}"/>
              </a:ext>
            </a:extLst>
          </p:cNvPr>
          <p:cNvSpPr/>
          <p:nvPr/>
        </p:nvSpPr>
        <p:spPr>
          <a:xfrm>
            <a:off x="285751" y="324744"/>
            <a:ext cx="3414396"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IMPACTS ON HARDWARE</a:t>
            </a:r>
            <a:endParaRPr lang="en-US" sz="2000" dirty="0">
              <a:solidFill>
                <a:srgbClr val="B22232"/>
              </a:solidFill>
              <a:latin typeface="Montserrat" pitchFamily="2" charset="0"/>
            </a:endParaRPr>
          </a:p>
        </p:txBody>
      </p:sp>
      <p:pic>
        <p:nvPicPr>
          <p:cNvPr id="13" name="Imagem 12" descr="Uma imagem contendo Interface gráfica do usuário&#10;&#10;O conteúdo gerado por IA pode estar incorreto.">
            <a:extLst>
              <a:ext uri="{FF2B5EF4-FFF2-40B4-BE49-F238E27FC236}">
                <a16:creationId xmlns:a16="http://schemas.microsoft.com/office/drawing/2014/main" id="{73945A67-4861-7647-FF97-55AA449648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sp>
        <p:nvSpPr>
          <p:cNvPr id="15" name="Text 9">
            <a:extLst>
              <a:ext uri="{FF2B5EF4-FFF2-40B4-BE49-F238E27FC236}">
                <a16:creationId xmlns:a16="http://schemas.microsoft.com/office/drawing/2014/main" id="{501AC041-5607-1BBB-51CE-F75498390A55}"/>
              </a:ext>
            </a:extLst>
          </p:cNvPr>
          <p:cNvSpPr/>
          <p:nvPr/>
        </p:nvSpPr>
        <p:spPr>
          <a:xfrm>
            <a:off x="285751" y="813841"/>
            <a:ext cx="775853" cy="215444"/>
          </a:xfrm>
          <a:prstGeom prst="rect">
            <a:avLst/>
          </a:prstGeom>
          <a:noFill/>
          <a:ln/>
        </p:spPr>
        <p:txBody>
          <a:bodyPr wrap="none" lIns="0" tIns="0" rIns="0" bIns="0" rtlCol="0" anchor="ctr">
            <a:spAutoFit/>
          </a:bodyPr>
          <a:lstStyle/>
          <a:p>
            <a:r>
              <a:rPr lang="en-US" sz="1400" b="1" dirty="0">
                <a:solidFill>
                  <a:srgbClr val="231F20"/>
                </a:solidFill>
                <a:latin typeface="Montserrat" pitchFamily="2" charset="0"/>
                <a:ea typeface="Noto Sans" pitchFamily="34" charset="-122"/>
                <a:cs typeface="Noto Sans" pitchFamily="34" charset="-120"/>
              </a:rPr>
              <a:t>Memory</a:t>
            </a:r>
            <a:endParaRPr lang="en-US" sz="1400" dirty="0">
              <a:solidFill>
                <a:srgbClr val="231F20"/>
              </a:solidFill>
              <a:latin typeface="Montserrat" pitchFamily="2" charset="0"/>
            </a:endParaRPr>
          </a:p>
        </p:txBody>
      </p:sp>
      <p:sp>
        <p:nvSpPr>
          <p:cNvPr id="16" name="Text 9">
            <a:extLst>
              <a:ext uri="{FF2B5EF4-FFF2-40B4-BE49-F238E27FC236}">
                <a16:creationId xmlns:a16="http://schemas.microsoft.com/office/drawing/2014/main" id="{1813DE3E-46B0-08FC-9620-9DA98F1DA30E}"/>
              </a:ext>
            </a:extLst>
          </p:cNvPr>
          <p:cNvSpPr/>
          <p:nvPr/>
        </p:nvSpPr>
        <p:spPr>
          <a:xfrm>
            <a:off x="285750" y="1873306"/>
            <a:ext cx="1215389" cy="215444"/>
          </a:xfrm>
          <a:prstGeom prst="rect">
            <a:avLst/>
          </a:prstGeom>
          <a:noFill/>
          <a:ln/>
        </p:spPr>
        <p:txBody>
          <a:bodyPr wrap="square" lIns="0" tIns="0" rIns="0" bIns="0" rtlCol="0" anchor="ctr">
            <a:spAutoFit/>
          </a:bodyPr>
          <a:lstStyle/>
          <a:p>
            <a:r>
              <a:rPr lang="en-US" sz="1400" b="1" dirty="0">
                <a:solidFill>
                  <a:srgbClr val="231F20"/>
                </a:solidFill>
                <a:latin typeface="Montserrat" pitchFamily="2" charset="0"/>
                <a:ea typeface="Noto Sans" pitchFamily="34" charset="-122"/>
                <a:cs typeface="Noto Sans" pitchFamily="34" charset="-120"/>
              </a:rPr>
              <a:t>Processing</a:t>
            </a:r>
            <a:endParaRPr lang="en-US" sz="1400" dirty="0">
              <a:solidFill>
                <a:srgbClr val="231F20"/>
              </a:solidFill>
              <a:latin typeface="Montserrat" pitchFamily="2" charset="0"/>
            </a:endParaRPr>
          </a:p>
        </p:txBody>
      </p:sp>
      <p:sp>
        <p:nvSpPr>
          <p:cNvPr id="18" name="Text 4"/>
          <p:cNvSpPr/>
          <p:nvPr/>
        </p:nvSpPr>
        <p:spPr>
          <a:xfrm>
            <a:off x="285751" y="2178082"/>
            <a:ext cx="8572498" cy="666464"/>
          </a:xfrm>
          <a:prstGeom prst="rect">
            <a:avLst/>
          </a:prstGeom>
          <a:noFill/>
          <a:ln/>
        </p:spPr>
        <p:txBody>
          <a:bodyPr wrap="square" lIns="0" tIns="0" rIns="0" bIns="0" rtlCol="0" anchor="t">
            <a:spAutoFit/>
          </a:bodyPr>
          <a:lstStyle/>
          <a:p>
            <a:pPr>
              <a:lnSpc>
                <a:spcPts val="1800"/>
              </a:lnSpc>
            </a:pPr>
            <a:r>
              <a:rPr lang="en-US" sz="1000" dirty="0">
                <a:latin typeface="Montserrat" pitchFamily="2" charset="0"/>
              </a:rPr>
              <a:t>SIMD (Single Instruction, Multiple Data) technology allows the processor to apply a single instruction to multiple data simultaneously, functioning like a vector. In modern 256-bit registers, the workspace is fixed, but the amount of data processed depends on its precision. By switching from FP32 to INT8, the data density in the register increases dramatically, allowing for much greater parallelism</a:t>
            </a:r>
          </a:p>
        </p:txBody>
      </p:sp>
      <p:sp>
        <p:nvSpPr>
          <p:cNvPr id="21" name="Text 7"/>
          <p:cNvSpPr/>
          <p:nvPr/>
        </p:nvSpPr>
        <p:spPr>
          <a:xfrm>
            <a:off x="285751" y="4234184"/>
            <a:ext cx="3786188" cy="208647"/>
          </a:xfrm>
          <a:prstGeom prst="rect">
            <a:avLst/>
          </a:prstGeom>
          <a:noFill/>
          <a:ln/>
        </p:spPr>
        <p:txBody>
          <a:bodyPr wrap="square" lIns="0" tIns="0" rIns="0" bIns="0" rtlCol="0" anchor="t">
            <a:spAutoFit/>
          </a:bodyPr>
          <a:lstStyle/>
          <a:p>
            <a:pPr marL="0" indent="0" algn="l">
              <a:lnSpc>
                <a:spcPts val="1800"/>
              </a:lnSpc>
              <a:buNone/>
            </a:pPr>
            <a:endParaRPr lang="en-US" sz="1050" dirty="0">
              <a:latin typeface="Montserrat" pitchFamily="2" charset="0"/>
            </a:endParaRPr>
          </a:p>
        </p:txBody>
      </p:sp>
      <p:sp>
        <p:nvSpPr>
          <p:cNvPr id="33" name="Text 9">
            <a:extLst>
              <a:ext uri="{FF2B5EF4-FFF2-40B4-BE49-F238E27FC236}">
                <a16:creationId xmlns:a16="http://schemas.microsoft.com/office/drawing/2014/main" id="{A4353D31-8F27-596A-BA45-82BE4914AEE6}"/>
              </a:ext>
            </a:extLst>
          </p:cNvPr>
          <p:cNvSpPr/>
          <p:nvPr/>
        </p:nvSpPr>
        <p:spPr>
          <a:xfrm>
            <a:off x="285751" y="3028814"/>
            <a:ext cx="1306829" cy="215444"/>
          </a:xfrm>
          <a:prstGeom prst="rect">
            <a:avLst/>
          </a:prstGeom>
          <a:noFill/>
          <a:ln/>
        </p:spPr>
        <p:txBody>
          <a:bodyPr wrap="square" lIns="0" tIns="0" rIns="0" bIns="0" rtlCol="0" anchor="ctr">
            <a:spAutoFit/>
          </a:bodyPr>
          <a:lstStyle/>
          <a:p>
            <a:r>
              <a:rPr lang="en-US" sz="1400" b="1" dirty="0">
                <a:solidFill>
                  <a:srgbClr val="231F20"/>
                </a:solidFill>
                <a:latin typeface="Montserrat" pitchFamily="2" charset="0"/>
                <a:ea typeface="Noto Sans" pitchFamily="34" charset="-122"/>
                <a:cs typeface="Noto Sans" pitchFamily="34" charset="-120"/>
              </a:rPr>
              <a:t>Accumulator</a:t>
            </a:r>
            <a:endParaRPr lang="en-US" sz="1400" dirty="0">
              <a:solidFill>
                <a:srgbClr val="231F20"/>
              </a:solidFill>
              <a:latin typeface="Montserrat" pitchFamily="2" charset="0"/>
            </a:endParaRPr>
          </a:p>
        </p:txBody>
      </p:sp>
      <p:sp>
        <p:nvSpPr>
          <p:cNvPr id="38" name="Text 5"/>
          <p:cNvSpPr/>
          <p:nvPr/>
        </p:nvSpPr>
        <p:spPr>
          <a:xfrm>
            <a:off x="1748809" y="4158490"/>
            <a:ext cx="3750469" cy="164597"/>
          </a:xfrm>
          <a:prstGeom prst="rect">
            <a:avLst/>
          </a:prstGeom>
          <a:noFill/>
          <a:ln/>
        </p:spPr>
        <p:txBody>
          <a:bodyPr wrap="square" lIns="0" tIns="0" rIns="0" bIns="0" rtlCol="0" anchor="t">
            <a:spAutoFit/>
          </a:bodyPr>
          <a:lstStyle/>
          <a:p>
            <a:pPr marL="0" indent="0" algn="l">
              <a:lnSpc>
                <a:spcPts val="1400"/>
              </a:lnSpc>
              <a:buNone/>
            </a:pPr>
            <a:endParaRPr lang="en-US" sz="885" dirty="0">
              <a:latin typeface="Montserrat" pitchFamily="2" charset="0"/>
            </a:endParaRPr>
          </a:p>
        </p:txBody>
      </p:sp>
      <p:sp>
        <p:nvSpPr>
          <p:cNvPr id="39" name="Text 4">
            <a:extLst>
              <a:ext uri="{FF2B5EF4-FFF2-40B4-BE49-F238E27FC236}">
                <a16:creationId xmlns:a16="http://schemas.microsoft.com/office/drawing/2014/main" id="{2140BE1A-F39A-CC1A-0688-25270F9395F0}"/>
              </a:ext>
            </a:extLst>
          </p:cNvPr>
          <p:cNvSpPr/>
          <p:nvPr/>
        </p:nvSpPr>
        <p:spPr>
          <a:xfrm>
            <a:off x="285899" y="3335921"/>
            <a:ext cx="8572498" cy="897297"/>
          </a:xfrm>
          <a:prstGeom prst="rect">
            <a:avLst/>
          </a:prstGeom>
          <a:noFill/>
          <a:ln/>
        </p:spPr>
        <p:txBody>
          <a:bodyPr wrap="square" lIns="0" tIns="0" rIns="0" bIns="0" rtlCol="0" anchor="t">
            <a:spAutoFit/>
          </a:bodyPr>
          <a:lstStyle/>
          <a:p>
            <a:pPr>
              <a:lnSpc>
                <a:spcPts val="1800"/>
              </a:lnSpc>
            </a:pPr>
            <a:r>
              <a:rPr lang="en-US" sz="1000" dirty="0">
                <a:latin typeface="Montserrat" pitchFamily="2" charset="0"/>
              </a:rPr>
              <a:t>Although the input is INT8, intermediate results use larger registers, such as INT32</a:t>
            </a:r>
          </a:p>
          <a:p>
            <a:pPr marL="171450" indent="-171450">
              <a:lnSpc>
                <a:spcPts val="1800"/>
              </a:lnSpc>
              <a:buFont typeface="Arial" panose="020B0604020202020204" pitchFamily="34" charset="0"/>
              <a:buChar char="•"/>
            </a:pPr>
            <a:r>
              <a:rPr lang="en-US" sz="1000" b="1" dirty="0">
                <a:latin typeface="Montserrat" pitchFamily="2" charset="0"/>
              </a:rPr>
              <a:t>Overflow Prevention:</a:t>
            </a:r>
            <a:r>
              <a:rPr lang="en-US" sz="1000" dirty="0">
                <a:latin typeface="Montserrat" pitchFamily="2" charset="0"/>
              </a:rPr>
              <a:t> Multiplying two 8-bit numbers generates up to 16 bits; successive sums quickly overflow the original 8 bits</a:t>
            </a:r>
          </a:p>
          <a:p>
            <a:pPr marL="171450" indent="-171450">
              <a:lnSpc>
                <a:spcPts val="1800"/>
              </a:lnSpc>
              <a:buFont typeface="Arial" panose="020B0604020202020204" pitchFamily="34" charset="0"/>
              <a:buChar char="•"/>
            </a:pPr>
            <a:r>
              <a:rPr lang="en-US" sz="1000" b="1" dirty="0">
                <a:latin typeface="Montserrat" pitchFamily="2" charset="0"/>
              </a:rPr>
              <a:t>Quality Assurance: </a:t>
            </a:r>
            <a:r>
              <a:rPr lang="en-US" sz="1000" dirty="0">
                <a:latin typeface="Montserrat" pitchFamily="2" charset="0"/>
              </a:rPr>
              <a:t>The register temporarily "fattens" to prevent excessive loss of precision during calculation</a:t>
            </a:r>
          </a:p>
          <a:p>
            <a:pPr marL="171450" indent="-171450">
              <a:lnSpc>
                <a:spcPts val="1800"/>
              </a:lnSpc>
              <a:buFont typeface="Arial" panose="020B0604020202020204" pitchFamily="34" charset="0"/>
              <a:buChar char="•"/>
            </a:pPr>
            <a:r>
              <a:rPr lang="en-US" sz="1000" b="1" dirty="0">
                <a:latin typeface="Montserrat" pitchFamily="2" charset="0"/>
              </a:rPr>
              <a:t>Numerical Integrity: </a:t>
            </a:r>
            <a:r>
              <a:rPr lang="en-US" sz="1000" dirty="0">
                <a:latin typeface="Montserrat" pitchFamily="2" charset="0"/>
              </a:rPr>
              <a:t>Essential for maintaining the statistical stability of Multilayer Neural Networks (MLP)</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3" name="Text 0"/>
          <p:cNvSpPr/>
          <p:nvPr/>
        </p:nvSpPr>
        <p:spPr>
          <a:xfrm>
            <a:off x="428625" y="618353"/>
            <a:ext cx="3005537" cy="351699"/>
          </a:xfrm>
          <a:prstGeom prst="rect">
            <a:avLst/>
          </a:prstGeom>
          <a:noFill/>
          <a:ln/>
        </p:spPr>
        <p:txBody>
          <a:bodyPr wrap="square" lIns="0" tIns="0" rIns="0" bIns="85090" rtlCol="0" anchor="t">
            <a:spAutoFit/>
          </a:bodyPr>
          <a:lstStyle/>
          <a:p>
            <a:pPr marL="0" indent="0" algn="l">
              <a:lnSpc>
                <a:spcPts val="2200"/>
              </a:lnSpc>
              <a:buNone/>
            </a:pPr>
            <a:endParaRPr lang="en-US" sz="1602" dirty="0"/>
          </a:p>
        </p:txBody>
      </p:sp>
      <p:sp>
        <p:nvSpPr>
          <p:cNvPr id="6" name="Text 3"/>
          <p:cNvSpPr/>
          <p:nvPr/>
        </p:nvSpPr>
        <p:spPr>
          <a:xfrm>
            <a:off x="285751" y="1076063"/>
            <a:ext cx="8324850" cy="345864"/>
          </a:xfrm>
          <a:prstGeom prst="rect">
            <a:avLst/>
          </a:prstGeom>
          <a:noFill/>
          <a:ln/>
        </p:spPr>
        <p:txBody>
          <a:bodyPr wrap="square" lIns="0" tIns="0" rIns="0" bIns="0" rtlCol="0" anchor="t">
            <a:spAutoFit/>
          </a:bodyPr>
          <a:lstStyle/>
          <a:p>
            <a:pPr marL="0" indent="0" algn="l">
              <a:lnSpc>
                <a:spcPts val="1400"/>
              </a:lnSpc>
              <a:buNone/>
            </a:pPr>
            <a:r>
              <a:rPr lang="en-US" sz="1000" dirty="0">
                <a:latin typeface="Montserrat" pitchFamily="2" charset="0"/>
              </a:rPr>
              <a:t>Quantization has migrated from Digital Signal Processing and data compression (MP3, JPEG) to Machine Learning. </a:t>
            </a:r>
          </a:p>
          <a:p>
            <a:pPr marL="0" indent="0" algn="l">
              <a:lnSpc>
                <a:spcPts val="1400"/>
              </a:lnSpc>
              <a:buNone/>
            </a:pPr>
            <a:r>
              <a:rPr lang="en-US" sz="1000" dirty="0">
                <a:latin typeface="Montserrat" pitchFamily="2" charset="0"/>
              </a:rPr>
              <a:t>Neural networks are resistant to noise, they do not need high decimal precision to identify complex statistical patterns</a:t>
            </a:r>
          </a:p>
        </p:txBody>
      </p:sp>
      <p:sp>
        <p:nvSpPr>
          <p:cNvPr id="8" name="Text 5"/>
          <p:cNvSpPr/>
          <p:nvPr/>
        </p:nvSpPr>
        <p:spPr>
          <a:xfrm>
            <a:off x="456013" y="2510681"/>
            <a:ext cx="2393156" cy="162930"/>
          </a:xfrm>
          <a:prstGeom prst="rect">
            <a:avLst/>
          </a:prstGeom>
          <a:noFill/>
          <a:ln/>
        </p:spPr>
        <p:txBody>
          <a:bodyPr wrap="square" lIns="0" tIns="0" rIns="0" bIns="0" rtlCol="0" anchor="t">
            <a:spAutoFit/>
          </a:bodyPr>
          <a:lstStyle/>
          <a:p>
            <a:pPr marL="0" indent="0" algn="l">
              <a:lnSpc>
                <a:spcPts val="1400"/>
              </a:lnSpc>
              <a:buNone/>
            </a:pPr>
            <a:endParaRPr lang="en-US" sz="834" dirty="0"/>
          </a:p>
        </p:txBody>
      </p:sp>
      <p:sp>
        <p:nvSpPr>
          <p:cNvPr id="12" name="Text 9"/>
          <p:cNvSpPr/>
          <p:nvPr/>
        </p:nvSpPr>
        <p:spPr>
          <a:xfrm>
            <a:off x="3204264" y="2235270"/>
            <a:ext cx="65" cy="153888"/>
          </a:xfrm>
          <a:prstGeom prst="rect">
            <a:avLst/>
          </a:prstGeom>
          <a:noFill/>
          <a:ln/>
        </p:spPr>
        <p:txBody>
          <a:bodyPr wrap="none" lIns="0" tIns="0" rIns="0" bIns="0" rtlCol="0" anchor="t">
            <a:spAutoFit/>
          </a:bodyPr>
          <a:lstStyle/>
          <a:p>
            <a:pPr marL="0" indent="0" algn="l">
              <a:lnSpc>
                <a:spcPts val="1200"/>
              </a:lnSpc>
              <a:buNone/>
            </a:pPr>
            <a:endParaRPr lang="en-US" sz="1000" dirty="0">
              <a:latin typeface="Montserrat" pitchFamily="2" charset="0"/>
            </a:endParaRPr>
          </a:p>
        </p:txBody>
      </p:sp>
      <p:sp>
        <p:nvSpPr>
          <p:cNvPr id="13" name="Text 10"/>
          <p:cNvSpPr/>
          <p:nvPr/>
        </p:nvSpPr>
        <p:spPr>
          <a:xfrm>
            <a:off x="3204264" y="2467442"/>
            <a:ext cx="2393156" cy="166328"/>
          </a:xfrm>
          <a:prstGeom prst="rect">
            <a:avLst/>
          </a:prstGeom>
          <a:noFill/>
          <a:ln/>
        </p:spPr>
        <p:txBody>
          <a:bodyPr wrap="square" lIns="0" tIns="0" rIns="0" bIns="0" rtlCol="0" anchor="t">
            <a:spAutoFit/>
          </a:bodyPr>
          <a:lstStyle/>
          <a:p>
            <a:pPr marL="0" indent="0" algn="l">
              <a:lnSpc>
                <a:spcPts val="1400"/>
              </a:lnSpc>
              <a:buNone/>
            </a:pPr>
            <a:endParaRPr lang="en-US" sz="1000" dirty="0">
              <a:latin typeface="Montserrat" pitchFamily="2" charset="0"/>
            </a:endParaRPr>
          </a:p>
        </p:txBody>
      </p:sp>
      <p:sp>
        <p:nvSpPr>
          <p:cNvPr id="17" name="Text 0">
            <a:extLst>
              <a:ext uri="{FF2B5EF4-FFF2-40B4-BE49-F238E27FC236}">
                <a16:creationId xmlns:a16="http://schemas.microsoft.com/office/drawing/2014/main" id="{93C2975F-6695-941C-86B5-0D7001C38F26}"/>
              </a:ext>
            </a:extLst>
          </p:cNvPr>
          <p:cNvSpPr/>
          <p:nvPr/>
        </p:nvSpPr>
        <p:spPr>
          <a:xfrm>
            <a:off x="285751" y="324744"/>
            <a:ext cx="1181414"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HISTORY</a:t>
            </a:r>
            <a:endParaRPr lang="en-US" sz="2000" dirty="0">
              <a:solidFill>
                <a:srgbClr val="B22232"/>
              </a:solidFill>
              <a:latin typeface="Montserrat" pitchFamily="2" charset="0"/>
            </a:endParaRPr>
          </a:p>
        </p:txBody>
      </p:sp>
      <p:sp>
        <p:nvSpPr>
          <p:cNvPr id="20" name="Text 9">
            <a:extLst>
              <a:ext uri="{FF2B5EF4-FFF2-40B4-BE49-F238E27FC236}">
                <a16:creationId xmlns:a16="http://schemas.microsoft.com/office/drawing/2014/main" id="{34A817B9-2DEA-2F45-C0F1-05CCDB013D91}"/>
              </a:ext>
            </a:extLst>
          </p:cNvPr>
          <p:cNvSpPr/>
          <p:nvPr/>
        </p:nvSpPr>
        <p:spPr>
          <a:xfrm>
            <a:off x="285751" y="811695"/>
            <a:ext cx="681277" cy="215444"/>
          </a:xfrm>
          <a:prstGeom prst="rect">
            <a:avLst/>
          </a:prstGeom>
          <a:noFill/>
          <a:ln/>
        </p:spPr>
        <p:txBody>
          <a:bodyPr wrap="none" lIns="0" tIns="0" rIns="0" bIns="0" rtlCol="0" anchor="ctr">
            <a:spAutoFit/>
          </a:bodyPr>
          <a:lstStyle/>
          <a:p>
            <a:r>
              <a:rPr lang="en-US" sz="1400" b="1" dirty="0">
                <a:solidFill>
                  <a:srgbClr val="231F20"/>
                </a:solidFill>
                <a:latin typeface="Montserrat" pitchFamily="2" charset="0"/>
                <a:ea typeface="Noto Sans" pitchFamily="34" charset="-122"/>
                <a:cs typeface="Noto Sans" pitchFamily="34" charset="-120"/>
              </a:rPr>
              <a:t>Origins</a:t>
            </a:r>
            <a:endParaRPr lang="en-US" sz="1400" dirty="0">
              <a:solidFill>
                <a:srgbClr val="231F20"/>
              </a:solidFill>
              <a:latin typeface="Montserrat" pitchFamily="2" charset="0"/>
            </a:endParaRPr>
          </a:p>
        </p:txBody>
      </p:sp>
      <p:sp>
        <p:nvSpPr>
          <p:cNvPr id="23" name="Text 2"/>
          <p:cNvSpPr/>
          <p:nvPr/>
        </p:nvSpPr>
        <p:spPr>
          <a:xfrm>
            <a:off x="304136" y="1470851"/>
            <a:ext cx="3163063" cy="181525"/>
          </a:xfrm>
          <a:prstGeom prst="rect">
            <a:avLst/>
          </a:prstGeom>
          <a:noFill/>
          <a:ln/>
        </p:spPr>
        <p:txBody>
          <a:bodyPr wrap="square" lIns="0" tIns="0" rIns="0" bIns="0" rtlCol="0" anchor="t">
            <a:spAutoFit/>
          </a:bodyPr>
          <a:lstStyle/>
          <a:p>
            <a:pPr>
              <a:lnSpc>
                <a:spcPts val="1500"/>
              </a:lnSpc>
            </a:pPr>
            <a:r>
              <a:rPr lang="en-US" sz="1000" b="1" dirty="0">
                <a:solidFill>
                  <a:srgbClr val="1A1A1A"/>
                </a:solidFill>
                <a:latin typeface="Montserrat" pitchFamily="2" charset="0"/>
              </a:rPr>
              <a:t>The Awakening and Proof of Concept (2014-16)</a:t>
            </a:r>
            <a:endParaRPr lang="en-US" sz="1000" dirty="0">
              <a:latin typeface="Montserrat" pitchFamily="2" charset="0"/>
            </a:endParaRPr>
          </a:p>
        </p:txBody>
      </p:sp>
      <p:sp>
        <p:nvSpPr>
          <p:cNvPr id="24" name="Text 3"/>
          <p:cNvSpPr/>
          <p:nvPr/>
        </p:nvSpPr>
        <p:spPr>
          <a:xfrm>
            <a:off x="304135" y="1691899"/>
            <a:ext cx="8324849" cy="368306"/>
          </a:xfrm>
          <a:prstGeom prst="rect">
            <a:avLst/>
          </a:prstGeom>
          <a:noFill/>
          <a:ln/>
        </p:spPr>
        <p:txBody>
          <a:bodyPr wrap="square" lIns="0" tIns="0" rIns="0" bIns="0" rtlCol="0" anchor="t">
            <a:spAutoFit/>
          </a:bodyPr>
          <a:lstStyle/>
          <a:p>
            <a:pPr>
              <a:lnSpc>
                <a:spcPts val="1500"/>
              </a:lnSpc>
            </a:pPr>
            <a:r>
              <a:rPr lang="en-US" sz="1000" dirty="0">
                <a:solidFill>
                  <a:srgbClr val="333333"/>
                </a:solidFill>
                <a:latin typeface="Montserrat" pitchFamily="2" charset="0"/>
              </a:rPr>
              <a:t>Projects like </a:t>
            </a:r>
            <a:r>
              <a:rPr lang="en-US" sz="1000" dirty="0" err="1">
                <a:solidFill>
                  <a:srgbClr val="333333"/>
                </a:solidFill>
                <a:latin typeface="Montserrat" pitchFamily="2" charset="0"/>
              </a:rPr>
              <a:t>BinaryConnect</a:t>
            </a:r>
            <a:r>
              <a:rPr lang="en-US" sz="1000" dirty="0">
                <a:solidFill>
                  <a:srgbClr val="333333"/>
                </a:solidFill>
                <a:latin typeface="Montserrat" pitchFamily="2" charset="0"/>
              </a:rPr>
              <a:t> have demonstrated the viability of neural networks with extreme precision. Google has initiated the large-scale industrial adoption of INT8 in its TPUs for search and translation services</a:t>
            </a:r>
            <a:endParaRPr lang="en-US" sz="1000" dirty="0">
              <a:latin typeface="Montserrat" pitchFamily="2" charset="0"/>
            </a:endParaRPr>
          </a:p>
        </p:txBody>
      </p:sp>
      <p:sp>
        <p:nvSpPr>
          <p:cNvPr id="26" name="Text 5"/>
          <p:cNvSpPr/>
          <p:nvPr/>
        </p:nvSpPr>
        <p:spPr>
          <a:xfrm>
            <a:off x="304135" y="2114288"/>
            <a:ext cx="2526333" cy="175946"/>
          </a:xfrm>
          <a:prstGeom prst="rect">
            <a:avLst/>
          </a:prstGeom>
          <a:noFill/>
          <a:ln/>
        </p:spPr>
        <p:txBody>
          <a:bodyPr wrap="none" lIns="0" tIns="0" rIns="0" bIns="0" rtlCol="0" anchor="t">
            <a:spAutoFit/>
          </a:bodyPr>
          <a:lstStyle/>
          <a:p>
            <a:pPr>
              <a:lnSpc>
                <a:spcPts val="1500"/>
              </a:lnSpc>
            </a:pPr>
            <a:r>
              <a:rPr lang="en-US" sz="1000" b="1" dirty="0">
                <a:solidFill>
                  <a:srgbClr val="1A1A1A"/>
                </a:solidFill>
                <a:latin typeface="Montserrat" pitchFamily="2" charset="0"/>
              </a:rPr>
              <a:t>Expansion to Mobile Devices (2017-18)</a:t>
            </a:r>
            <a:endParaRPr lang="en-US" sz="1000" dirty="0">
              <a:latin typeface="Montserrat" pitchFamily="2" charset="0"/>
            </a:endParaRPr>
          </a:p>
        </p:txBody>
      </p:sp>
      <p:sp>
        <p:nvSpPr>
          <p:cNvPr id="27" name="Text 6"/>
          <p:cNvSpPr/>
          <p:nvPr/>
        </p:nvSpPr>
        <p:spPr>
          <a:xfrm>
            <a:off x="313523" y="2345198"/>
            <a:ext cx="7745729" cy="366447"/>
          </a:xfrm>
          <a:prstGeom prst="rect">
            <a:avLst/>
          </a:prstGeom>
          <a:noFill/>
          <a:ln/>
        </p:spPr>
        <p:txBody>
          <a:bodyPr wrap="square" lIns="0" tIns="0" rIns="0" bIns="0" rtlCol="0" anchor="t">
            <a:spAutoFit/>
          </a:bodyPr>
          <a:lstStyle/>
          <a:p>
            <a:pPr>
              <a:lnSpc>
                <a:spcPts val="1500"/>
              </a:lnSpc>
            </a:pPr>
            <a:r>
              <a:rPr lang="en-US" sz="1000" dirty="0">
                <a:solidFill>
                  <a:srgbClr val="333333"/>
                </a:solidFill>
                <a:latin typeface="Montserrat" pitchFamily="2" charset="0"/>
              </a:rPr>
              <a:t>The emergence of frameworks like TensorFlow Lite and </a:t>
            </a:r>
            <a:r>
              <a:rPr lang="en-US" sz="1000" dirty="0" err="1">
                <a:solidFill>
                  <a:srgbClr val="333333"/>
                </a:solidFill>
                <a:latin typeface="Montserrat" pitchFamily="2" charset="0"/>
              </a:rPr>
              <a:t>PyTorch</a:t>
            </a:r>
            <a:r>
              <a:rPr lang="en-US" sz="1000" dirty="0">
                <a:solidFill>
                  <a:srgbClr val="333333"/>
                </a:solidFill>
                <a:latin typeface="Montserrat" pitchFamily="2" charset="0"/>
              </a:rPr>
              <a:t> Mobile abstracts away some of the complexity of quantization and allows for efficient deployment on smartphones</a:t>
            </a:r>
            <a:endParaRPr lang="en-US" sz="1000" dirty="0">
              <a:latin typeface="Montserrat" pitchFamily="2" charset="0"/>
            </a:endParaRPr>
          </a:p>
        </p:txBody>
      </p:sp>
      <p:sp>
        <p:nvSpPr>
          <p:cNvPr id="29" name="Text 8"/>
          <p:cNvSpPr/>
          <p:nvPr/>
        </p:nvSpPr>
        <p:spPr>
          <a:xfrm>
            <a:off x="313523" y="2789155"/>
            <a:ext cx="2917465" cy="175946"/>
          </a:xfrm>
          <a:prstGeom prst="rect">
            <a:avLst/>
          </a:prstGeom>
          <a:noFill/>
          <a:ln/>
        </p:spPr>
        <p:txBody>
          <a:bodyPr wrap="none" lIns="0" tIns="0" rIns="0" bIns="0" rtlCol="0" anchor="t">
            <a:spAutoFit/>
          </a:bodyPr>
          <a:lstStyle/>
          <a:p>
            <a:pPr>
              <a:lnSpc>
                <a:spcPts val="1500"/>
              </a:lnSpc>
            </a:pPr>
            <a:r>
              <a:rPr lang="en-US" sz="1000" b="1" dirty="0">
                <a:solidFill>
                  <a:srgbClr val="1A1A1A"/>
                </a:solidFill>
                <a:latin typeface="Montserrat" pitchFamily="2" charset="0"/>
              </a:rPr>
              <a:t>Consolidation and Standardization (2019-21)</a:t>
            </a:r>
            <a:endParaRPr lang="en-US" sz="1000" dirty="0">
              <a:latin typeface="Montserrat" pitchFamily="2" charset="0"/>
            </a:endParaRPr>
          </a:p>
        </p:txBody>
      </p:sp>
      <p:sp>
        <p:nvSpPr>
          <p:cNvPr id="30" name="Text 9"/>
          <p:cNvSpPr/>
          <p:nvPr/>
        </p:nvSpPr>
        <p:spPr>
          <a:xfrm>
            <a:off x="313521" y="3022105"/>
            <a:ext cx="7745728" cy="368306"/>
          </a:xfrm>
          <a:prstGeom prst="rect">
            <a:avLst/>
          </a:prstGeom>
          <a:noFill/>
          <a:ln/>
        </p:spPr>
        <p:txBody>
          <a:bodyPr wrap="square" lIns="0" tIns="0" rIns="0" bIns="0" rtlCol="0" anchor="t">
            <a:spAutoFit/>
          </a:bodyPr>
          <a:lstStyle/>
          <a:p>
            <a:pPr>
              <a:lnSpc>
                <a:spcPts val="1500"/>
              </a:lnSpc>
            </a:pPr>
            <a:r>
              <a:rPr lang="en-US" sz="1000" dirty="0">
                <a:solidFill>
                  <a:srgbClr val="333333"/>
                </a:solidFill>
                <a:latin typeface="Montserrat" pitchFamily="2" charset="0"/>
              </a:rPr>
              <a:t>Post-training INT8 quantization (PTQ) has become a production standard, integrated into pipelines such as </a:t>
            </a:r>
            <a:r>
              <a:rPr lang="en-US" sz="1000" dirty="0" err="1">
                <a:solidFill>
                  <a:srgbClr val="333333"/>
                </a:solidFill>
                <a:latin typeface="Montserrat" pitchFamily="2" charset="0"/>
              </a:rPr>
              <a:t>TensorRT</a:t>
            </a:r>
            <a:r>
              <a:rPr lang="en-US" sz="1000" dirty="0">
                <a:solidFill>
                  <a:srgbClr val="333333"/>
                </a:solidFill>
                <a:latin typeface="Montserrat" pitchFamily="2" charset="0"/>
              </a:rPr>
              <a:t> and ONNX Runtime, bringing the accuracy closer to that of the original models</a:t>
            </a:r>
            <a:endParaRPr lang="en-US" sz="1000" dirty="0">
              <a:latin typeface="Montserrat" pitchFamily="2" charset="0"/>
            </a:endParaRPr>
          </a:p>
        </p:txBody>
      </p:sp>
      <p:pic>
        <p:nvPicPr>
          <p:cNvPr id="31" name="Imagem 30" descr="Uma imagem contendo Interface gráfica do usuário&#10;&#10;O conteúdo gerado por IA pode estar incorreto.">
            <a:extLst>
              <a:ext uri="{FF2B5EF4-FFF2-40B4-BE49-F238E27FC236}">
                <a16:creationId xmlns:a16="http://schemas.microsoft.com/office/drawing/2014/main" id="{D56B926E-2180-857A-00F7-CB211D422B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8479" y="28384"/>
            <a:ext cx="866026" cy="366482"/>
          </a:xfrm>
          <a:prstGeom prst="rect">
            <a:avLst/>
          </a:prstGeom>
        </p:spPr>
      </p:pic>
      <p:sp>
        <p:nvSpPr>
          <p:cNvPr id="32" name="Text 1"/>
          <p:cNvSpPr/>
          <p:nvPr/>
        </p:nvSpPr>
        <p:spPr>
          <a:xfrm>
            <a:off x="313521" y="3469400"/>
            <a:ext cx="2069477" cy="185564"/>
          </a:xfrm>
          <a:prstGeom prst="rect">
            <a:avLst/>
          </a:prstGeom>
          <a:noFill/>
          <a:ln/>
        </p:spPr>
        <p:txBody>
          <a:bodyPr wrap="none" lIns="0" tIns="0" rIns="0" bIns="0" rtlCol="0" anchor="t">
            <a:spAutoFit/>
          </a:bodyPr>
          <a:lstStyle/>
          <a:p>
            <a:pPr>
              <a:lnSpc>
                <a:spcPts val="1600"/>
              </a:lnSpc>
            </a:pPr>
            <a:r>
              <a:rPr lang="en-US" sz="1000" b="1" dirty="0">
                <a:solidFill>
                  <a:srgbClr val="1A1A1A"/>
                </a:solidFill>
                <a:latin typeface="Montserrat" pitchFamily="2" charset="0"/>
              </a:rPr>
              <a:t>Expansion to LLMs (2022-2024)</a:t>
            </a:r>
            <a:endParaRPr lang="en-US" sz="1000" dirty="0">
              <a:latin typeface="Montserrat" pitchFamily="2" charset="0"/>
            </a:endParaRPr>
          </a:p>
        </p:txBody>
      </p:sp>
      <p:sp>
        <p:nvSpPr>
          <p:cNvPr id="33" name="Text 2"/>
          <p:cNvSpPr/>
          <p:nvPr/>
        </p:nvSpPr>
        <p:spPr>
          <a:xfrm>
            <a:off x="294754" y="3721266"/>
            <a:ext cx="8500109" cy="368499"/>
          </a:xfrm>
          <a:prstGeom prst="rect">
            <a:avLst/>
          </a:prstGeom>
          <a:noFill/>
          <a:ln/>
        </p:spPr>
        <p:txBody>
          <a:bodyPr wrap="square" lIns="0" tIns="0" rIns="0" bIns="0" rtlCol="0" anchor="t">
            <a:spAutoFit/>
          </a:bodyPr>
          <a:lstStyle/>
          <a:p>
            <a:pPr>
              <a:lnSpc>
                <a:spcPts val="1500"/>
              </a:lnSpc>
            </a:pPr>
            <a:r>
              <a:rPr lang="en-US" sz="1000" dirty="0">
                <a:solidFill>
                  <a:srgbClr val="333333"/>
                </a:solidFill>
                <a:latin typeface="Montserrat" pitchFamily="2" charset="0"/>
              </a:rPr>
              <a:t>The emergence of new methods (GPTQ, AWQ, and </a:t>
            </a:r>
            <a:r>
              <a:rPr lang="en-US" sz="1000" dirty="0" err="1">
                <a:solidFill>
                  <a:srgbClr val="333333"/>
                </a:solidFill>
                <a:latin typeface="Montserrat" pitchFamily="2" charset="0"/>
              </a:rPr>
              <a:t>SmoothQuant</a:t>
            </a:r>
            <a:r>
              <a:rPr lang="en-US" sz="1000" dirty="0">
                <a:solidFill>
                  <a:srgbClr val="333333"/>
                </a:solidFill>
                <a:latin typeface="Montserrat" pitchFamily="2" charset="0"/>
              </a:rPr>
              <a:t>) allows for the quantization of billions of parameter models with minimal losses. Full integration with compilation and distillation pipelines</a:t>
            </a:r>
            <a:endParaRPr lang="en-US" sz="1000" dirty="0">
              <a:latin typeface="Montserrat" pitchFamily="2" charset="0"/>
            </a:endParaRPr>
          </a:p>
        </p:txBody>
      </p:sp>
      <p:sp>
        <p:nvSpPr>
          <p:cNvPr id="34" name="Text 3"/>
          <p:cNvSpPr/>
          <p:nvPr/>
        </p:nvSpPr>
        <p:spPr>
          <a:xfrm>
            <a:off x="285751" y="4167975"/>
            <a:ext cx="1695977" cy="185564"/>
          </a:xfrm>
          <a:prstGeom prst="rect">
            <a:avLst/>
          </a:prstGeom>
          <a:noFill/>
          <a:ln/>
        </p:spPr>
        <p:txBody>
          <a:bodyPr wrap="none" lIns="0" tIns="0" rIns="0" bIns="0" rtlCol="0" anchor="t">
            <a:spAutoFit/>
          </a:bodyPr>
          <a:lstStyle/>
          <a:p>
            <a:pPr>
              <a:lnSpc>
                <a:spcPts val="1600"/>
              </a:lnSpc>
            </a:pPr>
            <a:r>
              <a:rPr lang="en-US" sz="1000" b="1" dirty="0">
                <a:solidFill>
                  <a:srgbClr val="1A1A1A"/>
                </a:solidFill>
                <a:latin typeface="Montserrat" pitchFamily="2" charset="0"/>
              </a:rPr>
              <a:t>Economic Viability (2025)</a:t>
            </a:r>
            <a:endParaRPr lang="en-US" sz="1000" dirty="0">
              <a:latin typeface="Montserrat" pitchFamily="2" charset="0"/>
            </a:endParaRPr>
          </a:p>
        </p:txBody>
      </p:sp>
      <p:sp>
        <p:nvSpPr>
          <p:cNvPr id="35" name="Text 4"/>
          <p:cNvSpPr/>
          <p:nvPr/>
        </p:nvSpPr>
        <p:spPr>
          <a:xfrm>
            <a:off x="285751" y="4420620"/>
            <a:ext cx="8315847" cy="368306"/>
          </a:xfrm>
          <a:prstGeom prst="rect">
            <a:avLst/>
          </a:prstGeom>
          <a:noFill/>
          <a:ln/>
        </p:spPr>
        <p:txBody>
          <a:bodyPr wrap="square" lIns="0" tIns="0" rIns="0" bIns="0" rtlCol="0" anchor="t">
            <a:spAutoFit/>
          </a:bodyPr>
          <a:lstStyle/>
          <a:p>
            <a:pPr>
              <a:lnSpc>
                <a:spcPts val="1500"/>
              </a:lnSpc>
            </a:pPr>
            <a:r>
              <a:rPr lang="en-US" sz="1000" dirty="0">
                <a:solidFill>
                  <a:srgbClr val="333333"/>
                </a:solidFill>
                <a:latin typeface="Montserrat" pitchFamily="2" charset="0"/>
              </a:rPr>
              <a:t>Quantization has gone from being just optimization to becoming an essential requirement for the production of large-scale language models</a:t>
            </a:r>
            <a:endParaRPr lang="en-US" sz="1000" dirty="0">
              <a:latin typeface="Montserrat" pitchFamily="2"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0" cy="0"/>
          <a:chOff x="0" y="0"/>
          <a:chExt cx="0" cy="0"/>
        </a:xfrm>
      </p:grpSpPr>
      <p:sp>
        <p:nvSpPr>
          <p:cNvPr id="4" name="Text 1"/>
          <p:cNvSpPr/>
          <p:nvPr/>
        </p:nvSpPr>
        <p:spPr>
          <a:xfrm>
            <a:off x="285750" y="1149467"/>
            <a:ext cx="8538209" cy="1424814"/>
          </a:xfrm>
          <a:prstGeom prst="rect">
            <a:avLst/>
          </a:prstGeom>
          <a:noFill/>
          <a:ln/>
        </p:spPr>
        <p:txBody>
          <a:bodyPr wrap="square" lIns="0" tIns="0" rIns="0" bIns="0" rtlCol="0" anchor="t">
            <a:spAutoFit/>
          </a:bodyPr>
          <a:lstStyle/>
          <a:p>
            <a:pPr marL="171450" indent="-171450">
              <a:lnSpc>
                <a:spcPts val="1400"/>
              </a:lnSpc>
              <a:buFont typeface="Arial" panose="020B0604020202020204" pitchFamily="34" charset="0"/>
              <a:buChar char="•"/>
            </a:pPr>
            <a:r>
              <a:rPr lang="en-US" sz="1000" b="1" dirty="0">
                <a:solidFill>
                  <a:srgbClr val="333333"/>
                </a:solidFill>
                <a:latin typeface="Montserrat" pitchFamily="2" charset="0"/>
              </a:rPr>
              <a:t>Baseline Analysis (Direct Comparison): </a:t>
            </a:r>
            <a:r>
              <a:rPr lang="en-US" sz="1000" dirty="0">
                <a:solidFill>
                  <a:srgbClr val="333333"/>
                </a:solidFill>
                <a:latin typeface="Montserrat" pitchFamily="2" charset="0"/>
              </a:rPr>
              <a:t>Uses the high-precision network as a benchmark to measure post-quantization deviation (e.g., MSE or accuracy degradation)</a:t>
            </a:r>
          </a:p>
          <a:p>
            <a:pPr marL="171450" indent="-171450">
              <a:lnSpc>
                <a:spcPts val="1400"/>
              </a:lnSpc>
              <a:buFont typeface="Arial" panose="020B0604020202020204" pitchFamily="34" charset="0"/>
              <a:buChar char="•"/>
            </a:pPr>
            <a:r>
              <a:rPr lang="en-US" sz="1000" b="1" dirty="0">
                <a:solidFill>
                  <a:srgbClr val="333333"/>
                </a:solidFill>
                <a:latin typeface="Montserrat" pitchFamily="2" charset="0"/>
              </a:rPr>
              <a:t>Bit-Accurate Simulation (Hardware Emulation): </a:t>
            </a:r>
            <a:r>
              <a:rPr lang="en-US" sz="1000" dirty="0">
                <a:solidFill>
                  <a:srgbClr val="333333"/>
                </a:solidFill>
                <a:latin typeface="Montserrat" pitchFamily="2" charset="0"/>
              </a:rPr>
              <a:t>Emulates specific hardware behaviors, such as rounding modes and saturation to predict real-world inference effects</a:t>
            </a:r>
          </a:p>
          <a:p>
            <a:pPr marL="171450" indent="-171450">
              <a:lnSpc>
                <a:spcPts val="1400"/>
              </a:lnSpc>
              <a:buFont typeface="Arial" panose="020B0604020202020204" pitchFamily="34" charset="0"/>
              <a:buChar char="•"/>
            </a:pPr>
            <a:r>
              <a:rPr lang="en-US" sz="1000" b="1" dirty="0">
                <a:solidFill>
                  <a:srgbClr val="333333"/>
                </a:solidFill>
                <a:latin typeface="Montserrat" pitchFamily="2" charset="0"/>
              </a:rPr>
              <a:t>Monte Carlo Simulation (Stochastic Modeling):</a:t>
            </a:r>
            <a:r>
              <a:rPr lang="en-US" sz="1000" dirty="0">
                <a:solidFill>
                  <a:srgbClr val="333333"/>
                </a:solidFill>
                <a:latin typeface="Montserrat" pitchFamily="2" charset="0"/>
              </a:rPr>
              <a:t> Models stochastic quantization noise to estimate error distribution through multiple simulation runs</a:t>
            </a:r>
          </a:p>
          <a:p>
            <a:pPr marL="171450" indent="-171450">
              <a:lnSpc>
                <a:spcPts val="1400"/>
              </a:lnSpc>
              <a:buFont typeface="Arial" panose="020B0604020202020204" pitchFamily="34" charset="0"/>
              <a:buChar char="•"/>
            </a:pPr>
            <a:r>
              <a:rPr lang="en-US" sz="1000" b="1" dirty="0">
                <a:solidFill>
                  <a:srgbClr val="333333"/>
                </a:solidFill>
                <a:latin typeface="Montserrat" pitchFamily="2" charset="0"/>
              </a:rPr>
              <a:t>Design Space Exploration (Heuristic Search): </a:t>
            </a:r>
            <a:r>
              <a:rPr lang="en-US" sz="1000" dirty="0">
                <a:solidFill>
                  <a:srgbClr val="333333"/>
                </a:solidFill>
                <a:latin typeface="Montserrat" pitchFamily="2" charset="0"/>
              </a:rPr>
              <a:t>Evaluates different bit-widths per layer to identify the optimal trade-off between model accuracy and computational cost</a:t>
            </a:r>
            <a:endParaRPr lang="en-US" sz="987" dirty="0"/>
          </a:p>
        </p:txBody>
      </p:sp>
      <p:sp>
        <p:nvSpPr>
          <p:cNvPr id="5" name="Text 2"/>
          <p:cNvSpPr/>
          <p:nvPr/>
        </p:nvSpPr>
        <p:spPr>
          <a:xfrm>
            <a:off x="428625" y="2206470"/>
            <a:ext cx="1921669" cy="162930"/>
          </a:xfrm>
          <a:prstGeom prst="rect">
            <a:avLst/>
          </a:prstGeom>
          <a:noFill/>
          <a:ln/>
        </p:spPr>
        <p:txBody>
          <a:bodyPr wrap="square" lIns="0" tIns="0" rIns="0" bIns="0" rtlCol="0" anchor="t">
            <a:spAutoFit/>
          </a:bodyPr>
          <a:lstStyle/>
          <a:p>
            <a:pPr marL="0" indent="0" algn="l">
              <a:lnSpc>
                <a:spcPts val="1400"/>
              </a:lnSpc>
              <a:buNone/>
            </a:pPr>
            <a:endParaRPr lang="en-US" sz="834" dirty="0"/>
          </a:p>
        </p:txBody>
      </p:sp>
      <p:sp>
        <p:nvSpPr>
          <p:cNvPr id="6" name="Text 3"/>
          <p:cNvSpPr/>
          <p:nvPr/>
        </p:nvSpPr>
        <p:spPr>
          <a:xfrm>
            <a:off x="428625" y="3035145"/>
            <a:ext cx="65" cy="96758"/>
          </a:xfrm>
          <a:prstGeom prst="rect">
            <a:avLst/>
          </a:prstGeom>
          <a:noFill/>
          <a:ln/>
        </p:spPr>
        <p:txBody>
          <a:bodyPr wrap="none" lIns="0" tIns="0" rIns="0" bIns="0" rtlCol="0" anchor="t">
            <a:spAutoFit/>
          </a:bodyPr>
          <a:lstStyle/>
          <a:p>
            <a:pPr marL="0" indent="0" algn="l">
              <a:lnSpc>
                <a:spcPts val="800"/>
              </a:lnSpc>
              <a:buNone/>
            </a:pPr>
            <a:endParaRPr lang="en-US" sz="584" dirty="0"/>
          </a:p>
        </p:txBody>
      </p:sp>
      <p:sp>
        <p:nvSpPr>
          <p:cNvPr id="7" name="Text 4"/>
          <p:cNvSpPr/>
          <p:nvPr/>
        </p:nvSpPr>
        <p:spPr>
          <a:xfrm>
            <a:off x="2550319" y="1777845"/>
            <a:ext cx="1921669" cy="168059"/>
          </a:xfrm>
          <a:prstGeom prst="rect">
            <a:avLst/>
          </a:prstGeom>
          <a:noFill/>
          <a:ln/>
        </p:spPr>
        <p:txBody>
          <a:bodyPr wrap="square" lIns="0" tIns="0" rIns="0" bIns="0" rtlCol="0" anchor="t">
            <a:spAutoFit/>
          </a:bodyPr>
          <a:lstStyle/>
          <a:p>
            <a:pPr marL="0" indent="0" algn="l">
              <a:lnSpc>
                <a:spcPts val="1400"/>
              </a:lnSpc>
              <a:buNone/>
            </a:pPr>
            <a:endParaRPr lang="en-US" sz="987" dirty="0"/>
          </a:p>
        </p:txBody>
      </p:sp>
      <p:sp>
        <p:nvSpPr>
          <p:cNvPr id="8" name="Text 5"/>
          <p:cNvSpPr/>
          <p:nvPr/>
        </p:nvSpPr>
        <p:spPr>
          <a:xfrm>
            <a:off x="2550319" y="2206470"/>
            <a:ext cx="1921669" cy="162930"/>
          </a:xfrm>
          <a:prstGeom prst="rect">
            <a:avLst/>
          </a:prstGeom>
          <a:noFill/>
          <a:ln/>
        </p:spPr>
        <p:txBody>
          <a:bodyPr wrap="square" lIns="0" tIns="0" rIns="0" bIns="0" rtlCol="0" anchor="t">
            <a:spAutoFit/>
          </a:bodyPr>
          <a:lstStyle/>
          <a:p>
            <a:pPr marL="0" indent="0" algn="l">
              <a:lnSpc>
                <a:spcPts val="1400"/>
              </a:lnSpc>
              <a:buNone/>
            </a:pPr>
            <a:endParaRPr lang="en-US" sz="834" dirty="0"/>
          </a:p>
        </p:txBody>
      </p:sp>
      <p:sp>
        <p:nvSpPr>
          <p:cNvPr id="9" name="Text 6"/>
          <p:cNvSpPr/>
          <p:nvPr/>
        </p:nvSpPr>
        <p:spPr>
          <a:xfrm>
            <a:off x="2550319" y="3035145"/>
            <a:ext cx="65" cy="96758"/>
          </a:xfrm>
          <a:prstGeom prst="rect">
            <a:avLst/>
          </a:prstGeom>
          <a:noFill/>
          <a:ln/>
        </p:spPr>
        <p:txBody>
          <a:bodyPr wrap="none" lIns="0" tIns="0" rIns="0" bIns="0" rtlCol="0" anchor="t">
            <a:spAutoFit/>
          </a:bodyPr>
          <a:lstStyle/>
          <a:p>
            <a:pPr marL="0" indent="0" algn="l">
              <a:lnSpc>
                <a:spcPts val="800"/>
              </a:lnSpc>
              <a:buNone/>
            </a:pPr>
            <a:endParaRPr lang="en-US" sz="584" dirty="0"/>
          </a:p>
        </p:txBody>
      </p:sp>
      <p:sp>
        <p:nvSpPr>
          <p:cNvPr id="10" name="Text 7"/>
          <p:cNvSpPr/>
          <p:nvPr/>
        </p:nvSpPr>
        <p:spPr>
          <a:xfrm>
            <a:off x="4672013" y="1777845"/>
            <a:ext cx="1921669" cy="168059"/>
          </a:xfrm>
          <a:prstGeom prst="rect">
            <a:avLst/>
          </a:prstGeom>
          <a:noFill/>
          <a:ln/>
        </p:spPr>
        <p:txBody>
          <a:bodyPr wrap="square" lIns="0" tIns="0" rIns="0" bIns="0" rtlCol="0" anchor="t">
            <a:spAutoFit/>
          </a:bodyPr>
          <a:lstStyle/>
          <a:p>
            <a:pPr marL="0" indent="0" algn="l">
              <a:lnSpc>
                <a:spcPts val="1400"/>
              </a:lnSpc>
              <a:buNone/>
            </a:pPr>
            <a:endParaRPr lang="en-US" sz="987" dirty="0"/>
          </a:p>
        </p:txBody>
      </p:sp>
      <p:sp>
        <p:nvSpPr>
          <p:cNvPr id="11" name="Text 8"/>
          <p:cNvSpPr/>
          <p:nvPr/>
        </p:nvSpPr>
        <p:spPr>
          <a:xfrm>
            <a:off x="4672013" y="2252904"/>
            <a:ext cx="1921669" cy="162930"/>
          </a:xfrm>
          <a:prstGeom prst="rect">
            <a:avLst/>
          </a:prstGeom>
          <a:noFill/>
          <a:ln/>
        </p:spPr>
        <p:txBody>
          <a:bodyPr wrap="square" lIns="0" tIns="0" rIns="0" bIns="0" rtlCol="0" anchor="t">
            <a:spAutoFit/>
          </a:bodyPr>
          <a:lstStyle/>
          <a:p>
            <a:pPr marL="0" indent="0" algn="l">
              <a:lnSpc>
                <a:spcPts val="1400"/>
              </a:lnSpc>
              <a:buNone/>
            </a:pPr>
            <a:endParaRPr lang="en-US" sz="834" dirty="0"/>
          </a:p>
        </p:txBody>
      </p:sp>
      <p:sp>
        <p:nvSpPr>
          <p:cNvPr id="12" name="Text 9"/>
          <p:cNvSpPr/>
          <p:nvPr/>
        </p:nvSpPr>
        <p:spPr>
          <a:xfrm>
            <a:off x="4672013" y="2910129"/>
            <a:ext cx="65" cy="96758"/>
          </a:xfrm>
          <a:prstGeom prst="rect">
            <a:avLst/>
          </a:prstGeom>
          <a:noFill/>
          <a:ln/>
        </p:spPr>
        <p:txBody>
          <a:bodyPr wrap="none" lIns="0" tIns="0" rIns="0" bIns="0" rtlCol="0" anchor="t">
            <a:spAutoFit/>
          </a:bodyPr>
          <a:lstStyle/>
          <a:p>
            <a:pPr marL="0" indent="0" algn="l">
              <a:lnSpc>
                <a:spcPts val="800"/>
              </a:lnSpc>
              <a:buNone/>
            </a:pPr>
            <a:endParaRPr lang="en-US" sz="584" dirty="0"/>
          </a:p>
        </p:txBody>
      </p:sp>
      <p:sp>
        <p:nvSpPr>
          <p:cNvPr id="13" name="Text 10"/>
          <p:cNvSpPr/>
          <p:nvPr/>
        </p:nvSpPr>
        <p:spPr>
          <a:xfrm>
            <a:off x="6793706" y="1777845"/>
            <a:ext cx="1921669" cy="168059"/>
          </a:xfrm>
          <a:prstGeom prst="rect">
            <a:avLst/>
          </a:prstGeom>
          <a:noFill/>
          <a:ln/>
        </p:spPr>
        <p:txBody>
          <a:bodyPr wrap="square" lIns="0" tIns="0" rIns="0" bIns="0" rtlCol="0" anchor="t">
            <a:spAutoFit/>
          </a:bodyPr>
          <a:lstStyle/>
          <a:p>
            <a:pPr marL="0" indent="0" algn="l">
              <a:lnSpc>
                <a:spcPts val="1400"/>
              </a:lnSpc>
              <a:buNone/>
            </a:pPr>
            <a:endParaRPr lang="en-US" sz="987" dirty="0"/>
          </a:p>
        </p:txBody>
      </p:sp>
      <p:sp>
        <p:nvSpPr>
          <p:cNvPr id="14" name="Text 11"/>
          <p:cNvSpPr/>
          <p:nvPr/>
        </p:nvSpPr>
        <p:spPr>
          <a:xfrm>
            <a:off x="6793706" y="2252904"/>
            <a:ext cx="1921669" cy="162930"/>
          </a:xfrm>
          <a:prstGeom prst="rect">
            <a:avLst/>
          </a:prstGeom>
          <a:noFill/>
          <a:ln/>
        </p:spPr>
        <p:txBody>
          <a:bodyPr wrap="square" lIns="0" tIns="0" rIns="0" bIns="0" rtlCol="0" anchor="t">
            <a:spAutoFit/>
          </a:bodyPr>
          <a:lstStyle/>
          <a:p>
            <a:pPr marL="0" indent="0" algn="l">
              <a:lnSpc>
                <a:spcPts val="1400"/>
              </a:lnSpc>
              <a:buNone/>
            </a:pPr>
            <a:endParaRPr lang="en-US" sz="834" dirty="0"/>
          </a:p>
        </p:txBody>
      </p:sp>
      <p:sp>
        <p:nvSpPr>
          <p:cNvPr id="15" name="Text 12"/>
          <p:cNvSpPr/>
          <p:nvPr/>
        </p:nvSpPr>
        <p:spPr>
          <a:xfrm>
            <a:off x="6793706" y="2910129"/>
            <a:ext cx="65" cy="96758"/>
          </a:xfrm>
          <a:prstGeom prst="rect">
            <a:avLst/>
          </a:prstGeom>
          <a:noFill/>
          <a:ln/>
        </p:spPr>
        <p:txBody>
          <a:bodyPr wrap="none" lIns="0" tIns="0" rIns="0" bIns="0" rtlCol="0" anchor="t">
            <a:spAutoFit/>
          </a:bodyPr>
          <a:lstStyle/>
          <a:p>
            <a:pPr marL="0" indent="0" algn="l">
              <a:lnSpc>
                <a:spcPts val="800"/>
              </a:lnSpc>
              <a:buNone/>
            </a:pPr>
            <a:endParaRPr lang="en-US" sz="584" dirty="0"/>
          </a:p>
        </p:txBody>
      </p:sp>
      <p:sp>
        <p:nvSpPr>
          <p:cNvPr id="16" name="Text 0">
            <a:extLst>
              <a:ext uri="{FF2B5EF4-FFF2-40B4-BE49-F238E27FC236}">
                <a16:creationId xmlns:a16="http://schemas.microsoft.com/office/drawing/2014/main" id="{054814F8-7918-35A4-67B8-6D1F0B65D988}"/>
              </a:ext>
            </a:extLst>
          </p:cNvPr>
          <p:cNvSpPr/>
          <p:nvPr/>
        </p:nvSpPr>
        <p:spPr>
          <a:xfrm>
            <a:off x="285751" y="324744"/>
            <a:ext cx="3113032" cy="307777"/>
          </a:xfrm>
          <a:prstGeom prst="rect">
            <a:avLst/>
          </a:prstGeom>
          <a:noFill/>
          <a:ln/>
        </p:spPr>
        <p:txBody>
          <a:bodyPr wrap="none" lIns="0" tIns="0" rIns="0" bIns="0" rtlCol="0" anchor="ctr">
            <a:spAutoFit/>
          </a:bodyPr>
          <a:lstStyle/>
          <a:p>
            <a:r>
              <a:rPr lang="en-US" sz="2000" b="1" dirty="0">
                <a:solidFill>
                  <a:srgbClr val="B22232"/>
                </a:solidFill>
                <a:latin typeface="Montserrat" pitchFamily="2" charset="0"/>
                <a:ea typeface="Noto Sans" pitchFamily="34" charset="-122"/>
                <a:cs typeface="Noto Sans" pitchFamily="34" charset="-120"/>
              </a:rPr>
              <a:t>QUANTIZATION ERROR</a:t>
            </a:r>
            <a:endParaRPr lang="en-US" sz="2000" dirty="0">
              <a:solidFill>
                <a:srgbClr val="B22232"/>
              </a:solidFill>
              <a:latin typeface="Montserrat" pitchFamily="2" charset="0"/>
            </a:endParaRPr>
          </a:p>
        </p:txBody>
      </p:sp>
      <p:sp>
        <p:nvSpPr>
          <p:cNvPr id="19" name="Text 9">
            <a:extLst>
              <a:ext uri="{FF2B5EF4-FFF2-40B4-BE49-F238E27FC236}">
                <a16:creationId xmlns:a16="http://schemas.microsoft.com/office/drawing/2014/main" id="{94D47969-1AF0-4422-EED5-F82986B95C23}"/>
              </a:ext>
            </a:extLst>
          </p:cNvPr>
          <p:cNvSpPr/>
          <p:nvPr/>
        </p:nvSpPr>
        <p:spPr>
          <a:xfrm>
            <a:off x="285751" y="783009"/>
            <a:ext cx="3071354" cy="215444"/>
          </a:xfrm>
          <a:prstGeom prst="rect">
            <a:avLst/>
          </a:prstGeom>
          <a:noFill/>
          <a:ln/>
        </p:spPr>
        <p:txBody>
          <a:bodyPr wrap="none" lIns="0" tIns="0" rIns="0" bIns="0" rtlCol="0" anchor="ctr">
            <a:spAutoFit/>
          </a:bodyPr>
          <a:lstStyle/>
          <a:p>
            <a:r>
              <a:rPr lang="en-US" sz="1400" b="1" dirty="0">
                <a:solidFill>
                  <a:srgbClr val="231F20"/>
                </a:solidFill>
                <a:latin typeface="Montserrat" pitchFamily="2" charset="0"/>
                <a:ea typeface="Noto Sans" pitchFamily="34" charset="-122"/>
                <a:cs typeface="Noto Sans" pitchFamily="34" charset="-120"/>
              </a:rPr>
              <a:t>Traditional Assessment Methods</a:t>
            </a:r>
            <a:endParaRPr lang="en-US" sz="1400" dirty="0">
              <a:solidFill>
                <a:srgbClr val="231F20"/>
              </a:solidFill>
              <a:latin typeface="Montserrat" pitchFamily="2"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1493</TotalTime>
  <Words>1821</Words>
  <Application>Microsoft Office PowerPoint</Application>
  <PresentationFormat>Apresentação na tela (16:9)</PresentationFormat>
  <Paragraphs>217</Paragraphs>
  <Slides>32</Slides>
  <Notes>14</Notes>
  <HiddenSlides>4</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32</vt:i4>
      </vt:variant>
    </vt:vector>
  </HeadingPairs>
  <TitlesOfParts>
    <vt:vector size="37" baseType="lpstr">
      <vt:lpstr>Arial</vt:lpstr>
      <vt:lpstr>Cambria Math</vt:lpstr>
      <vt:lpstr>Lato Bold Italics</vt:lpstr>
      <vt:lpstr>Montserrat</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João Vítor Correia Pessoa</cp:lastModifiedBy>
  <cp:revision>11</cp:revision>
  <dcterms:created xsi:type="dcterms:W3CDTF">2026-01-13T11:35:45Z</dcterms:created>
  <dcterms:modified xsi:type="dcterms:W3CDTF">2026-01-27T20:18:56Z</dcterms:modified>
</cp:coreProperties>
</file>